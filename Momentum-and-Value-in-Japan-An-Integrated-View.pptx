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5" r:id="rId10"/>
    <p:sldId id="264" r:id="rId11"/>
    <p:sldId id="267" r:id="rId12"/>
    <p:sldId id="270" r:id="rId13"/>
    <p:sldId id="268" r:id="rId14"/>
    <p:sldId id="271" r:id="rId15"/>
    <p:sldId id="274" r:id="rId16"/>
    <p:sldId id="272" r:id="rId17"/>
  </p:sldIdLst>
  <p:sldSz cx="14630400" cy="8229600"/>
  <p:notesSz cx="8229600" cy="14630400"/>
  <p:embeddedFontLst>
    <p:embeddedFont>
      <p:font typeface="Cambria Math" panose="02040503050406030204" pitchFamily="18" charset="0"/>
      <p:regular r:id="rId19"/>
    </p:embeddedFont>
    <p:embeddedFont>
      <p:font typeface="Platypi Medium" panose="020B0600000101010101" charset="0"/>
      <p:regular r:id="rId20"/>
    </p:embeddedFont>
    <p:embeddedFont>
      <p:font typeface="Source Sans Pro" panose="020B0503030403020204" pitchFamily="34" charset="0"/>
      <p:regular r:id="rId21"/>
      <p:bold r:id="rId22"/>
      <p:italic r:id="rId23"/>
      <p:boldItalic r:id="rId24"/>
    </p:embeddedFont>
    <p:embeddedFont>
      <p:font typeface="Source Serif Pro" panose="02040603050405020204" pitchFamily="18" charset="0"/>
      <p:regular r:id="rId25"/>
      <p:bold r:id="rId26"/>
      <p:italic r:id="rId27"/>
      <p:boldItalic r:id="rId28"/>
    </p:embeddedFont>
  </p:embeddedFontLst>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A565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89187" autoAdjust="0"/>
  </p:normalViewPr>
  <p:slideViewPr>
    <p:cSldViewPr snapToGrid="0" snapToObjects="1">
      <p:cViewPr>
        <p:scale>
          <a:sx n="100" d="100"/>
          <a:sy n="100" d="100"/>
        </p:scale>
        <p:origin x="1806" y="6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85050897"/>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EDF25-0C28-FC0A-111E-87528B7A61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746E9B-9A53-68C5-2D32-5D71C43169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570E81-895A-65B9-8EE3-DADDFC61AF4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06C253A-7FC9-E153-CE93-624128920D21}"/>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37322806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E60EE8-056F-5E2F-2989-121A2D4082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657564-8579-7E84-9FE3-940CCB335F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6F89B4-7483-43DD-9F38-F1FE25B416F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B41605C-2C32-7CF7-A284-35CA39A19BBA}"/>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1977824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92C74D-5CDF-7A28-0392-76C218FC71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84B17F-3D07-D92B-3119-D87469F9B7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ACD833-685A-44F1-AACC-C6BB07E057F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457E398-744E-A99D-739B-E67B0022287F}"/>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36441786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1A0C17-799E-6E6A-B763-53C6297266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76E718-012F-916B-2407-2F403F648A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71C8E9-3778-B9A9-46DF-08B752E3F16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5226362-97C4-B772-EA26-979A521A4386}"/>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367469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0CE2C2-EE41-4588-CBB1-19C5A7E8ED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A312DF-F7DF-C910-3C8A-6D95B80130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BA49A3-1ED6-5378-0165-CD139C2EE5B3}"/>
              </a:ext>
            </a:extLst>
          </p:cNvPr>
          <p:cNvSpPr>
            <a:spLocks noGrp="1"/>
          </p:cNvSpPr>
          <p:nvPr>
            <p:ph type="body" idx="1"/>
          </p:nvPr>
        </p:nvSpPr>
        <p:spPr/>
        <p:txBody>
          <a:bodyPr/>
          <a:lstStyle/>
          <a:p>
            <a:r>
              <a:rPr lang="en-US" dirty="0"/>
              <a:t>This visual pattern clearly shows the difficulty that the sampler has when exploring the 'funnel' shaped posterior distribution. The sampler easily gets stuck in the 'neck of the funnel' region (where the variance is close to zero) which has a high probability density but is very narrow. Attempts to escape this narrow space and move to the wide 'mouth of the funnel' region (where the variance is high) often result in uncontrollable jumps, causing divergence. This provides a direct visual indication of the low ESS and divergence.</a:t>
            </a:r>
          </a:p>
        </p:txBody>
      </p:sp>
      <p:sp>
        <p:nvSpPr>
          <p:cNvPr id="4" name="Slide Number Placeholder 3">
            <a:extLst>
              <a:ext uri="{FF2B5EF4-FFF2-40B4-BE49-F238E27FC236}">
                <a16:creationId xmlns:a16="http://schemas.microsoft.com/office/drawing/2014/main" id="{D71EFE7A-7DE9-C5A2-B661-81B814C2F2A4}"/>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22494945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F5AFC6-FACB-CE2B-A255-EEB25103D7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B9BA58-BC76-3954-A2D7-AA082A06D6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973DC3-3AAD-A06B-CA23-E2BA46500E0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B9DB410-7C3A-E04A-3963-47DE8AA872AC}"/>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31541980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4ACBE5-156C-A892-7C25-261D913137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2D4B61-AD21-314C-8D17-0A937369CD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219104-989A-7E30-BC4D-6801882400F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48A812E-7AA3-9834-A670-C6874D8720F0}"/>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87755532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B660A2-24F6-3797-575A-B2C7A3F010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5334F3-7B35-AFD7-FB80-2CB37AC331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E22417-3FED-B61C-6736-FA5ED616EC3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E610286-B559-4DD4-86D6-A061C00FED45}"/>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6728498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F3F0"/>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F3F0"/>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F3F0"/>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F3F0"/>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F3F0"/>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F3F0"/>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F3F0"/>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F3F0"/>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hyperlink" Target="mailto:hsj6897@kaist.ac.kr"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9.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9.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9.xml"/><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2551986"/>
            <a:ext cx="8093035" cy="1240155"/>
          </a:xfrm>
          <a:prstGeom prst="rect">
            <a:avLst/>
          </a:prstGeom>
          <a:noFill/>
          <a:ln/>
        </p:spPr>
        <p:txBody>
          <a:bodyPr wrap="square" lIns="0" tIns="0" rIns="0" bIns="0" rtlCol="0" anchor="t"/>
          <a:lstStyle/>
          <a:p>
            <a:pPr marL="0" indent="0" algn="l">
              <a:lnSpc>
                <a:spcPts val="4850"/>
              </a:lnSpc>
              <a:buNone/>
            </a:pPr>
            <a:r>
              <a:rPr lang="en-US" sz="3900" dirty="0">
                <a:solidFill>
                  <a:srgbClr val="201B18"/>
                </a:solidFill>
                <a:latin typeface="Platypi Medium" pitchFamily="34" charset="0"/>
                <a:ea typeface="Platypi Medium" pitchFamily="34" charset="-122"/>
                <a:cs typeface="Platypi Medium" pitchFamily="34" charset="-120"/>
              </a:rPr>
              <a:t>Momentum and Value in Japan: An Integrated View</a:t>
            </a:r>
            <a:endParaRPr lang="en-US" sz="3900" dirty="0"/>
          </a:p>
        </p:txBody>
      </p:sp>
      <p:sp>
        <p:nvSpPr>
          <p:cNvPr id="6" name="TextBox 5">
            <a:extLst>
              <a:ext uri="{FF2B5EF4-FFF2-40B4-BE49-F238E27FC236}">
                <a16:creationId xmlns:a16="http://schemas.microsoft.com/office/drawing/2014/main" id="{EACF56A6-558A-29DB-6C14-6FA5AD89BE26}"/>
              </a:ext>
            </a:extLst>
          </p:cNvPr>
          <p:cNvSpPr txBox="1"/>
          <p:nvPr/>
        </p:nvSpPr>
        <p:spPr>
          <a:xfrm>
            <a:off x="0" y="7860268"/>
            <a:ext cx="824265" cy="369332"/>
          </a:xfrm>
          <a:prstGeom prst="rect">
            <a:avLst/>
          </a:prstGeom>
          <a:noFill/>
        </p:spPr>
        <p:txBody>
          <a:bodyPr wrap="none" rtlCol="0">
            <a:spAutoFit/>
          </a:bodyPr>
          <a:lstStyle/>
          <a:p>
            <a:r>
              <a:rPr lang="en-US" altLang="ko-KR" dirty="0">
                <a:latin typeface="Platypi Medium" panose="020B0600000101010101" charset="0"/>
                <a:cs typeface="Platypi Medium" panose="020B0600000101010101" charset="0"/>
              </a:rPr>
              <a:t>KFAC</a:t>
            </a:r>
            <a:endParaRPr lang="ko-KR" altLang="en-US" dirty="0"/>
          </a:p>
        </p:txBody>
      </p:sp>
      <p:sp>
        <p:nvSpPr>
          <p:cNvPr id="5" name="TextBox 4">
            <a:extLst>
              <a:ext uri="{FF2B5EF4-FFF2-40B4-BE49-F238E27FC236}">
                <a16:creationId xmlns:a16="http://schemas.microsoft.com/office/drawing/2014/main" id="{5C4957D0-8984-FC4D-B1F6-070514E9E57D}"/>
              </a:ext>
            </a:extLst>
          </p:cNvPr>
          <p:cNvSpPr txBox="1"/>
          <p:nvPr/>
        </p:nvSpPr>
        <p:spPr>
          <a:xfrm>
            <a:off x="717589" y="3837801"/>
            <a:ext cx="3844885" cy="830997"/>
          </a:xfrm>
          <a:prstGeom prst="rect">
            <a:avLst/>
          </a:prstGeom>
          <a:noFill/>
        </p:spPr>
        <p:txBody>
          <a:bodyPr wrap="square" rtlCol="0">
            <a:spAutoFit/>
          </a:bodyPr>
          <a:lstStyle/>
          <a:p>
            <a:r>
              <a:rPr lang="en-US" altLang="ko-KR" sz="1200" dirty="0">
                <a:solidFill>
                  <a:schemeClr val="bg1">
                    <a:lumMod val="50000"/>
                  </a:schemeClr>
                </a:solidFill>
                <a:latin typeface="Platypi Medium" panose="020B0600000101010101" charset="0"/>
                <a:cs typeface="Platypi Medium" panose="020B0600000101010101" charset="0"/>
              </a:rPr>
              <a:t>2025-06-23</a:t>
            </a:r>
          </a:p>
          <a:p>
            <a:r>
              <a:rPr lang="en-US" altLang="ko-KR" sz="1200" dirty="0">
                <a:solidFill>
                  <a:schemeClr val="bg1">
                    <a:lumMod val="50000"/>
                  </a:schemeClr>
                </a:solidFill>
                <a:latin typeface="Platypi Medium" panose="020B0600000101010101" charset="0"/>
                <a:cs typeface="Platypi Medium" panose="020B0600000101010101" charset="0"/>
              </a:rPr>
              <a:t>Presenter: </a:t>
            </a:r>
            <a:r>
              <a:rPr lang="en-US" altLang="ko-KR" sz="1200" dirty="0" err="1">
                <a:solidFill>
                  <a:schemeClr val="bg1">
                    <a:lumMod val="50000"/>
                  </a:schemeClr>
                </a:solidFill>
                <a:latin typeface="Platypi Medium" panose="020B0600000101010101" charset="0"/>
                <a:cs typeface="Platypi Medium" panose="020B0600000101010101" charset="0"/>
              </a:rPr>
              <a:t>SeongJe</a:t>
            </a:r>
            <a:r>
              <a:rPr lang="en-US" altLang="ko-KR" sz="1200" dirty="0">
                <a:solidFill>
                  <a:schemeClr val="bg1">
                    <a:lumMod val="50000"/>
                  </a:schemeClr>
                </a:solidFill>
                <a:latin typeface="Platypi Medium" panose="020B0600000101010101" charset="0"/>
                <a:cs typeface="Platypi Medium" panose="020B0600000101010101" charset="0"/>
              </a:rPr>
              <a:t> Hong</a:t>
            </a:r>
          </a:p>
          <a:p>
            <a:r>
              <a:rPr lang="en-US" altLang="ko-KR" sz="1200" dirty="0">
                <a:solidFill>
                  <a:schemeClr val="bg1">
                    <a:lumMod val="50000"/>
                  </a:schemeClr>
                </a:solidFill>
                <a:latin typeface="Platypi Medium" panose="020B0600000101010101" charset="0"/>
                <a:cs typeface="Platypi Medium" panose="020B0600000101010101" charset="0"/>
              </a:rPr>
              <a:t>Email: </a:t>
            </a:r>
            <a:r>
              <a:rPr lang="en-US" altLang="ko-KR" sz="1200" dirty="0">
                <a:solidFill>
                  <a:schemeClr val="bg1">
                    <a:lumMod val="50000"/>
                  </a:schemeClr>
                </a:solidFill>
                <a:latin typeface="Platypi Medium" panose="020B0600000101010101" charset="0"/>
                <a:cs typeface="Platypi Medium" panose="020B0600000101010101" charset="0"/>
                <a:hlinkClick r:id="rId4"/>
              </a:rPr>
              <a:t>hsj6897@kaist.ac.kr</a:t>
            </a:r>
            <a:endParaRPr lang="en-US" altLang="ko-KR" sz="1200" dirty="0">
              <a:solidFill>
                <a:schemeClr val="bg1">
                  <a:lumMod val="50000"/>
                </a:schemeClr>
              </a:solidFill>
              <a:latin typeface="Platypi Medium" panose="020B0600000101010101" charset="0"/>
              <a:cs typeface="Platypi Medium" panose="020B0600000101010101" charset="0"/>
            </a:endParaRPr>
          </a:p>
          <a:p>
            <a:r>
              <a:rPr lang="en-US" altLang="ko-KR" sz="1200" dirty="0" err="1">
                <a:solidFill>
                  <a:schemeClr val="bg1">
                    <a:lumMod val="50000"/>
                  </a:schemeClr>
                </a:solidFill>
                <a:latin typeface="Platypi Medium" panose="020B0600000101010101" charset="0"/>
                <a:cs typeface="Platypi Medium" panose="020B0600000101010101" charset="0"/>
              </a:rPr>
              <a:t>Github</a:t>
            </a:r>
            <a:r>
              <a:rPr lang="en-US" altLang="ko-KR" sz="1200" dirty="0">
                <a:solidFill>
                  <a:schemeClr val="bg1">
                    <a:lumMod val="50000"/>
                  </a:schemeClr>
                </a:solidFill>
                <a:latin typeface="Platypi Medium" panose="020B0600000101010101" charset="0"/>
                <a:cs typeface="Platypi Medium" panose="020B0600000101010101" charset="0"/>
              </a:rPr>
              <a:t>: https://github.com/WQGGSEY/FF2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nvSpPr>
        <p:spPr>
          <a:xfrm>
            <a:off x="6280190" y="1408986"/>
            <a:ext cx="7556421" cy="1240155"/>
          </a:xfrm>
          <a:prstGeom prst="rect">
            <a:avLst/>
          </a:prstGeom>
          <a:noFill/>
          <a:ln/>
        </p:spPr>
        <p:txBody>
          <a:bodyPr wrap="square" lIns="0" tIns="0" rIns="0" bIns="0" rtlCol="0" anchor="t"/>
          <a:lstStyle/>
          <a:p>
            <a:pPr marL="0" indent="0" algn="l">
              <a:lnSpc>
                <a:spcPts val="4850"/>
              </a:lnSpc>
              <a:buNone/>
            </a:pPr>
            <a:r>
              <a:rPr lang="en-US" sz="3900" dirty="0">
                <a:solidFill>
                  <a:srgbClr val="201B18"/>
                </a:solidFill>
                <a:latin typeface="Platypi Medium" pitchFamily="34" charset="0"/>
                <a:ea typeface="Platypi Medium" pitchFamily="34" charset="-122"/>
                <a:cs typeface="Platypi Medium" pitchFamily="34" charset="-120"/>
              </a:rPr>
              <a:t>Motivation: Re-evaluating </a:t>
            </a:r>
          </a:p>
          <a:p>
            <a:pPr marL="0" indent="0" algn="l">
              <a:lnSpc>
                <a:spcPts val="4850"/>
              </a:lnSpc>
              <a:buNone/>
            </a:pPr>
            <a:r>
              <a:rPr lang="en-US" sz="3900" dirty="0">
                <a:solidFill>
                  <a:srgbClr val="201B18"/>
                </a:solidFill>
                <a:latin typeface="Platypi Medium" pitchFamily="34" charset="0"/>
                <a:ea typeface="Platypi Medium" pitchFamily="34" charset="-122"/>
                <a:cs typeface="Platypi Medium" pitchFamily="34" charset="-120"/>
              </a:rPr>
              <a:t>Momentum in Japan</a:t>
            </a:r>
            <a:endParaRPr lang="en-US" sz="3900" dirty="0"/>
          </a:p>
        </p:txBody>
      </p:sp>
      <p:sp>
        <p:nvSpPr>
          <p:cNvPr id="4" name="Shape 1"/>
          <p:cNvSpPr/>
          <p:nvPr/>
        </p:nvSpPr>
        <p:spPr>
          <a:xfrm>
            <a:off x="6280190" y="2946797"/>
            <a:ext cx="446484" cy="446484"/>
          </a:xfrm>
          <a:prstGeom prst="roundRect">
            <a:avLst>
              <a:gd name="adj" fmla="val 6668"/>
            </a:avLst>
          </a:prstGeom>
          <a:solidFill>
            <a:srgbClr val="F9F7F7"/>
          </a:solidFill>
          <a:ln/>
        </p:spPr>
        <p:txBody>
          <a:bodyPr/>
          <a:lstStyle/>
          <a:p>
            <a:endParaRPr lang="ko-KR" altLang="en-US"/>
          </a:p>
        </p:txBody>
      </p:sp>
      <p:sp>
        <p:nvSpPr>
          <p:cNvPr id="5" name="Text 2"/>
          <p:cNvSpPr/>
          <p:nvPr/>
        </p:nvSpPr>
        <p:spPr>
          <a:xfrm>
            <a:off x="6925032" y="3015020"/>
            <a:ext cx="2654975" cy="310158"/>
          </a:xfrm>
          <a:prstGeom prst="rect">
            <a:avLst/>
          </a:prstGeom>
          <a:noFill/>
          <a:ln/>
        </p:spPr>
        <p:txBody>
          <a:bodyPr wrap="none" lIns="0" tIns="0" rIns="0" bIns="0" rtlCol="0" anchor="t"/>
          <a:lstStyle/>
          <a:p>
            <a:pPr marL="0" indent="0" algn="l">
              <a:lnSpc>
                <a:spcPts val="2400"/>
              </a:lnSpc>
              <a:buNone/>
            </a:pPr>
            <a:r>
              <a:rPr lang="en-US" sz="1950" dirty="0">
                <a:solidFill>
                  <a:srgbClr val="504C49"/>
                </a:solidFill>
                <a:latin typeface="Platypi Medium" pitchFamily="34" charset="0"/>
                <a:ea typeface="Platypi Medium" pitchFamily="34" charset="-122"/>
                <a:cs typeface="Platypi Medium" pitchFamily="34" charset="-120"/>
              </a:rPr>
              <a:t>Traditional Strategies</a:t>
            </a:r>
            <a:endParaRPr lang="en-US" sz="1950" dirty="0"/>
          </a:p>
        </p:txBody>
      </p:sp>
      <p:sp>
        <p:nvSpPr>
          <p:cNvPr id="6" name="Text 3"/>
          <p:cNvSpPr/>
          <p:nvPr/>
        </p:nvSpPr>
        <p:spPr>
          <a:xfrm>
            <a:off x="6925032" y="3444240"/>
            <a:ext cx="6911578" cy="317540"/>
          </a:xfrm>
          <a:prstGeom prst="rect">
            <a:avLst/>
          </a:prstGeom>
          <a:noFill/>
          <a:ln/>
        </p:spPr>
        <p:txBody>
          <a:bodyPr wrap="none" lIns="0" tIns="0" rIns="0" bIns="0" rtlCol="0" anchor="t"/>
          <a:lstStyle/>
          <a:p>
            <a:pPr marL="0" indent="0" algn="l">
              <a:lnSpc>
                <a:spcPts val="2500"/>
              </a:lnSpc>
              <a:buNone/>
            </a:pPr>
            <a:r>
              <a:rPr lang="en-US" sz="1550" dirty="0">
                <a:solidFill>
                  <a:srgbClr val="504C49"/>
                </a:solidFill>
                <a:latin typeface="Source Serif Pro" pitchFamily="34" charset="0"/>
                <a:ea typeface="Source Serif Pro" pitchFamily="34" charset="-122"/>
                <a:cs typeface="Source Serif Pro" pitchFamily="34" charset="-120"/>
              </a:rPr>
              <a:t>Momentum and Value are known for achieving excess returns in markets.</a:t>
            </a:r>
            <a:endParaRPr lang="en-US" sz="1550" dirty="0"/>
          </a:p>
        </p:txBody>
      </p:sp>
      <p:sp>
        <p:nvSpPr>
          <p:cNvPr id="7" name="Shape 4"/>
          <p:cNvSpPr/>
          <p:nvPr/>
        </p:nvSpPr>
        <p:spPr>
          <a:xfrm>
            <a:off x="6280190" y="4158615"/>
            <a:ext cx="446484" cy="446484"/>
          </a:xfrm>
          <a:prstGeom prst="roundRect">
            <a:avLst>
              <a:gd name="adj" fmla="val 6668"/>
            </a:avLst>
          </a:prstGeom>
          <a:solidFill>
            <a:srgbClr val="F9F7F7"/>
          </a:solidFill>
          <a:ln/>
        </p:spPr>
        <p:txBody>
          <a:bodyPr/>
          <a:lstStyle/>
          <a:p>
            <a:endParaRPr lang="ko-KR" altLang="en-US"/>
          </a:p>
        </p:txBody>
      </p:sp>
      <p:sp>
        <p:nvSpPr>
          <p:cNvPr id="8" name="Text 5"/>
          <p:cNvSpPr/>
          <p:nvPr/>
        </p:nvSpPr>
        <p:spPr>
          <a:xfrm>
            <a:off x="6925032" y="4226838"/>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504C49"/>
                </a:solidFill>
                <a:latin typeface="Platypi Medium" pitchFamily="34" charset="0"/>
                <a:ea typeface="Platypi Medium" pitchFamily="34" charset="-122"/>
                <a:cs typeface="Platypi Medium" pitchFamily="34" charset="-120"/>
              </a:rPr>
              <a:t>Japanese Anomaly</a:t>
            </a:r>
            <a:endParaRPr lang="en-US" sz="1950" dirty="0"/>
          </a:p>
        </p:txBody>
      </p:sp>
      <p:sp>
        <p:nvSpPr>
          <p:cNvPr id="9" name="Text 6"/>
          <p:cNvSpPr/>
          <p:nvPr/>
        </p:nvSpPr>
        <p:spPr>
          <a:xfrm>
            <a:off x="6925032" y="4656058"/>
            <a:ext cx="6911578" cy="981076"/>
          </a:xfrm>
          <a:prstGeom prst="rect">
            <a:avLst/>
          </a:prstGeom>
          <a:noFill/>
          <a:ln/>
        </p:spPr>
        <p:txBody>
          <a:bodyPr wrap="square" lIns="0" tIns="0" rIns="0" bIns="0" rtlCol="0" anchor="t"/>
          <a:lstStyle/>
          <a:p>
            <a:pPr>
              <a:lnSpc>
                <a:spcPts val="2500"/>
              </a:lnSpc>
            </a:pPr>
            <a:r>
              <a:rPr lang="en-US" sz="1550" dirty="0">
                <a:solidFill>
                  <a:srgbClr val="504C49"/>
                </a:solidFill>
                <a:latin typeface="Source Sans Pro" panose="020F0502020204030204" pitchFamily="34" charset="0"/>
                <a:ea typeface="Source Serif Pro" pitchFamily="34" charset="-122"/>
                <a:cs typeface="Platypi Medium" panose="020B0600000101010101" charset="0"/>
              </a:rPr>
              <a:t>Claims persist that Momentum strategies don't yield significant excess returns in the Japanese market. (</a:t>
            </a:r>
            <a:r>
              <a:rPr lang="en-US" altLang="ko-KR" sz="1600" dirty="0" err="1">
                <a:latin typeface="Source Sans Pro" panose="020F0502020204030204" pitchFamily="34" charset="0"/>
              </a:rPr>
              <a:t>Asness</a:t>
            </a:r>
            <a:r>
              <a:rPr lang="en-US" altLang="ko-KR" sz="1600" dirty="0">
                <a:latin typeface="Source Sans Pro" panose="020F0502020204030204" pitchFamily="34" charset="0"/>
              </a:rPr>
              <a:t>, Moskowitz, and Pedersen [2010], Fama and French [2010], Griffin, Ji, and Martin [2003], and </a:t>
            </a:r>
            <a:r>
              <a:rPr lang="en-US" altLang="ko-KR" sz="1600" dirty="0" err="1">
                <a:latin typeface="Source Sans Pro" panose="020F0502020204030204" pitchFamily="34" charset="0"/>
              </a:rPr>
              <a:t>Rouwenhorst</a:t>
            </a:r>
            <a:r>
              <a:rPr lang="en-US" altLang="ko-KR" sz="1600" dirty="0">
                <a:latin typeface="Source Sans Pro" panose="020F0502020204030204" pitchFamily="34" charset="0"/>
              </a:rPr>
              <a:t> [1998]</a:t>
            </a:r>
            <a:r>
              <a:rPr lang="en-US" altLang="ko-KR" sz="1550" dirty="0">
                <a:latin typeface="Source Sans Pro" panose="020F0502020204030204" pitchFamily="34" charset="0"/>
              </a:rPr>
              <a:t>)</a:t>
            </a:r>
            <a:endParaRPr lang="en-US" altLang="ko-KR" sz="1600" dirty="0">
              <a:latin typeface="Source Sans Pro" panose="020F0502020204030204" pitchFamily="34" charset="0"/>
            </a:endParaRPr>
          </a:p>
        </p:txBody>
      </p:sp>
      <p:sp>
        <p:nvSpPr>
          <p:cNvPr id="10" name="Shape 7"/>
          <p:cNvSpPr/>
          <p:nvPr/>
        </p:nvSpPr>
        <p:spPr>
          <a:xfrm>
            <a:off x="6280190" y="5687973"/>
            <a:ext cx="446484" cy="446484"/>
          </a:xfrm>
          <a:prstGeom prst="roundRect">
            <a:avLst>
              <a:gd name="adj" fmla="val 6668"/>
            </a:avLst>
          </a:prstGeom>
          <a:solidFill>
            <a:srgbClr val="F9F7F7"/>
          </a:solidFill>
          <a:ln/>
        </p:spPr>
        <p:txBody>
          <a:bodyPr/>
          <a:lstStyle/>
          <a:p>
            <a:endParaRPr lang="ko-KR" altLang="en-US"/>
          </a:p>
        </p:txBody>
      </p:sp>
      <p:sp>
        <p:nvSpPr>
          <p:cNvPr id="11" name="Text 8"/>
          <p:cNvSpPr/>
          <p:nvPr/>
        </p:nvSpPr>
        <p:spPr>
          <a:xfrm>
            <a:off x="6925032" y="5756196"/>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504C49"/>
                </a:solidFill>
                <a:latin typeface="Platypi Medium" pitchFamily="34" charset="0"/>
                <a:ea typeface="Platypi Medium" pitchFamily="34" charset="-122"/>
                <a:cs typeface="Platypi Medium" pitchFamily="34" charset="-120"/>
              </a:rPr>
              <a:t>Conclusion</a:t>
            </a:r>
            <a:endParaRPr lang="en-US" sz="1950" dirty="0"/>
          </a:p>
        </p:txBody>
      </p:sp>
      <p:sp>
        <p:nvSpPr>
          <p:cNvPr id="12" name="Text 9"/>
          <p:cNvSpPr/>
          <p:nvPr/>
        </p:nvSpPr>
        <p:spPr>
          <a:xfrm>
            <a:off x="6925032" y="6185416"/>
            <a:ext cx="6911578" cy="635079"/>
          </a:xfrm>
          <a:prstGeom prst="rect">
            <a:avLst/>
          </a:prstGeom>
          <a:noFill/>
          <a:ln/>
        </p:spPr>
        <p:txBody>
          <a:bodyPr wrap="square" lIns="0" tIns="0" rIns="0" bIns="0" rtlCol="0" anchor="t"/>
          <a:lstStyle/>
          <a:p>
            <a:pPr marL="0" indent="0" algn="l">
              <a:lnSpc>
                <a:spcPts val="2500"/>
              </a:lnSpc>
              <a:buNone/>
            </a:pPr>
            <a:r>
              <a:rPr lang="en-US" sz="1550" dirty="0">
                <a:solidFill>
                  <a:srgbClr val="504C49"/>
                </a:solidFill>
                <a:latin typeface="Source Serif Pro" pitchFamily="34" charset="0"/>
                <a:ea typeface="Source Serif Pro" pitchFamily="34" charset="-122"/>
                <a:cs typeface="Source Serif Pro" pitchFamily="34" charset="-120"/>
              </a:rPr>
              <a:t>This Japanese case supports Momentum, due to its negative correlation with the Value Factor.</a:t>
            </a:r>
            <a:endParaRPr lang="en-US" sz="1550" dirty="0"/>
          </a:p>
        </p:txBody>
      </p:sp>
      <p:sp>
        <p:nvSpPr>
          <p:cNvPr id="13" name="직사각형 12">
            <a:extLst>
              <a:ext uri="{FF2B5EF4-FFF2-40B4-BE49-F238E27FC236}">
                <a16:creationId xmlns:a16="http://schemas.microsoft.com/office/drawing/2014/main" id="{67B33C29-16A9-FB25-DB95-30E8CB2B712F}"/>
              </a:ext>
            </a:extLst>
          </p:cNvPr>
          <p:cNvSpPr/>
          <p:nvPr/>
        </p:nvSpPr>
        <p:spPr>
          <a:xfrm>
            <a:off x="12849225" y="7790974"/>
            <a:ext cx="1781175" cy="51482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altLang="ko-KR" dirty="0">
                <a:solidFill>
                  <a:schemeClr val="tx1"/>
                </a:solidFill>
                <a:latin typeface="Platypi Medium" panose="020B0600000101010101" charset="0"/>
                <a:cs typeface="Platypi Medium" panose="020B0600000101010101" charset="0"/>
              </a:rPr>
              <a:t>KFAC</a:t>
            </a:r>
            <a:endParaRPr lang="ko-KR" altLang="en-US" dirty="0">
              <a:solidFill>
                <a:schemeClr val="tx1"/>
              </a:solidFill>
              <a:latin typeface="Platypi Medium" panose="020B0600000101010101" charset="0"/>
              <a:cs typeface="Platypi Medium" panose="020B0600000101010101" charset="0"/>
            </a:endParaRPr>
          </a:p>
        </p:txBody>
      </p:sp>
      <p:pic>
        <p:nvPicPr>
          <p:cNvPr id="1026" name="Picture 2">
            <a:extLst>
              <a:ext uri="{FF2B5EF4-FFF2-40B4-BE49-F238E27FC236}">
                <a16:creationId xmlns:a16="http://schemas.microsoft.com/office/drawing/2014/main" id="{CB5B4CC7-94D2-24A3-A0D5-CF21A7CC7D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0280" y="1638657"/>
            <a:ext cx="5943600" cy="54864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932736"/>
            <a:ext cx="7848362" cy="620078"/>
          </a:xfrm>
          <a:prstGeom prst="rect">
            <a:avLst/>
          </a:prstGeom>
          <a:noFill/>
          <a:ln/>
        </p:spPr>
        <p:txBody>
          <a:bodyPr wrap="none" lIns="0" tIns="0" rIns="0" bIns="0" rtlCol="0" anchor="t"/>
          <a:lstStyle/>
          <a:p>
            <a:pPr marL="0" indent="0" algn="l">
              <a:lnSpc>
                <a:spcPts val="4850"/>
              </a:lnSpc>
              <a:buNone/>
            </a:pPr>
            <a:r>
              <a:rPr lang="en-US" sz="3900" dirty="0">
                <a:solidFill>
                  <a:srgbClr val="201B18"/>
                </a:solidFill>
                <a:latin typeface="Platypi Medium" pitchFamily="34" charset="0"/>
                <a:ea typeface="Platypi Medium" pitchFamily="34" charset="-122"/>
                <a:cs typeface="Platypi Medium" pitchFamily="34" charset="-120"/>
              </a:rPr>
              <a:t>Data and Portfolio Construction</a:t>
            </a:r>
            <a:endParaRPr lang="en-US" sz="3900" dirty="0"/>
          </a:p>
        </p:txBody>
      </p:sp>
      <p:sp>
        <p:nvSpPr>
          <p:cNvPr id="3" name="Text 1"/>
          <p:cNvSpPr/>
          <p:nvPr/>
        </p:nvSpPr>
        <p:spPr>
          <a:xfrm>
            <a:off x="793790" y="2048827"/>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201B18"/>
                </a:solidFill>
                <a:latin typeface="Platypi Medium" pitchFamily="34" charset="0"/>
                <a:ea typeface="Platypi Medium" pitchFamily="34" charset="-122"/>
                <a:cs typeface="Platypi Medium" pitchFamily="34" charset="-120"/>
              </a:rPr>
              <a:t>Data Description</a:t>
            </a:r>
            <a:endParaRPr lang="en-US" sz="1950" dirty="0"/>
          </a:p>
        </p:txBody>
      </p:sp>
      <p:sp>
        <p:nvSpPr>
          <p:cNvPr id="4" name="Text 2"/>
          <p:cNvSpPr/>
          <p:nvPr/>
        </p:nvSpPr>
        <p:spPr>
          <a:xfrm>
            <a:off x="793790" y="2557343"/>
            <a:ext cx="6279356" cy="952619"/>
          </a:xfrm>
          <a:prstGeom prst="rect">
            <a:avLst/>
          </a:prstGeom>
          <a:noFill/>
          <a:ln/>
        </p:spPr>
        <p:txBody>
          <a:bodyPr wrap="square" lIns="0" tIns="0" rIns="0" bIns="0" rtlCol="0" anchor="t"/>
          <a:lstStyle/>
          <a:p>
            <a:pPr marL="0" indent="0" algn="l">
              <a:lnSpc>
                <a:spcPts val="2500"/>
              </a:lnSpc>
              <a:buNone/>
            </a:pPr>
            <a:r>
              <a:rPr lang="en-US" sz="1550" dirty="0">
                <a:solidFill>
                  <a:srgbClr val="504C49"/>
                </a:solidFill>
                <a:latin typeface="Source Serif Pro" pitchFamily="34" charset="0"/>
                <a:ea typeface="Source Serif Pro" pitchFamily="34" charset="-122"/>
                <a:cs typeface="Source Serif Pro" pitchFamily="34" charset="-120"/>
              </a:rPr>
              <a:t>We used 29.5 years of data (July 1981 - December 2010) from the US, UK, EUR, and JPN markets, focusing on the top 90% of market capitalization.</a:t>
            </a:r>
            <a:endParaRPr lang="en-US" sz="1550" dirty="0"/>
          </a:p>
        </p:txBody>
      </p:sp>
      <p:sp>
        <p:nvSpPr>
          <p:cNvPr id="5" name="Text 3"/>
          <p:cNvSpPr/>
          <p:nvPr/>
        </p:nvSpPr>
        <p:spPr>
          <a:xfrm>
            <a:off x="793790" y="3708321"/>
            <a:ext cx="2756892" cy="310158"/>
          </a:xfrm>
          <a:prstGeom prst="rect">
            <a:avLst/>
          </a:prstGeom>
          <a:noFill/>
          <a:ln/>
        </p:spPr>
        <p:txBody>
          <a:bodyPr wrap="none" lIns="0" tIns="0" rIns="0" bIns="0" rtlCol="0" anchor="t"/>
          <a:lstStyle/>
          <a:p>
            <a:pPr marL="0" indent="0" algn="l">
              <a:lnSpc>
                <a:spcPts val="2400"/>
              </a:lnSpc>
              <a:buNone/>
            </a:pPr>
            <a:r>
              <a:rPr lang="en-US" sz="1950" dirty="0">
                <a:solidFill>
                  <a:srgbClr val="201B18"/>
                </a:solidFill>
                <a:latin typeface="Platypi Medium" pitchFamily="34" charset="0"/>
                <a:ea typeface="Platypi Medium" pitchFamily="34" charset="-122"/>
                <a:cs typeface="Platypi Medium" pitchFamily="34" charset="-120"/>
              </a:rPr>
              <a:t>Portfolio Construction</a:t>
            </a:r>
            <a:endParaRPr lang="en-US" sz="1950" dirty="0"/>
          </a:p>
        </p:txBody>
      </p:sp>
      <p:sp>
        <p:nvSpPr>
          <p:cNvPr id="6" name="Text 4"/>
          <p:cNvSpPr/>
          <p:nvPr/>
        </p:nvSpPr>
        <p:spPr>
          <a:xfrm>
            <a:off x="793790" y="4216837"/>
            <a:ext cx="6279356" cy="1270159"/>
          </a:xfrm>
          <a:prstGeom prst="rect">
            <a:avLst/>
          </a:prstGeom>
          <a:noFill/>
          <a:ln/>
        </p:spPr>
        <p:txBody>
          <a:bodyPr wrap="square" lIns="0" tIns="0" rIns="0" bIns="0" rtlCol="0" anchor="t"/>
          <a:lstStyle/>
          <a:p>
            <a:pPr marL="0" indent="0" algn="l">
              <a:lnSpc>
                <a:spcPts val="2500"/>
              </a:lnSpc>
              <a:buNone/>
            </a:pPr>
            <a:r>
              <a:rPr lang="en-US" sz="1550" dirty="0">
                <a:solidFill>
                  <a:srgbClr val="504C49"/>
                </a:solidFill>
                <a:latin typeface="Source Serif Pro" pitchFamily="34" charset="0"/>
                <a:ea typeface="Source Serif Pro" pitchFamily="34" charset="-122"/>
                <a:cs typeface="Source Serif Pro" pitchFamily="34" charset="-120"/>
              </a:rPr>
              <a:t>Portfolios were constructed based on Momentum and Value, following Asness, Moskowitz, and Pedersen [2010] methodology*. </a:t>
            </a:r>
            <a:br>
              <a:rPr lang="en-US" sz="1550" dirty="0">
                <a:solidFill>
                  <a:srgbClr val="504C49"/>
                </a:solidFill>
                <a:latin typeface="Source Serif Pro" pitchFamily="34" charset="0"/>
                <a:ea typeface="Source Serif Pro" pitchFamily="34" charset="-122"/>
                <a:cs typeface="Source Serif Pro" pitchFamily="34" charset="-120"/>
              </a:rPr>
            </a:br>
            <a:r>
              <a:rPr lang="en-US" sz="1550" dirty="0">
                <a:solidFill>
                  <a:srgbClr val="504C49"/>
                </a:solidFill>
                <a:latin typeface="Source Serif Pro" pitchFamily="34" charset="0"/>
                <a:ea typeface="Source Serif Pro" pitchFamily="34" charset="-122"/>
                <a:cs typeface="Source Serif Pro" pitchFamily="34" charset="-120"/>
              </a:rPr>
              <a:t>This involved creating three equal groups based on rankings and using Value Weighted Portfolios for each group.</a:t>
            </a:r>
            <a:endParaRPr lang="en-US" sz="1550" dirty="0"/>
          </a:p>
        </p:txBody>
      </p:sp>
      <p:sp>
        <p:nvSpPr>
          <p:cNvPr id="8" name="Text 5"/>
          <p:cNvSpPr/>
          <p:nvPr/>
        </p:nvSpPr>
        <p:spPr>
          <a:xfrm>
            <a:off x="135017" y="7912060"/>
            <a:ext cx="6279356" cy="635079"/>
          </a:xfrm>
          <a:prstGeom prst="rect">
            <a:avLst/>
          </a:prstGeom>
          <a:noFill/>
          <a:ln/>
        </p:spPr>
        <p:txBody>
          <a:bodyPr wrap="square" lIns="0" tIns="0" rIns="0" bIns="0" rtlCol="0" anchor="t"/>
          <a:lstStyle/>
          <a:p>
            <a:pPr marL="0" indent="0" algn="l">
              <a:lnSpc>
                <a:spcPts val="2500"/>
              </a:lnSpc>
              <a:buNone/>
            </a:pPr>
            <a:r>
              <a:rPr lang="en-US" sz="1000" dirty="0">
                <a:solidFill>
                  <a:srgbClr val="504C49"/>
                </a:solidFill>
                <a:latin typeface="Source Serif Pro" pitchFamily="34" charset="0"/>
                <a:ea typeface="Source Serif Pro" pitchFamily="34" charset="-122"/>
                <a:cs typeface="Source Serif Pro" pitchFamily="34" charset="-120"/>
              </a:rPr>
              <a:t>* Momentum was calculated as (p11-p0)/p0, and Value as ts_delay(book, 6 month)/cap.</a:t>
            </a:r>
            <a:endParaRPr lang="en-US" sz="1000" dirty="0"/>
          </a:p>
        </p:txBody>
      </p:sp>
      <p:sp>
        <p:nvSpPr>
          <p:cNvPr id="9" name="직사각형 8">
            <a:extLst>
              <a:ext uri="{FF2B5EF4-FFF2-40B4-BE49-F238E27FC236}">
                <a16:creationId xmlns:a16="http://schemas.microsoft.com/office/drawing/2014/main" id="{CF89A736-4DC4-5106-49F5-6276B91FDE79}"/>
              </a:ext>
            </a:extLst>
          </p:cNvPr>
          <p:cNvSpPr/>
          <p:nvPr/>
        </p:nvSpPr>
        <p:spPr>
          <a:xfrm>
            <a:off x="12849225" y="7790974"/>
            <a:ext cx="1781175" cy="51482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altLang="ko-KR" dirty="0">
                <a:solidFill>
                  <a:schemeClr val="tx1"/>
                </a:solidFill>
                <a:latin typeface="Platypi Medium" panose="020B0600000101010101" charset="0"/>
                <a:cs typeface="Platypi Medium" panose="020B0600000101010101" charset="0"/>
              </a:rPr>
              <a:t>KFAC</a:t>
            </a:r>
            <a:endParaRPr lang="ko-KR" altLang="en-US" dirty="0">
              <a:solidFill>
                <a:schemeClr val="tx1"/>
              </a:solidFill>
              <a:latin typeface="Platypi Medium" panose="020B0600000101010101" charset="0"/>
              <a:cs typeface="Platypi Medium" panose="020B0600000101010101" charset="0"/>
            </a:endParaRPr>
          </a:p>
        </p:txBody>
      </p:sp>
      <p:pic>
        <p:nvPicPr>
          <p:cNvPr id="2050" name="Picture 2">
            <a:extLst>
              <a:ext uri="{FF2B5EF4-FFF2-40B4-BE49-F238E27FC236}">
                <a16:creationId xmlns:a16="http://schemas.microsoft.com/office/drawing/2014/main" id="{80D2CF75-9E5C-BF72-8F6B-1CE11692A0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61327" y="2160985"/>
            <a:ext cx="6754942" cy="411170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2292906"/>
            <a:ext cx="10772180" cy="620078"/>
          </a:xfrm>
          <a:prstGeom prst="rect">
            <a:avLst/>
          </a:prstGeom>
          <a:noFill/>
          <a:ln/>
        </p:spPr>
        <p:txBody>
          <a:bodyPr wrap="none" lIns="0" tIns="0" rIns="0" bIns="0" rtlCol="0" anchor="t"/>
          <a:lstStyle/>
          <a:p>
            <a:pPr marL="0" indent="0" algn="l">
              <a:lnSpc>
                <a:spcPts val="4850"/>
              </a:lnSpc>
              <a:buNone/>
            </a:pPr>
            <a:r>
              <a:rPr lang="en-US" sz="3900" dirty="0">
                <a:solidFill>
                  <a:srgbClr val="201B18"/>
                </a:solidFill>
                <a:latin typeface="Platypi Medium" pitchFamily="34" charset="0"/>
                <a:ea typeface="Platypi Medium" pitchFamily="34" charset="-122"/>
                <a:cs typeface="Platypi Medium" pitchFamily="34" charset="-120"/>
              </a:rPr>
              <a:t>Basic Evidence: Performance Across Regions</a:t>
            </a:r>
            <a:endParaRPr lang="en-US" sz="3900" dirty="0"/>
          </a:p>
        </p:txBody>
      </p:sp>
      <p:sp>
        <p:nvSpPr>
          <p:cNvPr id="3" name="Text 1"/>
          <p:cNvSpPr/>
          <p:nvPr/>
        </p:nvSpPr>
        <p:spPr>
          <a:xfrm>
            <a:off x="793790" y="3408998"/>
            <a:ext cx="3096220" cy="310158"/>
          </a:xfrm>
          <a:prstGeom prst="rect">
            <a:avLst/>
          </a:prstGeom>
          <a:noFill/>
          <a:ln/>
        </p:spPr>
        <p:txBody>
          <a:bodyPr wrap="none" lIns="0" tIns="0" rIns="0" bIns="0" rtlCol="0" anchor="t"/>
          <a:lstStyle/>
          <a:p>
            <a:pPr marL="0" indent="0" algn="l">
              <a:lnSpc>
                <a:spcPts val="2400"/>
              </a:lnSpc>
              <a:buNone/>
            </a:pPr>
            <a:r>
              <a:rPr lang="en-US" sz="1950" dirty="0">
                <a:solidFill>
                  <a:srgbClr val="201B18"/>
                </a:solidFill>
                <a:latin typeface="Platypi Medium" pitchFamily="34" charset="0"/>
                <a:ea typeface="Platypi Medium" pitchFamily="34" charset="-122"/>
                <a:cs typeface="Platypi Medium" pitchFamily="34" charset="-120"/>
              </a:rPr>
              <a:t>Value Strategy (Exhibit 2)</a:t>
            </a:r>
            <a:endParaRPr lang="en-US" sz="1950" dirty="0"/>
          </a:p>
        </p:txBody>
      </p:sp>
      <p:sp>
        <p:nvSpPr>
          <p:cNvPr id="4" name="Text 2"/>
          <p:cNvSpPr/>
          <p:nvPr/>
        </p:nvSpPr>
        <p:spPr>
          <a:xfrm>
            <a:off x="793790" y="3917513"/>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504C49"/>
                </a:solidFill>
                <a:latin typeface="Source Serif Pro" pitchFamily="34" charset="0"/>
                <a:ea typeface="Source Serif Pro" pitchFamily="34" charset="-122"/>
                <a:cs typeface="Source Serif Pro" pitchFamily="34" charset="-120"/>
              </a:rPr>
              <a:t>US showed no statistical significance.</a:t>
            </a:r>
            <a:endParaRPr lang="en-US" sz="1550" dirty="0"/>
          </a:p>
        </p:txBody>
      </p:sp>
      <p:sp>
        <p:nvSpPr>
          <p:cNvPr id="5" name="Text 3"/>
          <p:cNvSpPr/>
          <p:nvPr/>
        </p:nvSpPr>
        <p:spPr>
          <a:xfrm>
            <a:off x="793790" y="4304467"/>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504C49"/>
                </a:solidFill>
                <a:latin typeface="Source Serif Pro" pitchFamily="34" charset="0"/>
                <a:ea typeface="Source Serif Pro" pitchFamily="34" charset="-122"/>
                <a:cs typeface="Source Serif Pro" pitchFamily="34" charset="-120"/>
              </a:rPr>
              <a:t>EUR was borderline.</a:t>
            </a:r>
            <a:endParaRPr lang="en-US" sz="1550" dirty="0"/>
          </a:p>
        </p:txBody>
      </p:sp>
      <p:sp>
        <p:nvSpPr>
          <p:cNvPr id="6" name="Text 4"/>
          <p:cNvSpPr/>
          <p:nvPr/>
        </p:nvSpPr>
        <p:spPr>
          <a:xfrm>
            <a:off x="793790" y="4691420"/>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504C49"/>
                </a:solidFill>
                <a:latin typeface="Source Serif Pro" pitchFamily="34" charset="0"/>
                <a:ea typeface="Source Serif Pro" pitchFamily="34" charset="-122"/>
                <a:cs typeface="Source Serif Pro" pitchFamily="34" charset="-120"/>
              </a:rPr>
              <a:t>JPN exhibited the strongest statistical significance for Value.</a:t>
            </a:r>
            <a:endParaRPr lang="en-US" sz="1550" dirty="0"/>
          </a:p>
        </p:txBody>
      </p:sp>
      <p:sp>
        <p:nvSpPr>
          <p:cNvPr id="7" name="Text 5"/>
          <p:cNvSpPr/>
          <p:nvPr/>
        </p:nvSpPr>
        <p:spPr>
          <a:xfrm>
            <a:off x="7564874" y="3408998"/>
            <a:ext cx="3861792" cy="310158"/>
          </a:xfrm>
          <a:prstGeom prst="rect">
            <a:avLst/>
          </a:prstGeom>
          <a:noFill/>
          <a:ln/>
        </p:spPr>
        <p:txBody>
          <a:bodyPr wrap="none" lIns="0" tIns="0" rIns="0" bIns="0" rtlCol="0" anchor="t"/>
          <a:lstStyle/>
          <a:p>
            <a:pPr marL="0" indent="0" algn="l">
              <a:lnSpc>
                <a:spcPts val="2400"/>
              </a:lnSpc>
              <a:buNone/>
            </a:pPr>
            <a:r>
              <a:rPr lang="en-US" sz="1950" dirty="0">
                <a:solidFill>
                  <a:srgbClr val="201B18"/>
                </a:solidFill>
                <a:latin typeface="Platypi Medium" pitchFamily="34" charset="0"/>
                <a:ea typeface="Platypi Medium" pitchFamily="34" charset="-122"/>
                <a:cs typeface="Platypi Medium" pitchFamily="34" charset="-120"/>
              </a:rPr>
              <a:t>Momentum Strategy (Exhibit 3)</a:t>
            </a:r>
            <a:endParaRPr lang="en-US" sz="1950" dirty="0"/>
          </a:p>
        </p:txBody>
      </p:sp>
      <p:sp>
        <p:nvSpPr>
          <p:cNvPr id="8" name="Text 6"/>
          <p:cNvSpPr/>
          <p:nvPr/>
        </p:nvSpPr>
        <p:spPr>
          <a:xfrm>
            <a:off x="7564873" y="3917513"/>
            <a:ext cx="6636901" cy="635079"/>
          </a:xfrm>
          <a:prstGeom prst="rect">
            <a:avLst/>
          </a:prstGeom>
          <a:noFill/>
          <a:ln/>
        </p:spPr>
        <p:txBody>
          <a:bodyPr wrap="square" lIns="0" tIns="0" rIns="0" bIns="0" rtlCol="0" anchor="t"/>
          <a:lstStyle/>
          <a:p>
            <a:pPr marL="342900" indent="-342900" algn="l">
              <a:lnSpc>
                <a:spcPts val="2500"/>
              </a:lnSpc>
              <a:buSzPct val="100000"/>
              <a:buChar char="•"/>
            </a:pPr>
            <a:r>
              <a:rPr lang="en-US" sz="1550" dirty="0">
                <a:solidFill>
                  <a:srgbClr val="504C49"/>
                </a:solidFill>
                <a:latin typeface="Source Serif Pro" pitchFamily="34" charset="0"/>
                <a:ea typeface="Source Serif Pro" pitchFamily="34" charset="-122"/>
                <a:cs typeface="Source Serif Pro" pitchFamily="34" charset="-120"/>
              </a:rPr>
              <a:t>JPN region showed very low performance with a Sharpe ratio of 0.03.</a:t>
            </a:r>
            <a:endParaRPr lang="en-US" sz="1550" dirty="0"/>
          </a:p>
        </p:txBody>
      </p:sp>
      <p:sp>
        <p:nvSpPr>
          <p:cNvPr id="9" name="Text 7"/>
          <p:cNvSpPr/>
          <p:nvPr/>
        </p:nvSpPr>
        <p:spPr>
          <a:xfrm>
            <a:off x="793790" y="5301615"/>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504C49"/>
                </a:solidFill>
                <a:latin typeface="Source Serif Pro" pitchFamily="34" charset="0"/>
                <a:ea typeface="Source Serif Pro" pitchFamily="34" charset="-122"/>
                <a:cs typeface="Source Serif Pro" pitchFamily="34" charset="-120"/>
              </a:rPr>
              <a:t>The 50/50 strategy (Exhibit 4) in JPN yielded a Sharpe Ratio of 0.68, a significant improvement from individual Momentum (0.03) and Value (0.71). This increase is expected due to the negative correlation between Momentum and Value strategies, enhancing diversification (Exhibit 5).</a:t>
            </a:r>
            <a:endParaRPr lang="en-US" sz="1550" dirty="0"/>
          </a:p>
        </p:txBody>
      </p:sp>
      <p:sp>
        <p:nvSpPr>
          <p:cNvPr id="10" name="직사각형 9">
            <a:extLst>
              <a:ext uri="{FF2B5EF4-FFF2-40B4-BE49-F238E27FC236}">
                <a16:creationId xmlns:a16="http://schemas.microsoft.com/office/drawing/2014/main" id="{FA0AF358-C703-6A1A-3D3A-3DCFE4581AE7}"/>
              </a:ext>
            </a:extLst>
          </p:cNvPr>
          <p:cNvSpPr/>
          <p:nvPr/>
        </p:nvSpPr>
        <p:spPr>
          <a:xfrm>
            <a:off x="12849225" y="7790974"/>
            <a:ext cx="1781175" cy="51482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altLang="ko-KR" dirty="0">
                <a:solidFill>
                  <a:schemeClr val="tx1"/>
                </a:solidFill>
                <a:latin typeface="Platypi Medium" panose="020B0600000101010101" charset="0"/>
                <a:cs typeface="Platypi Medium" panose="020B0600000101010101" charset="0"/>
              </a:rPr>
              <a:t>KFAC</a:t>
            </a:r>
            <a:endParaRPr lang="ko-KR" altLang="en-US" dirty="0">
              <a:solidFill>
                <a:schemeClr val="tx1"/>
              </a:solidFill>
              <a:latin typeface="Platypi Medium" panose="020B0600000101010101" charset="0"/>
              <a:cs typeface="Platypi Medium" panose="020B0600000101010101"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p:nvPr/>
        </p:nvSpPr>
        <p:spPr>
          <a:xfrm>
            <a:off x="523876" y="1666815"/>
            <a:ext cx="13427036" cy="1240155"/>
          </a:xfrm>
          <a:prstGeom prst="rect">
            <a:avLst/>
          </a:prstGeom>
          <a:noFill/>
          <a:ln/>
        </p:spPr>
        <p:txBody>
          <a:bodyPr wrap="square" lIns="0" tIns="0" rIns="0" bIns="0" rtlCol="0" anchor="t"/>
          <a:lstStyle/>
          <a:p>
            <a:pPr marL="0" indent="0" algn="l">
              <a:lnSpc>
                <a:spcPts val="4850"/>
              </a:lnSpc>
              <a:buNone/>
            </a:pPr>
            <a:r>
              <a:rPr lang="en-US" sz="3900" dirty="0">
                <a:solidFill>
                  <a:srgbClr val="201B18"/>
                </a:solidFill>
                <a:latin typeface="Platypi Medium" pitchFamily="34" charset="0"/>
                <a:ea typeface="Platypi Medium" pitchFamily="34" charset="-122"/>
                <a:cs typeface="Platypi Medium" pitchFamily="34" charset="-120"/>
              </a:rPr>
              <a:t>Simulations: Understanding JPN's Momentum Failure</a:t>
            </a:r>
            <a:endParaRPr lang="en-US" sz="3900" dirty="0"/>
          </a:p>
        </p:txBody>
      </p:sp>
      <p:sp>
        <p:nvSpPr>
          <p:cNvPr id="4" name="Shape 1"/>
          <p:cNvSpPr/>
          <p:nvPr/>
        </p:nvSpPr>
        <p:spPr>
          <a:xfrm>
            <a:off x="6280190" y="2850833"/>
            <a:ext cx="7556421" cy="1778556"/>
          </a:xfrm>
          <a:prstGeom prst="roundRect">
            <a:avLst>
              <a:gd name="adj" fmla="val 1674"/>
            </a:avLst>
          </a:prstGeom>
          <a:solidFill>
            <a:srgbClr val="F9F7F7"/>
          </a:solidFill>
          <a:ln/>
        </p:spPr>
        <p:txBody>
          <a:bodyPr/>
          <a:lstStyle/>
          <a:p>
            <a:endParaRPr lang="ko-KR" altLang="en-US"/>
          </a:p>
        </p:txBody>
      </p:sp>
      <p:sp>
        <p:nvSpPr>
          <p:cNvPr id="5" name="Text 2"/>
          <p:cNvSpPr/>
          <p:nvPr/>
        </p:nvSpPr>
        <p:spPr>
          <a:xfrm>
            <a:off x="6478548" y="3049191"/>
            <a:ext cx="7159704" cy="310158"/>
          </a:xfrm>
          <a:prstGeom prst="rect">
            <a:avLst/>
          </a:prstGeom>
          <a:noFill/>
          <a:ln/>
        </p:spPr>
        <p:txBody>
          <a:bodyPr wrap="none" lIns="0" tIns="0" rIns="0" bIns="0" rtlCol="0" anchor="t"/>
          <a:lstStyle/>
          <a:p>
            <a:pPr marL="0" indent="0" algn="l">
              <a:lnSpc>
                <a:spcPts val="2400"/>
              </a:lnSpc>
              <a:buNone/>
            </a:pPr>
            <a:r>
              <a:rPr lang="en-US" sz="1950" dirty="0">
                <a:solidFill>
                  <a:srgbClr val="504C49"/>
                </a:solidFill>
                <a:latin typeface="Platypi Medium" pitchFamily="34" charset="0"/>
                <a:ea typeface="Platypi Medium" pitchFamily="34" charset="-122"/>
                <a:cs typeface="Platypi Medium" pitchFamily="34" charset="-120"/>
              </a:rPr>
              <a:t>Was JPN's Single Momentum Failure Just Bad Luck? </a:t>
            </a:r>
            <a:r>
              <a:rPr lang="en-US" sz="1950" dirty="0">
                <a:solidFill>
                  <a:srgbClr val="FF0000"/>
                </a:solidFill>
                <a:latin typeface="Platypi Medium" pitchFamily="34" charset="0"/>
                <a:ea typeface="Platypi Medium" pitchFamily="34" charset="-122"/>
                <a:cs typeface="Platypi Medium" pitchFamily="34" charset="-120"/>
              </a:rPr>
              <a:t>Yes</a:t>
            </a:r>
            <a:r>
              <a:rPr lang="en-US" sz="1950" dirty="0">
                <a:solidFill>
                  <a:srgbClr val="504C49"/>
                </a:solidFill>
                <a:latin typeface="Platypi Medium" pitchFamily="34" charset="0"/>
                <a:ea typeface="Platypi Medium" pitchFamily="34" charset="-122"/>
                <a:cs typeface="Platypi Medium" pitchFamily="34" charset="-120"/>
              </a:rPr>
              <a:t>.</a:t>
            </a:r>
            <a:endParaRPr lang="en-US" sz="1950" dirty="0"/>
          </a:p>
        </p:txBody>
      </p:sp>
      <p:sp>
        <p:nvSpPr>
          <p:cNvPr id="6" name="Text 3"/>
          <p:cNvSpPr/>
          <p:nvPr/>
        </p:nvSpPr>
        <p:spPr>
          <a:xfrm>
            <a:off x="6478548" y="3478411"/>
            <a:ext cx="7159704" cy="952619"/>
          </a:xfrm>
          <a:prstGeom prst="rect">
            <a:avLst/>
          </a:prstGeom>
          <a:noFill/>
          <a:ln/>
        </p:spPr>
        <p:txBody>
          <a:bodyPr wrap="square" lIns="0" tIns="0" rIns="0" bIns="0" rtlCol="0" anchor="t"/>
          <a:lstStyle/>
          <a:p>
            <a:pPr marL="0" indent="0" algn="l">
              <a:lnSpc>
                <a:spcPts val="2500"/>
              </a:lnSpc>
              <a:buNone/>
            </a:pPr>
            <a:r>
              <a:rPr lang="en-US" sz="1550" dirty="0">
                <a:solidFill>
                  <a:srgbClr val="504C49"/>
                </a:solidFill>
                <a:latin typeface="Source Serif Pro" pitchFamily="34" charset="0"/>
                <a:ea typeface="Source Serif Pro" pitchFamily="34" charset="-122"/>
                <a:cs typeface="Source Serif Pro" pitchFamily="34" charset="-120"/>
              </a:rPr>
              <a:t>Monte-Carlo simulations (10,000 samples) showed that a Momentum Sharpe ratio of 0.03 in Japan is not uncommon, with a 26% probability of occurring in at least one of the four regions.</a:t>
            </a:r>
            <a:endParaRPr lang="en-US" sz="1550" dirty="0"/>
          </a:p>
        </p:txBody>
      </p:sp>
      <p:sp>
        <p:nvSpPr>
          <p:cNvPr id="7" name="Shape 4"/>
          <p:cNvSpPr/>
          <p:nvPr/>
        </p:nvSpPr>
        <p:spPr>
          <a:xfrm>
            <a:off x="6280190" y="4827746"/>
            <a:ext cx="7556421" cy="2088713"/>
          </a:xfrm>
          <a:prstGeom prst="roundRect">
            <a:avLst>
              <a:gd name="adj" fmla="val 1425"/>
            </a:avLst>
          </a:prstGeom>
          <a:solidFill>
            <a:srgbClr val="F9F7F7"/>
          </a:solidFill>
          <a:ln/>
        </p:spPr>
        <p:txBody>
          <a:bodyPr/>
          <a:lstStyle/>
          <a:p>
            <a:endParaRPr lang="ko-KR" altLang="en-US"/>
          </a:p>
        </p:txBody>
      </p:sp>
      <p:sp>
        <p:nvSpPr>
          <p:cNvPr id="8" name="Text 5"/>
          <p:cNvSpPr/>
          <p:nvPr/>
        </p:nvSpPr>
        <p:spPr>
          <a:xfrm>
            <a:off x="6478548" y="5026104"/>
            <a:ext cx="7159704" cy="620316"/>
          </a:xfrm>
          <a:prstGeom prst="rect">
            <a:avLst/>
          </a:prstGeom>
          <a:noFill/>
          <a:ln/>
        </p:spPr>
        <p:txBody>
          <a:bodyPr wrap="square" lIns="0" tIns="0" rIns="0" bIns="0" rtlCol="0" anchor="t"/>
          <a:lstStyle/>
          <a:p>
            <a:pPr marL="0" indent="0" algn="l">
              <a:lnSpc>
                <a:spcPts val="2400"/>
              </a:lnSpc>
              <a:buNone/>
            </a:pPr>
            <a:r>
              <a:rPr lang="en-US" sz="1950" dirty="0">
                <a:solidFill>
                  <a:srgbClr val="504C49"/>
                </a:solidFill>
                <a:latin typeface="Platypi Medium" pitchFamily="34" charset="0"/>
                <a:ea typeface="Platypi Medium" pitchFamily="34" charset="-122"/>
                <a:cs typeface="Platypi Medium" pitchFamily="34" charset="-120"/>
              </a:rPr>
              <a:t>Should Value and Momentum Be Viewed as One System? </a:t>
            </a:r>
            <a:r>
              <a:rPr lang="en-US" sz="1950" dirty="0">
                <a:solidFill>
                  <a:srgbClr val="FF0000"/>
                </a:solidFill>
                <a:latin typeface="Platypi Medium" pitchFamily="34" charset="0"/>
                <a:ea typeface="Platypi Medium" pitchFamily="34" charset="-122"/>
                <a:cs typeface="Platypi Medium" pitchFamily="34" charset="-120"/>
              </a:rPr>
              <a:t>Yes</a:t>
            </a:r>
            <a:r>
              <a:rPr lang="en-US" sz="1950" dirty="0">
                <a:solidFill>
                  <a:srgbClr val="504C49"/>
                </a:solidFill>
                <a:latin typeface="Platypi Medium" pitchFamily="34" charset="0"/>
                <a:ea typeface="Platypi Medium" pitchFamily="34" charset="-122"/>
                <a:cs typeface="Platypi Medium" pitchFamily="34" charset="-120"/>
              </a:rPr>
              <a:t>.</a:t>
            </a:r>
            <a:endParaRPr lang="en-US" sz="1950" dirty="0"/>
          </a:p>
        </p:txBody>
      </p:sp>
      <p:sp>
        <p:nvSpPr>
          <p:cNvPr id="9" name="Text 6"/>
          <p:cNvSpPr/>
          <p:nvPr/>
        </p:nvSpPr>
        <p:spPr>
          <a:xfrm>
            <a:off x="6478548" y="5765483"/>
            <a:ext cx="7159704" cy="952619"/>
          </a:xfrm>
          <a:prstGeom prst="rect">
            <a:avLst/>
          </a:prstGeom>
          <a:noFill/>
          <a:ln/>
        </p:spPr>
        <p:txBody>
          <a:bodyPr wrap="square" lIns="0" tIns="0" rIns="0" bIns="0" rtlCol="0" anchor="t"/>
          <a:lstStyle/>
          <a:p>
            <a:pPr marL="0" indent="0" algn="l">
              <a:lnSpc>
                <a:spcPts val="2500"/>
              </a:lnSpc>
              <a:buNone/>
            </a:pPr>
            <a:r>
              <a:rPr lang="en-US" sz="1550" dirty="0">
                <a:solidFill>
                  <a:srgbClr val="504C49"/>
                </a:solidFill>
                <a:latin typeface="Source Serif Pro" pitchFamily="34" charset="0"/>
                <a:ea typeface="Source Serif Pro" pitchFamily="34" charset="-122"/>
                <a:cs typeface="Source Serif Pro" pitchFamily="34" charset="-120"/>
              </a:rPr>
              <a:t>Momentum and Value strategies have a negative correlation, acting as hedges. Simulations indicate a 30% chance of simultaneously observing the best and worst Sharpe ratios.</a:t>
            </a:r>
            <a:endParaRPr lang="en-US" sz="1550" dirty="0"/>
          </a:p>
        </p:txBody>
      </p:sp>
      <p:sp>
        <p:nvSpPr>
          <p:cNvPr id="10" name="직사각형 9">
            <a:extLst>
              <a:ext uri="{FF2B5EF4-FFF2-40B4-BE49-F238E27FC236}">
                <a16:creationId xmlns:a16="http://schemas.microsoft.com/office/drawing/2014/main" id="{5E613E5D-DEC8-5D54-F628-A598FE35E34D}"/>
              </a:ext>
            </a:extLst>
          </p:cNvPr>
          <p:cNvSpPr/>
          <p:nvPr/>
        </p:nvSpPr>
        <p:spPr>
          <a:xfrm>
            <a:off x="12849225" y="7790974"/>
            <a:ext cx="1781175" cy="51482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altLang="ko-KR" dirty="0">
                <a:solidFill>
                  <a:schemeClr val="tx1"/>
                </a:solidFill>
                <a:latin typeface="Platypi Medium" panose="020B0600000101010101" charset="0"/>
                <a:cs typeface="Platypi Medium" panose="020B0600000101010101" charset="0"/>
              </a:rPr>
              <a:t>KFAC</a:t>
            </a:r>
            <a:endParaRPr lang="ko-KR" altLang="en-US" dirty="0">
              <a:solidFill>
                <a:schemeClr val="tx1"/>
              </a:solidFill>
              <a:latin typeface="Platypi Medium" panose="020B0600000101010101" charset="0"/>
              <a:cs typeface="Platypi Medium" panose="020B0600000101010101" charset="0"/>
            </a:endParaRPr>
          </a:p>
        </p:txBody>
      </p:sp>
      <p:pic>
        <p:nvPicPr>
          <p:cNvPr id="3074" name="Picture 2">
            <a:extLst>
              <a:ext uri="{FF2B5EF4-FFF2-40B4-BE49-F238E27FC236}">
                <a16:creationId xmlns:a16="http://schemas.microsoft.com/office/drawing/2014/main" id="{8E045300-8F6A-BC02-9073-94A0538FF7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989" y="2724150"/>
            <a:ext cx="6172200" cy="43434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2578060"/>
            <a:ext cx="12112704" cy="620078"/>
          </a:xfrm>
          <a:prstGeom prst="rect">
            <a:avLst/>
          </a:prstGeom>
          <a:noFill/>
          <a:ln/>
        </p:spPr>
        <p:txBody>
          <a:bodyPr wrap="none" lIns="0" tIns="0" rIns="0" bIns="0" rtlCol="0" anchor="t"/>
          <a:lstStyle/>
          <a:p>
            <a:pPr marL="0" indent="0" algn="l">
              <a:lnSpc>
                <a:spcPts val="4850"/>
              </a:lnSpc>
              <a:buNone/>
            </a:pPr>
            <a:r>
              <a:rPr lang="en-US" sz="3900" dirty="0">
                <a:solidFill>
                  <a:srgbClr val="201B18"/>
                </a:solidFill>
                <a:latin typeface="Platypi Medium" pitchFamily="34" charset="0"/>
                <a:ea typeface="Platypi Medium" pitchFamily="34" charset="-122"/>
                <a:cs typeface="Platypi Medium" pitchFamily="34" charset="-120"/>
              </a:rPr>
              <a:t>Ex Post Optimal Portfolios &amp; Correlation Analysis</a:t>
            </a:r>
            <a:endParaRPr lang="en-US" sz="3900" dirty="0"/>
          </a:p>
        </p:txBody>
      </p:sp>
      <p:sp>
        <p:nvSpPr>
          <p:cNvPr id="3" name="Text 1"/>
          <p:cNvSpPr/>
          <p:nvPr/>
        </p:nvSpPr>
        <p:spPr>
          <a:xfrm>
            <a:off x="793790" y="3694152"/>
            <a:ext cx="3254097" cy="310158"/>
          </a:xfrm>
          <a:prstGeom prst="rect">
            <a:avLst/>
          </a:prstGeom>
          <a:noFill/>
          <a:ln/>
        </p:spPr>
        <p:txBody>
          <a:bodyPr wrap="none" lIns="0" tIns="0" rIns="0" bIns="0" rtlCol="0" anchor="t"/>
          <a:lstStyle/>
          <a:p>
            <a:pPr marL="0" indent="0" algn="l">
              <a:lnSpc>
                <a:spcPts val="2400"/>
              </a:lnSpc>
              <a:buNone/>
            </a:pPr>
            <a:r>
              <a:rPr lang="en-US" sz="1950" dirty="0">
                <a:solidFill>
                  <a:srgbClr val="201B18"/>
                </a:solidFill>
                <a:latin typeface="Platypi Medium" pitchFamily="34" charset="0"/>
                <a:ea typeface="Platypi Medium" pitchFamily="34" charset="-122"/>
                <a:cs typeface="Platypi Medium" pitchFamily="34" charset="-120"/>
              </a:rPr>
              <a:t>Optimal Portfolio in Japan</a:t>
            </a:r>
            <a:endParaRPr lang="en-US" sz="1950" dirty="0"/>
          </a:p>
        </p:txBody>
      </p:sp>
      <p:sp>
        <p:nvSpPr>
          <p:cNvPr id="4" name="Text 2"/>
          <p:cNvSpPr/>
          <p:nvPr/>
        </p:nvSpPr>
        <p:spPr>
          <a:xfrm>
            <a:off x="793790" y="4202668"/>
            <a:ext cx="6279356" cy="1270159"/>
          </a:xfrm>
          <a:prstGeom prst="rect">
            <a:avLst/>
          </a:prstGeom>
          <a:noFill/>
          <a:ln/>
        </p:spPr>
        <p:txBody>
          <a:bodyPr wrap="square" lIns="0" tIns="0" rIns="0" bIns="0" rtlCol="0" anchor="t"/>
          <a:lstStyle/>
          <a:p>
            <a:pPr marL="0" indent="0" algn="l">
              <a:lnSpc>
                <a:spcPts val="2500"/>
              </a:lnSpc>
              <a:buNone/>
            </a:pPr>
            <a:r>
              <a:rPr lang="en-US" sz="1550" dirty="0">
                <a:solidFill>
                  <a:srgbClr val="504C49"/>
                </a:solidFill>
                <a:latin typeface="Source Serif Pro" pitchFamily="34" charset="0"/>
                <a:ea typeface="Source Serif Pro" pitchFamily="34" charset="-122"/>
                <a:cs typeface="Source Serif Pro" pitchFamily="34" charset="-120"/>
              </a:rPr>
              <a:t>An in-sample exercise over 29.5 years revealed that a 70% Value and 30% Momentum allocation maximized Sharpe in Japan, yielding 0.88, surpassing the pure Value portfolio's 0.71. This refutes the notion that Momentum is a failed strategy.</a:t>
            </a:r>
            <a:endParaRPr lang="en-US" sz="1550" dirty="0"/>
          </a:p>
        </p:txBody>
      </p:sp>
      <p:sp>
        <p:nvSpPr>
          <p:cNvPr id="5" name="Text 3"/>
          <p:cNvSpPr/>
          <p:nvPr/>
        </p:nvSpPr>
        <p:spPr>
          <a:xfrm>
            <a:off x="7564874" y="3694152"/>
            <a:ext cx="2866787" cy="310158"/>
          </a:xfrm>
          <a:prstGeom prst="rect">
            <a:avLst/>
          </a:prstGeom>
          <a:noFill/>
          <a:ln/>
        </p:spPr>
        <p:txBody>
          <a:bodyPr wrap="none" lIns="0" tIns="0" rIns="0" bIns="0" rtlCol="0" anchor="t"/>
          <a:lstStyle/>
          <a:p>
            <a:pPr marL="0" indent="0" algn="l">
              <a:lnSpc>
                <a:spcPts val="2400"/>
              </a:lnSpc>
              <a:buNone/>
            </a:pPr>
            <a:r>
              <a:rPr lang="en-US" sz="1950" dirty="0">
                <a:solidFill>
                  <a:srgbClr val="201B18"/>
                </a:solidFill>
                <a:latin typeface="Platypi Medium" pitchFamily="34" charset="0"/>
                <a:ea typeface="Platypi Medium" pitchFamily="34" charset="-122"/>
                <a:cs typeface="Platypi Medium" pitchFamily="34" charset="-120"/>
              </a:rPr>
              <a:t>Annual Return Analysis</a:t>
            </a:r>
            <a:endParaRPr lang="en-US" sz="1950" dirty="0"/>
          </a:p>
        </p:txBody>
      </p:sp>
      <p:sp>
        <p:nvSpPr>
          <p:cNvPr id="6" name="Text 4"/>
          <p:cNvSpPr/>
          <p:nvPr/>
        </p:nvSpPr>
        <p:spPr>
          <a:xfrm>
            <a:off x="7564874" y="4202668"/>
            <a:ext cx="6279356" cy="952619"/>
          </a:xfrm>
          <a:prstGeom prst="rect">
            <a:avLst/>
          </a:prstGeom>
          <a:noFill/>
          <a:ln/>
        </p:spPr>
        <p:txBody>
          <a:bodyPr wrap="square" lIns="0" tIns="0" rIns="0" bIns="0" rtlCol="0" anchor="t"/>
          <a:lstStyle/>
          <a:p>
            <a:pPr marL="0" indent="0" algn="l">
              <a:lnSpc>
                <a:spcPts val="2500"/>
              </a:lnSpc>
              <a:buNone/>
            </a:pPr>
            <a:r>
              <a:rPr lang="en-US" sz="1550" dirty="0">
                <a:solidFill>
                  <a:srgbClr val="504C49"/>
                </a:solidFill>
                <a:latin typeface="Source Serif Pro" pitchFamily="34" charset="0"/>
                <a:ea typeface="Source Serif Pro" pitchFamily="34" charset="-122"/>
                <a:cs typeface="Source Serif Pro" pitchFamily="34" charset="-120"/>
              </a:rPr>
              <a:t>The 50/50 portfolio's worst annual return was -13%, significantly better than Value (-61%) or Momentum (-49%) alone. This highlights the diversification effect from their -0.55 negative correlation.</a:t>
            </a:r>
            <a:endParaRPr lang="en-US" sz="1550" dirty="0"/>
          </a:p>
        </p:txBody>
      </p:sp>
      <p:sp>
        <p:nvSpPr>
          <p:cNvPr id="7" name="직사각형 6">
            <a:extLst>
              <a:ext uri="{FF2B5EF4-FFF2-40B4-BE49-F238E27FC236}">
                <a16:creationId xmlns:a16="http://schemas.microsoft.com/office/drawing/2014/main" id="{C4D7E8E1-4CD9-F855-EA9B-7E6BABF02815}"/>
              </a:ext>
            </a:extLst>
          </p:cNvPr>
          <p:cNvSpPr/>
          <p:nvPr/>
        </p:nvSpPr>
        <p:spPr>
          <a:xfrm>
            <a:off x="12849225" y="7790974"/>
            <a:ext cx="1781175" cy="51482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altLang="ko-KR" dirty="0">
                <a:solidFill>
                  <a:schemeClr val="tx1"/>
                </a:solidFill>
                <a:latin typeface="Platypi Medium" panose="020B0600000101010101" charset="0"/>
                <a:cs typeface="Platypi Medium" panose="020B0600000101010101" charset="0"/>
              </a:rPr>
              <a:t>KFAC</a:t>
            </a:r>
            <a:endParaRPr lang="ko-KR" altLang="en-US" dirty="0">
              <a:solidFill>
                <a:schemeClr val="tx1"/>
              </a:solidFill>
              <a:latin typeface="Platypi Medium" panose="020B0600000101010101" charset="0"/>
              <a:cs typeface="Platypi Medium" panose="020B0600000101010101"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2419350"/>
            <a:ext cx="10499765" cy="620078"/>
          </a:xfrm>
          <a:prstGeom prst="rect">
            <a:avLst/>
          </a:prstGeom>
          <a:noFill/>
          <a:ln/>
        </p:spPr>
        <p:txBody>
          <a:bodyPr wrap="none" lIns="0" tIns="0" rIns="0" bIns="0" rtlCol="0" anchor="t"/>
          <a:lstStyle/>
          <a:p>
            <a:pPr marL="0" indent="0" algn="l">
              <a:lnSpc>
                <a:spcPts val="4850"/>
              </a:lnSpc>
              <a:buNone/>
            </a:pPr>
            <a:r>
              <a:rPr lang="en-US" sz="3900" dirty="0">
                <a:solidFill>
                  <a:srgbClr val="201B18"/>
                </a:solidFill>
                <a:latin typeface="Platypi Medium" pitchFamily="34" charset="0"/>
                <a:ea typeface="Platypi Medium" pitchFamily="34" charset="-122"/>
                <a:cs typeface="Platypi Medium" pitchFamily="34" charset="-120"/>
              </a:rPr>
              <a:t>EMH vs. AMH: Explaining Factor Premiums</a:t>
            </a:r>
            <a:endParaRPr lang="en-US" sz="3900" dirty="0"/>
          </a:p>
        </p:txBody>
      </p:sp>
      <p:sp>
        <p:nvSpPr>
          <p:cNvPr id="3" name="Text 1"/>
          <p:cNvSpPr/>
          <p:nvPr/>
        </p:nvSpPr>
        <p:spPr>
          <a:xfrm>
            <a:off x="793790" y="3535442"/>
            <a:ext cx="4254579" cy="310158"/>
          </a:xfrm>
          <a:prstGeom prst="rect">
            <a:avLst/>
          </a:prstGeom>
          <a:noFill/>
          <a:ln/>
        </p:spPr>
        <p:txBody>
          <a:bodyPr wrap="none" lIns="0" tIns="0" rIns="0" bIns="0" rtlCol="0" anchor="t"/>
          <a:lstStyle/>
          <a:p>
            <a:pPr marL="0" indent="0" algn="l">
              <a:lnSpc>
                <a:spcPts val="2400"/>
              </a:lnSpc>
              <a:buNone/>
            </a:pPr>
            <a:r>
              <a:rPr lang="en-US" sz="1950" dirty="0">
                <a:solidFill>
                  <a:srgbClr val="201B18"/>
                </a:solidFill>
                <a:latin typeface="Platypi Medium" pitchFamily="34" charset="0"/>
                <a:ea typeface="Platypi Medium" pitchFamily="34" charset="-122"/>
                <a:cs typeface="Platypi Medium" pitchFamily="34" charset="-120"/>
              </a:rPr>
              <a:t>Efficient Market Hypothesis (EMH)</a:t>
            </a:r>
            <a:endParaRPr lang="en-US" sz="1950" dirty="0"/>
          </a:p>
        </p:txBody>
      </p:sp>
      <p:sp>
        <p:nvSpPr>
          <p:cNvPr id="4" name="Text 2"/>
          <p:cNvSpPr/>
          <p:nvPr/>
        </p:nvSpPr>
        <p:spPr>
          <a:xfrm>
            <a:off x="793790" y="4043958"/>
            <a:ext cx="6279356" cy="1587698"/>
          </a:xfrm>
          <a:prstGeom prst="rect">
            <a:avLst/>
          </a:prstGeom>
          <a:noFill/>
          <a:ln/>
        </p:spPr>
        <p:txBody>
          <a:bodyPr wrap="square" lIns="0" tIns="0" rIns="0" bIns="0" rtlCol="0" anchor="t"/>
          <a:lstStyle/>
          <a:p>
            <a:pPr marL="0" indent="0" algn="l">
              <a:lnSpc>
                <a:spcPts val="2500"/>
              </a:lnSpc>
              <a:buNone/>
            </a:pPr>
            <a:r>
              <a:rPr lang="en-US" sz="1550" dirty="0">
                <a:solidFill>
                  <a:srgbClr val="504C49"/>
                </a:solidFill>
                <a:latin typeface="Source Serif Pro" pitchFamily="34" charset="0"/>
                <a:ea typeface="Source Serif Pro" pitchFamily="34" charset="-122"/>
                <a:cs typeface="Source Serif Pro" pitchFamily="34" charset="-120"/>
              </a:rPr>
              <a:t>EMH assumes asset prices fully reflect all available information. Value and Momentum's significant alpha challenges Semi-Strong Efficiency. Fama-French attributes these premiums to systematic, undiversifiable risk, though debate continues on whether they are risk-based or inefficiency-based.</a:t>
            </a:r>
            <a:endParaRPr lang="en-US" sz="1550" dirty="0"/>
          </a:p>
        </p:txBody>
      </p:sp>
      <p:sp>
        <p:nvSpPr>
          <p:cNvPr id="5" name="Text 3"/>
          <p:cNvSpPr/>
          <p:nvPr/>
        </p:nvSpPr>
        <p:spPr>
          <a:xfrm>
            <a:off x="7564874" y="3535442"/>
            <a:ext cx="4317087" cy="310158"/>
          </a:xfrm>
          <a:prstGeom prst="rect">
            <a:avLst/>
          </a:prstGeom>
          <a:noFill/>
          <a:ln/>
        </p:spPr>
        <p:txBody>
          <a:bodyPr wrap="none" lIns="0" tIns="0" rIns="0" bIns="0" rtlCol="0" anchor="t"/>
          <a:lstStyle/>
          <a:p>
            <a:pPr marL="0" indent="0" algn="l">
              <a:lnSpc>
                <a:spcPts val="2400"/>
              </a:lnSpc>
              <a:buNone/>
            </a:pPr>
            <a:r>
              <a:rPr lang="en-US" sz="1950" dirty="0">
                <a:solidFill>
                  <a:srgbClr val="201B18"/>
                </a:solidFill>
                <a:latin typeface="Platypi Medium" pitchFamily="34" charset="0"/>
                <a:ea typeface="Platypi Medium" pitchFamily="34" charset="-122"/>
                <a:cs typeface="Platypi Medium" pitchFamily="34" charset="-120"/>
              </a:rPr>
              <a:t>Adaptive Market Hypothesis (AMH)</a:t>
            </a:r>
            <a:endParaRPr lang="en-US" sz="1950" dirty="0"/>
          </a:p>
        </p:txBody>
      </p:sp>
      <p:sp>
        <p:nvSpPr>
          <p:cNvPr id="6" name="Text 4"/>
          <p:cNvSpPr/>
          <p:nvPr/>
        </p:nvSpPr>
        <p:spPr>
          <a:xfrm>
            <a:off x="7564874" y="4043958"/>
            <a:ext cx="6279356" cy="1587698"/>
          </a:xfrm>
          <a:prstGeom prst="rect">
            <a:avLst/>
          </a:prstGeom>
          <a:noFill/>
          <a:ln/>
        </p:spPr>
        <p:txBody>
          <a:bodyPr wrap="square" lIns="0" tIns="0" rIns="0" bIns="0" rtlCol="0" anchor="t"/>
          <a:lstStyle/>
          <a:p>
            <a:pPr marL="0" indent="0" algn="l">
              <a:lnSpc>
                <a:spcPts val="2500"/>
              </a:lnSpc>
              <a:buNone/>
            </a:pPr>
            <a:r>
              <a:rPr lang="en-US" sz="1550" dirty="0">
                <a:solidFill>
                  <a:srgbClr val="504C49"/>
                </a:solidFill>
                <a:latin typeface="Source Serif Pro" pitchFamily="34" charset="0"/>
                <a:ea typeface="Source Serif Pro" pitchFamily="34" charset="-122"/>
                <a:cs typeface="Source Serif Pro" pitchFamily="34" charset="-120"/>
              </a:rPr>
              <a:t>AMH integrates EMH and behavioral finance, viewing market efficiency as dynamic. It posits bounded rationality and survival as goals for market participants. This explains Japan's strong Value factor and weak Momentum factor post-bubble, as Value adapted to the market's mean reversion.</a:t>
            </a:r>
            <a:endParaRPr lang="en-US" sz="1550" dirty="0"/>
          </a:p>
        </p:txBody>
      </p:sp>
      <p:sp>
        <p:nvSpPr>
          <p:cNvPr id="7" name="직사각형 6">
            <a:extLst>
              <a:ext uri="{FF2B5EF4-FFF2-40B4-BE49-F238E27FC236}">
                <a16:creationId xmlns:a16="http://schemas.microsoft.com/office/drawing/2014/main" id="{C167D6DA-2546-0910-CCBC-00118B754903}"/>
              </a:ext>
            </a:extLst>
          </p:cNvPr>
          <p:cNvSpPr/>
          <p:nvPr/>
        </p:nvSpPr>
        <p:spPr>
          <a:xfrm>
            <a:off x="12849225" y="7790974"/>
            <a:ext cx="1781175" cy="51482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altLang="ko-KR" dirty="0">
                <a:solidFill>
                  <a:schemeClr val="tx1"/>
                </a:solidFill>
                <a:latin typeface="Platypi Medium" panose="020B0600000101010101" charset="0"/>
                <a:cs typeface="Platypi Medium" panose="020B0600000101010101" charset="0"/>
              </a:rPr>
              <a:t>KFAC</a:t>
            </a:r>
            <a:endParaRPr lang="ko-KR" altLang="en-US" dirty="0">
              <a:solidFill>
                <a:schemeClr val="tx1"/>
              </a:solidFill>
              <a:latin typeface="Platypi Medium" panose="020B0600000101010101" charset="0"/>
              <a:cs typeface="Platypi Medium" panose="020B0600000101010101"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p:nvPr/>
        </p:nvSpPr>
        <p:spPr>
          <a:xfrm>
            <a:off x="704850" y="1408986"/>
            <a:ext cx="13131761" cy="1240155"/>
          </a:xfrm>
          <a:prstGeom prst="rect">
            <a:avLst/>
          </a:prstGeom>
          <a:noFill/>
          <a:ln/>
        </p:spPr>
        <p:txBody>
          <a:bodyPr wrap="square" lIns="0" tIns="0" rIns="0" bIns="0" rtlCol="0" anchor="t"/>
          <a:lstStyle/>
          <a:p>
            <a:pPr marL="0" indent="0" algn="l">
              <a:lnSpc>
                <a:spcPts val="4850"/>
              </a:lnSpc>
              <a:buNone/>
            </a:pPr>
            <a:r>
              <a:rPr lang="en-US" sz="3900" dirty="0">
                <a:solidFill>
                  <a:srgbClr val="201B18"/>
                </a:solidFill>
                <a:latin typeface="Platypi Medium" pitchFamily="34" charset="0"/>
                <a:ea typeface="Platypi Medium" pitchFamily="34" charset="-122"/>
                <a:cs typeface="Platypi Medium" pitchFamily="34" charset="-120"/>
              </a:rPr>
              <a:t>Considerations for Alpha Research Beyond USA</a:t>
            </a:r>
            <a:endParaRPr lang="en-US" sz="3900" dirty="0"/>
          </a:p>
        </p:txBody>
      </p:sp>
      <p:sp>
        <p:nvSpPr>
          <p:cNvPr id="4" name="Shape 1"/>
          <p:cNvSpPr/>
          <p:nvPr/>
        </p:nvSpPr>
        <p:spPr>
          <a:xfrm>
            <a:off x="704850" y="2668965"/>
            <a:ext cx="446484" cy="446484"/>
          </a:xfrm>
          <a:prstGeom prst="roundRect">
            <a:avLst>
              <a:gd name="adj" fmla="val 6668"/>
            </a:avLst>
          </a:prstGeom>
          <a:solidFill>
            <a:srgbClr val="F9F7F7"/>
          </a:solidFill>
          <a:ln/>
        </p:spPr>
        <p:txBody>
          <a:bodyPr/>
          <a:lstStyle/>
          <a:p>
            <a:endParaRPr lang="ko-KR" altLang="en-US"/>
          </a:p>
        </p:txBody>
      </p:sp>
      <p:sp>
        <p:nvSpPr>
          <p:cNvPr id="5" name="Text 2"/>
          <p:cNvSpPr/>
          <p:nvPr/>
        </p:nvSpPr>
        <p:spPr>
          <a:xfrm>
            <a:off x="1349692" y="2737188"/>
            <a:ext cx="3879413" cy="310158"/>
          </a:xfrm>
          <a:prstGeom prst="rect">
            <a:avLst/>
          </a:prstGeom>
          <a:noFill/>
          <a:ln/>
        </p:spPr>
        <p:txBody>
          <a:bodyPr wrap="none" lIns="0" tIns="0" rIns="0" bIns="0" rtlCol="0" anchor="t"/>
          <a:lstStyle/>
          <a:p>
            <a:pPr marL="0" indent="0" algn="l">
              <a:lnSpc>
                <a:spcPts val="2400"/>
              </a:lnSpc>
              <a:buNone/>
            </a:pPr>
            <a:r>
              <a:rPr lang="en-US" sz="1950" dirty="0">
                <a:solidFill>
                  <a:srgbClr val="504C49"/>
                </a:solidFill>
                <a:latin typeface="Platypi Medium" pitchFamily="34" charset="0"/>
                <a:ea typeface="Platypi Medium" pitchFamily="34" charset="-122"/>
                <a:cs typeface="Platypi Medium" pitchFamily="34" charset="-120"/>
              </a:rPr>
              <a:t>Factor Models are Not Universal</a:t>
            </a:r>
            <a:endParaRPr lang="en-US" sz="1950" dirty="0"/>
          </a:p>
        </p:txBody>
      </p:sp>
      <p:sp>
        <p:nvSpPr>
          <p:cNvPr id="6" name="Text 3"/>
          <p:cNvSpPr/>
          <p:nvPr/>
        </p:nvSpPr>
        <p:spPr>
          <a:xfrm>
            <a:off x="1349692" y="3166408"/>
            <a:ext cx="6911578" cy="317540"/>
          </a:xfrm>
          <a:prstGeom prst="rect">
            <a:avLst/>
          </a:prstGeom>
          <a:noFill/>
          <a:ln/>
        </p:spPr>
        <p:txBody>
          <a:bodyPr wrap="none" lIns="0" tIns="0" rIns="0" bIns="0" rtlCol="0" anchor="t"/>
          <a:lstStyle/>
          <a:p>
            <a:pPr marL="0" indent="0" algn="l">
              <a:lnSpc>
                <a:spcPts val="2500"/>
              </a:lnSpc>
              <a:buNone/>
            </a:pPr>
            <a:r>
              <a:rPr lang="en-US" sz="1550" dirty="0">
                <a:solidFill>
                  <a:srgbClr val="504C49"/>
                </a:solidFill>
                <a:latin typeface="Source Serif Pro" pitchFamily="34" charset="0"/>
                <a:ea typeface="Source Serif Pro" pitchFamily="34" charset="-122"/>
                <a:cs typeface="Source Serif Pro" pitchFamily="34" charset="-120"/>
              </a:rPr>
              <a:t>The 5-factor model may not apply uniformly across all markets.</a:t>
            </a:r>
            <a:endParaRPr lang="en-US" sz="1550" dirty="0"/>
          </a:p>
        </p:txBody>
      </p:sp>
      <p:sp>
        <p:nvSpPr>
          <p:cNvPr id="7" name="Shape 4"/>
          <p:cNvSpPr/>
          <p:nvPr/>
        </p:nvSpPr>
        <p:spPr>
          <a:xfrm>
            <a:off x="704850" y="3880783"/>
            <a:ext cx="446484" cy="446484"/>
          </a:xfrm>
          <a:prstGeom prst="roundRect">
            <a:avLst>
              <a:gd name="adj" fmla="val 6668"/>
            </a:avLst>
          </a:prstGeom>
          <a:solidFill>
            <a:srgbClr val="F9F7F7"/>
          </a:solidFill>
          <a:ln/>
        </p:spPr>
        <p:txBody>
          <a:bodyPr/>
          <a:lstStyle/>
          <a:p>
            <a:endParaRPr lang="ko-KR" altLang="en-US"/>
          </a:p>
        </p:txBody>
      </p:sp>
      <p:sp>
        <p:nvSpPr>
          <p:cNvPr id="8" name="Text 5"/>
          <p:cNvSpPr/>
          <p:nvPr/>
        </p:nvSpPr>
        <p:spPr>
          <a:xfrm>
            <a:off x="1349692" y="3949006"/>
            <a:ext cx="2865715" cy="310158"/>
          </a:xfrm>
          <a:prstGeom prst="rect">
            <a:avLst/>
          </a:prstGeom>
          <a:noFill/>
          <a:ln/>
        </p:spPr>
        <p:txBody>
          <a:bodyPr wrap="none" lIns="0" tIns="0" rIns="0" bIns="0" rtlCol="0" anchor="t"/>
          <a:lstStyle/>
          <a:p>
            <a:pPr marL="0" indent="0" algn="l">
              <a:lnSpc>
                <a:spcPts val="2400"/>
              </a:lnSpc>
              <a:buNone/>
            </a:pPr>
            <a:r>
              <a:rPr lang="en-US" sz="1950" dirty="0">
                <a:solidFill>
                  <a:srgbClr val="504C49"/>
                </a:solidFill>
                <a:latin typeface="Platypi Medium" pitchFamily="34" charset="0"/>
                <a:ea typeface="Platypi Medium" pitchFamily="34" charset="-122"/>
                <a:cs typeface="Platypi Medium" pitchFamily="34" charset="-120"/>
              </a:rPr>
              <a:t>Dynamic Factor Timing</a:t>
            </a:r>
            <a:endParaRPr lang="en-US" sz="1950" dirty="0"/>
          </a:p>
        </p:txBody>
      </p:sp>
      <p:sp>
        <p:nvSpPr>
          <p:cNvPr id="9" name="Text 6"/>
          <p:cNvSpPr/>
          <p:nvPr/>
        </p:nvSpPr>
        <p:spPr>
          <a:xfrm>
            <a:off x="1349691" y="4378226"/>
            <a:ext cx="12813983" cy="635079"/>
          </a:xfrm>
          <a:prstGeom prst="rect">
            <a:avLst/>
          </a:prstGeom>
          <a:noFill/>
          <a:ln/>
        </p:spPr>
        <p:txBody>
          <a:bodyPr wrap="square" lIns="0" tIns="0" rIns="0" bIns="0" rtlCol="0" anchor="t"/>
          <a:lstStyle/>
          <a:p>
            <a:pPr marL="0" indent="0" algn="l">
              <a:lnSpc>
                <a:spcPts val="2500"/>
              </a:lnSpc>
              <a:buNone/>
            </a:pPr>
            <a:r>
              <a:rPr lang="en-US" sz="1550" dirty="0">
                <a:solidFill>
                  <a:srgbClr val="504C49"/>
                </a:solidFill>
                <a:latin typeface="Source Serif Pro" pitchFamily="34" charset="0"/>
                <a:ea typeface="Source Serif Pro" pitchFamily="34" charset="-122"/>
                <a:cs typeface="Source Serif Pro" pitchFamily="34" charset="-120"/>
              </a:rPr>
              <a:t>Given factor performance cyclicity, static allocations are suboptimal. Dynamic factor timing, adjusting exposure based on expected performance, is crucial.</a:t>
            </a:r>
            <a:endParaRPr lang="en-US" sz="1550" dirty="0"/>
          </a:p>
        </p:txBody>
      </p:sp>
      <p:sp>
        <p:nvSpPr>
          <p:cNvPr id="10" name="Shape 7"/>
          <p:cNvSpPr/>
          <p:nvPr/>
        </p:nvSpPr>
        <p:spPr>
          <a:xfrm>
            <a:off x="704850" y="5410141"/>
            <a:ext cx="446484" cy="446484"/>
          </a:xfrm>
          <a:prstGeom prst="roundRect">
            <a:avLst>
              <a:gd name="adj" fmla="val 6668"/>
            </a:avLst>
          </a:prstGeom>
          <a:solidFill>
            <a:srgbClr val="F9F7F7"/>
          </a:solidFill>
          <a:ln/>
        </p:spPr>
        <p:txBody>
          <a:bodyPr/>
          <a:lstStyle/>
          <a:p>
            <a:endParaRPr lang="ko-KR" altLang="en-US"/>
          </a:p>
        </p:txBody>
      </p:sp>
      <p:sp>
        <p:nvSpPr>
          <p:cNvPr id="11" name="Text 8"/>
          <p:cNvSpPr/>
          <p:nvPr/>
        </p:nvSpPr>
        <p:spPr>
          <a:xfrm>
            <a:off x="1349692" y="5478364"/>
            <a:ext cx="2701290" cy="310158"/>
          </a:xfrm>
          <a:prstGeom prst="rect">
            <a:avLst/>
          </a:prstGeom>
          <a:noFill/>
          <a:ln/>
        </p:spPr>
        <p:txBody>
          <a:bodyPr wrap="none" lIns="0" tIns="0" rIns="0" bIns="0" rtlCol="0" anchor="t"/>
          <a:lstStyle/>
          <a:p>
            <a:pPr marL="0" indent="0" algn="l">
              <a:lnSpc>
                <a:spcPts val="2400"/>
              </a:lnSpc>
              <a:buNone/>
            </a:pPr>
            <a:r>
              <a:rPr lang="en-US" sz="1950" dirty="0">
                <a:solidFill>
                  <a:srgbClr val="504C49"/>
                </a:solidFill>
                <a:latin typeface="Platypi Medium" pitchFamily="34" charset="0"/>
                <a:ea typeface="Platypi Medium" pitchFamily="34" charset="-122"/>
                <a:cs typeface="Platypi Medium" pitchFamily="34" charset="-120"/>
              </a:rPr>
              <a:t>Factor Timing Criteria</a:t>
            </a:r>
            <a:endParaRPr lang="en-US" sz="1950" dirty="0"/>
          </a:p>
        </p:txBody>
      </p:sp>
      <p:sp>
        <p:nvSpPr>
          <p:cNvPr id="12" name="Text 9"/>
          <p:cNvSpPr/>
          <p:nvPr/>
        </p:nvSpPr>
        <p:spPr>
          <a:xfrm>
            <a:off x="1349692" y="5907584"/>
            <a:ext cx="10347008" cy="635079"/>
          </a:xfrm>
          <a:prstGeom prst="rect">
            <a:avLst/>
          </a:prstGeom>
          <a:noFill/>
          <a:ln/>
        </p:spPr>
        <p:txBody>
          <a:bodyPr wrap="square" lIns="0" tIns="0" rIns="0" bIns="0" rtlCol="0" anchor="t"/>
          <a:lstStyle/>
          <a:p>
            <a:pPr marL="0" indent="0" algn="l">
              <a:lnSpc>
                <a:spcPts val="2500"/>
              </a:lnSpc>
              <a:buNone/>
            </a:pPr>
            <a:r>
              <a:rPr lang="en-US" sz="1550" dirty="0">
                <a:solidFill>
                  <a:srgbClr val="504C49"/>
                </a:solidFill>
                <a:latin typeface="Source Serif Pro" pitchFamily="34" charset="0"/>
                <a:ea typeface="Source Serif Pro" pitchFamily="34" charset="-122"/>
                <a:cs typeface="Source Serif Pro" pitchFamily="34" charset="-120"/>
              </a:rPr>
              <a:t>Factor timing can be based on Macroeconomic Regimes, Factor Momentum, and Factor Valuation.</a:t>
            </a:r>
            <a:endParaRPr lang="en-US" sz="1550" dirty="0"/>
          </a:p>
        </p:txBody>
      </p:sp>
      <p:sp>
        <p:nvSpPr>
          <p:cNvPr id="13" name="직사각형 12">
            <a:extLst>
              <a:ext uri="{FF2B5EF4-FFF2-40B4-BE49-F238E27FC236}">
                <a16:creationId xmlns:a16="http://schemas.microsoft.com/office/drawing/2014/main" id="{2C56EAA8-D486-277F-1751-EF6A93115D8E}"/>
              </a:ext>
            </a:extLst>
          </p:cNvPr>
          <p:cNvSpPr/>
          <p:nvPr/>
        </p:nvSpPr>
        <p:spPr>
          <a:xfrm>
            <a:off x="12849225" y="7790974"/>
            <a:ext cx="1781175" cy="51482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altLang="ko-KR" dirty="0">
                <a:solidFill>
                  <a:schemeClr val="tx1"/>
                </a:solidFill>
                <a:latin typeface="Platypi Medium" panose="020B0600000101010101" charset="0"/>
                <a:cs typeface="Platypi Medium" panose="020B0600000101010101" charset="0"/>
              </a:rPr>
              <a:t>KFAC</a:t>
            </a:r>
            <a:endParaRPr lang="ko-KR" altLang="en-US" dirty="0">
              <a:solidFill>
                <a:schemeClr val="tx1"/>
              </a:solidFill>
              <a:latin typeface="Platypi Medium" panose="020B0600000101010101" charset="0"/>
              <a:cs typeface="Platypi Medium" panose="020B0600000101010101"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2D1754-AC07-3669-9A68-C3F0FB4B01D7}"/>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990F3E8D-394D-F040-E552-EEA528CAFE74}"/>
              </a:ext>
            </a:extLst>
          </p:cNvPr>
          <p:cNvSpPr/>
          <p:nvPr/>
        </p:nvSpPr>
        <p:spPr>
          <a:xfrm>
            <a:off x="361950" y="729017"/>
            <a:ext cx="14001750" cy="1240155"/>
          </a:xfrm>
          <a:prstGeom prst="rect">
            <a:avLst/>
          </a:prstGeom>
          <a:noFill/>
          <a:ln/>
        </p:spPr>
        <p:txBody>
          <a:bodyPr wrap="square" lIns="0" tIns="0" rIns="0" bIns="0" rtlCol="0" anchor="t"/>
          <a:lstStyle/>
          <a:p>
            <a:pPr marL="0" indent="0" algn="l">
              <a:lnSpc>
                <a:spcPts val="4850"/>
              </a:lnSpc>
              <a:buNone/>
            </a:pPr>
            <a:r>
              <a:rPr lang="en-US" sz="3900" dirty="0">
                <a:solidFill>
                  <a:srgbClr val="201B18"/>
                </a:solidFill>
                <a:latin typeface="Platypi Medium" pitchFamily="34" charset="0"/>
                <a:ea typeface="Platypi Medium" pitchFamily="34" charset="-122"/>
                <a:cs typeface="Platypi Medium" pitchFamily="34" charset="-120"/>
              </a:rPr>
              <a:t>Exercise: Momentum and Value Strategy for KOR Region</a:t>
            </a:r>
            <a:br>
              <a:rPr lang="en-US" sz="3900" dirty="0">
                <a:solidFill>
                  <a:srgbClr val="201B18"/>
                </a:solidFill>
                <a:latin typeface="Platypi Medium" pitchFamily="34" charset="0"/>
                <a:ea typeface="Platypi Medium" pitchFamily="34" charset="-122"/>
                <a:cs typeface="Platypi Medium" pitchFamily="34" charset="-120"/>
              </a:rPr>
            </a:br>
            <a:r>
              <a:rPr lang="en-US" sz="3900" dirty="0">
                <a:solidFill>
                  <a:srgbClr val="201B18"/>
                </a:solidFill>
                <a:latin typeface="Platypi Medium" pitchFamily="34" charset="0"/>
                <a:ea typeface="Platypi Medium" pitchFamily="34" charset="-122"/>
                <a:cs typeface="Platypi Medium" pitchFamily="34" charset="-120"/>
              </a:rPr>
              <a:t>1. Data Observation</a:t>
            </a:r>
            <a:endParaRPr lang="en-US" sz="3900" dirty="0"/>
          </a:p>
        </p:txBody>
      </p:sp>
      <p:sp>
        <p:nvSpPr>
          <p:cNvPr id="13" name="직사각형 12">
            <a:extLst>
              <a:ext uri="{FF2B5EF4-FFF2-40B4-BE49-F238E27FC236}">
                <a16:creationId xmlns:a16="http://schemas.microsoft.com/office/drawing/2014/main" id="{6695EE68-9A9B-BAB8-D79E-A70B84A02B6D}"/>
              </a:ext>
            </a:extLst>
          </p:cNvPr>
          <p:cNvSpPr/>
          <p:nvPr/>
        </p:nvSpPr>
        <p:spPr>
          <a:xfrm>
            <a:off x="12849225" y="7790974"/>
            <a:ext cx="1781175" cy="51482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altLang="ko-KR" dirty="0">
                <a:solidFill>
                  <a:schemeClr val="tx1"/>
                </a:solidFill>
                <a:latin typeface="Platypi Medium" panose="020B0600000101010101" charset="0"/>
                <a:cs typeface="Platypi Medium" panose="020B0600000101010101" charset="0"/>
              </a:rPr>
              <a:t>KFAC</a:t>
            </a:r>
            <a:endParaRPr lang="ko-KR" altLang="en-US" dirty="0">
              <a:solidFill>
                <a:schemeClr val="tx1"/>
              </a:solidFill>
              <a:latin typeface="Platypi Medium" panose="020B0600000101010101" charset="0"/>
              <a:cs typeface="Platypi Medium" panose="020B0600000101010101" charset="0"/>
            </a:endParaRPr>
          </a:p>
        </p:txBody>
      </p:sp>
      <p:sp>
        <p:nvSpPr>
          <p:cNvPr id="8" name="Text 4">
            <a:extLst>
              <a:ext uri="{FF2B5EF4-FFF2-40B4-BE49-F238E27FC236}">
                <a16:creationId xmlns:a16="http://schemas.microsoft.com/office/drawing/2014/main" id="{8038C2A9-290F-BBA2-A478-77BF9435AA15}"/>
              </a:ext>
            </a:extLst>
          </p:cNvPr>
          <p:cNvSpPr/>
          <p:nvPr/>
        </p:nvSpPr>
        <p:spPr>
          <a:xfrm>
            <a:off x="6937415" y="2296840"/>
            <a:ext cx="6279356" cy="2554487"/>
          </a:xfrm>
          <a:prstGeom prst="rect">
            <a:avLst/>
          </a:prstGeom>
          <a:noFill/>
          <a:ln/>
        </p:spPr>
        <p:txBody>
          <a:bodyPr wrap="square" lIns="0" tIns="0" rIns="0" bIns="0" rtlCol="0" anchor="t"/>
          <a:lstStyle/>
          <a:p>
            <a:pPr marL="0" indent="0" algn="l">
              <a:lnSpc>
                <a:spcPts val="2500"/>
              </a:lnSpc>
              <a:buNone/>
            </a:pPr>
            <a:r>
              <a:rPr lang="en-US" sz="1550" dirty="0">
                <a:solidFill>
                  <a:srgbClr val="504C49"/>
                </a:solidFill>
                <a:latin typeface="Source Serif Pro" pitchFamily="34" charset="0"/>
                <a:ea typeface="Source Serif Pro" pitchFamily="34" charset="-122"/>
                <a:cs typeface="Source Serif Pro" pitchFamily="34" charset="-120"/>
              </a:rPr>
              <a:t>Correlation Coefficient: -0.7546</a:t>
            </a:r>
            <a:br>
              <a:rPr lang="en-US" sz="1550" dirty="0">
                <a:solidFill>
                  <a:srgbClr val="504C49"/>
                </a:solidFill>
                <a:latin typeface="Source Serif Pro" pitchFamily="34" charset="0"/>
                <a:ea typeface="Source Serif Pro" pitchFamily="34" charset="-122"/>
                <a:cs typeface="Source Serif Pro" pitchFamily="34" charset="-120"/>
              </a:rPr>
            </a:br>
            <a:br>
              <a:rPr lang="en-US" sz="1550" dirty="0">
                <a:solidFill>
                  <a:srgbClr val="504C49"/>
                </a:solidFill>
                <a:latin typeface="Source Serif Pro" pitchFamily="34" charset="0"/>
                <a:ea typeface="Source Serif Pro" pitchFamily="34" charset="-122"/>
                <a:cs typeface="Source Serif Pro" pitchFamily="34" charset="-120"/>
              </a:rPr>
            </a:br>
            <a:r>
              <a:rPr lang="en-US" sz="1550" dirty="0">
                <a:solidFill>
                  <a:srgbClr val="504C49"/>
                </a:solidFill>
                <a:latin typeface="Source Serif Pro" pitchFamily="34" charset="0"/>
                <a:ea typeface="Source Serif Pro" pitchFamily="34" charset="-122"/>
                <a:cs typeface="Source Serif Pro" pitchFamily="34" charset="-120"/>
              </a:rPr>
              <a:t>For the single strategy, Value portfolio is failed.</a:t>
            </a:r>
          </a:p>
          <a:p>
            <a:pPr marL="0" indent="0" algn="l">
              <a:lnSpc>
                <a:spcPts val="2500"/>
              </a:lnSpc>
              <a:buNone/>
            </a:pPr>
            <a:endParaRPr lang="en-US" sz="1550" dirty="0">
              <a:solidFill>
                <a:srgbClr val="504C49"/>
              </a:solidFill>
              <a:latin typeface="Source Serif Pro" pitchFamily="34" charset="0"/>
              <a:ea typeface="Source Serif Pro" pitchFamily="34" charset="-122"/>
              <a:cs typeface="Source Serif Pro" pitchFamily="34" charset="-120"/>
            </a:endParaRPr>
          </a:p>
          <a:p>
            <a:pPr marL="0" indent="0" algn="l">
              <a:lnSpc>
                <a:spcPts val="2500"/>
              </a:lnSpc>
              <a:buNone/>
            </a:pPr>
            <a:r>
              <a:rPr lang="en-US" sz="1550" dirty="0">
                <a:solidFill>
                  <a:srgbClr val="504C49"/>
                </a:solidFill>
                <a:latin typeface="Source Serif Pro" pitchFamily="34" charset="0"/>
                <a:ea typeface="Source Serif Pro" pitchFamily="34" charset="-122"/>
                <a:cs typeface="Source Serif Pro" pitchFamily="34" charset="-120"/>
              </a:rPr>
              <a:t>On the other hand, the momentum strategy worked very well.</a:t>
            </a:r>
          </a:p>
          <a:p>
            <a:pPr marL="0" indent="0" algn="l">
              <a:lnSpc>
                <a:spcPts val="2500"/>
              </a:lnSpc>
              <a:buNone/>
            </a:pPr>
            <a:endParaRPr lang="en-US" sz="1550" dirty="0">
              <a:solidFill>
                <a:srgbClr val="504C49"/>
              </a:solidFill>
              <a:latin typeface="Source Serif Pro" pitchFamily="34" charset="0"/>
              <a:ea typeface="Source Serif Pro" pitchFamily="34" charset="-122"/>
              <a:cs typeface="Source Serif Pro" pitchFamily="34" charset="-120"/>
            </a:endParaRPr>
          </a:p>
          <a:p>
            <a:pPr marL="0" indent="0" algn="l">
              <a:lnSpc>
                <a:spcPts val="2500"/>
              </a:lnSpc>
              <a:buNone/>
            </a:pPr>
            <a:r>
              <a:rPr lang="en-US" sz="1550" dirty="0">
                <a:solidFill>
                  <a:srgbClr val="504C49"/>
                </a:solidFill>
                <a:latin typeface="Source Serif Pro" pitchFamily="34" charset="0"/>
                <a:ea typeface="Source Serif Pro" pitchFamily="34" charset="-122"/>
                <a:cs typeface="Source Serif Pro" pitchFamily="34" charset="-120"/>
              </a:rPr>
              <a:t>High negative correlation between two strategies explains this result.</a:t>
            </a:r>
          </a:p>
        </p:txBody>
      </p:sp>
      <p:pic>
        <p:nvPicPr>
          <p:cNvPr id="4" name="그림 3">
            <a:extLst>
              <a:ext uri="{FF2B5EF4-FFF2-40B4-BE49-F238E27FC236}">
                <a16:creationId xmlns:a16="http://schemas.microsoft.com/office/drawing/2014/main" id="{3E2AFAD4-1756-7980-670B-E41C6DB0080A}"/>
              </a:ext>
            </a:extLst>
          </p:cNvPr>
          <p:cNvPicPr>
            <a:picLocks noChangeAspect="1"/>
          </p:cNvPicPr>
          <p:nvPr/>
        </p:nvPicPr>
        <p:blipFill>
          <a:blip r:embed="rId3"/>
          <a:stretch>
            <a:fillRect/>
          </a:stretch>
        </p:blipFill>
        <p:spPr>
          <a:xfrm>
            <a:off x="504825" y="2150989"/>
            <a:ext cx="5400675" cy="2700338"/>
          </a:xfrm>
          <a:prstGeom prst="rect">
            <a:avLst/>
          </a:prstGeom>
        </p:spPr>
      </p:pic>
      <p:pic>
        <p:nvPicPr>
          <p:cNvPr id="6" name="그림 5">
            <a:extLst>
              <a:ext uri="{FF2B5EF4-FFF2-40B4-BE49-F238E27FC236}">
                <a16:creationId xmlns:a16="http://schemas.microsoft.com/office/drawing/2014/main" id="{9B3A4EC8-FE40-357F-AC4F-44F08B05ADB9}"/>
              </a:ext>
            </a:extLst>
          </p:cNvPr>
          <p:cNvPicPr>
            <a:picLocks noChangeAspect="1"/>
          </p:cNvPicPr>
          <p:nvPr/>
        </p:nvPicPr>
        <p:blipFill>
          <a:blip r:embed="rId4"/>
          <a:stretch>
            <a:fillRect/>
          </a:stretch>
        </p:blipFill>
        <p:spPr>
          <a:xfrm>
            <a:off x="468875" y="4809241"/>
            <a:ext cx="5472574" cy="3420359"/>
          </a:xfrm>
          <a:prstGeom prst="rect">
            <a:avLst/>
          </a:prstGeom>
        </p:spPr>
      </p:pic>
    </p:spTree>
    <p:extLst>
      <p:ext uri="{BB962C8B-B14F-4D97-AF65-F5344CB8AC3E}">
        <p14:creationId xmlns:p14="http://schemas.microsoft.com/office/powerpoint/2010/main" val="5820335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740580-7DAE-1FD0-8DDC-095C459BA189}"/>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86A552E5-4324-213F-9BD0-8A68076B2208}"/>
              </a:ext>
            </a:extLst>
          </p:cNvPr>
          <p:cNvSpPr/>
          <p:nvPr/>
        </p:nvSpPr>
        <p:spPr>
          <a:xfrm>
            <a:off x="704850" y="1408986"/>
            <a:ext cx="13131761" cy="1240155"/>
          </a:xfrm>
          <a:prstGeom prst="rect">
            <a:avLst/>
          </a:prstGeom>
          <a:noFill/>
          <a:ln/>
        </p:spPr>
        <p:txBody>
          <a:bodyPr wrap="square" lIns="0" tIns="0" rIns="0" bIns="0" rtlCol="0" anchor="t"/>
          <a:lstStyle/>
          <a:p>
            <a:pPr marL="0" indent="0" algn="l">
              <a:lnSpc>
                <a:spcPts val="4850"/>
              </a:lnSpc>
              <a:buNone/>
            </a:pPr>
            <a:r>
              <a:rPr lang="en-US" sz="3900" dirty="0">
                <a:solidFill>
                  <a:srgbClr val="201B18"/>
                </a:solidFill>
                <a:latin typeface="Platypi Medium" pitchFamily="34" charset="0"/>
                <a:ea typeface="Platypi Medium" pitchFamily="34" charset="-122"/>
                <a:cs typeface="Platypi Medium" pitchFamily="34" charset="-120"/>
              </a:rPr>
              <a:t>Exercise: </a:t>
            </a:r>
          </a:p>
          <a:p>
            <a:pPr marL="0" indent="0" algn="l">
              <a:lnSpc>
                <a:spcPts val="4850"/>
              </a:lnSpc>
              <a:buNone/>
            </a:pPr>
            <a:r>
              <a:rPr lang="en-US" sz="3900" dirty="0">
                <a:solidFill>
                  <a:srgbClr val="201B18"/>
                </a:solidFill>
                <a:latin typeface="Platypi Medium" pitchFamily="34" charset="0"/>
                <a:ea typeface="Platypi Medium" pitchFamily="34" charset="-122"/>
                <a:cs typeface="Platypi Medium" pitchFamily="34" charset="-120"/>
              </a:rPr>
              <a:t>2. Modeling Based of AMH (TVP-VAR Model)</a:t>
            </a:r>
            <a:endParaRPr lang="en-US" sz="3900" dirty="0"/>
          </a:p>
        </p:txBody>
      </p:sp>
      <p:sp>
        <p:nvSpPr>
          <p:cNvPr id="13" name="직사각형 12">
            <a:extLst>
              <a:ext uri="{FF2B5EF4-FFF2-40B4-BE49-F238E27FC236}">
                <a16:creationId xmlns:a16="http://schemas.microsoft.com/office/drawing/2014/main" id="{52AE51E6-DB20-7BE5-7DA8-AA86D2116980}"/>
              </a:ext>
            </a:extLst>
          </p:cNvPr>
          <p:cNvSpPr/>
          <p:nvPr/>
        </p:nvSpPr>
        <p:spPr>
          <a:xfrm>
            <a:off x="12849225" y="7790974"/>
            <a:ext cx="1781175" cy="51482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altLang="ko-KR" dirty="0">
                <a:solidFill>
                  <a:schemeClr val="tx1"/>
                </a:solidFill>
                <a:latin typeface="Platypi Medium" panose="020B0600000101010101" charset="0"/>
                <a:cs typeface="Platypi Medium" panose="020B0600000101010101" charset="0"/>
              </a:rPr>
              <a:t>KFAC</a:t>
            </a:r>
            <a:endParaRPr lang="ko-KR" altLang="en-US" dirty="0">
              <a:solidFill>
                <a:schemeClr val="tx1"/>
              </a:solidFill>
              <a:latin typeface="Platypi Medium" panose="020B0600000101010101" charset="0"/>
              <a:cs typeface="Platypi Medium" panose="020B0600000101010101" charset="0"/>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DF6C728-4BB0-0046-BA41-AD224CC95033}"/>
                  </a:ext>
                </a:extLst>
              </p:cNvPr>
              <p:cNvSpPr txBox="1"/>
              <p:nvPr/>
            </p:nvSpPr>
            <p:spPr>
              <a:xfrm>
                <a:off x="5976937" y="3837801"/>
                <a:ext cx="2079800" cy="3847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ko-KR" sz="2500" b="0" i="1" smtClean="0">
                              <a:latin typeface="Cambria Math" panose="02040503050406030204" pitchFamily="18" charset="0"/>
                            </a:rPr>
                          </m:ctrlPr>
                        </m:sSubPr>
                        <m:e>
                          <m:r>
                            <a:rPr lang="en-US" altLang="ko-KR" sz="2500" b="0" i="1" smtClean="0">
                              <a:latin typeface="Cambria Math" panose="02040503050406030204" pitchFamily="18" charset="0"/>
                            </a:rPr>
                            <m:t>𝑦</m:t>
                          </m:r>
                        </m:e>
                        <m:sub>
                          <m:r>
                            <a:rPr lang="en-US" altLang="ko-KR" sz="2500" b="0" i="1" smtClean="0">
                              <a:latin typeface="Cambria Math" panose="02040503050406030204" pitchFamily="18" charset="0"/>
                            </a:rPr>
                            <m:t>𝑡</m:t>
                          </m:r>
                        </m:sub>
                      </m:sSub>
                      <m:r>
                        <a:rPr lang="en-US" altLang="ko-KR" sz="2500" b="0" i="1" smtClean="0">
                          <a:latin typeface="Cambria Math" panose="02040503050406030204" pitchFamily="18" charset="0"/>
                        </a:rPr>
                        <m:t>=</m:t>
                      </m:r>
                      <m:sSub>
                        <m:sSubPr>
                          <m:ctrlPr>
                            <a:rPr lang="en-US" altLang="ko-KR" sz="2500" b="0" i="1" smtClean="0">
                              <a:latin typeface="Cambria Math" panose="02040503050406030204" pitchFamily="18" charset="0"/>
                            </a:rPr>
                          </m:ctrlPr>
                        </m:sSubPr>
                        <m:e>
                          <m:r>
                            <a:rPr lang="en-US" altLang="ko-KR" sz="2500" b="0" i="1" smtClean="0">
                              <a:latin typeface="Cambria Math" panose="02040503050406030204" pitchFamily="18" charset="0"/>
                            </a:rPr>
                            <m:t>𝑋</m:t>
                          </m:r>
                        </m:e>
                        <m:sub>
                          <m:r>
                            <a:rPr lang="en-US" altLang="ko-KR" sz="2500" b="0" i="1" smtClean="0">
                              <a:latin typeface="Cambria Math" panose="02040503050406030204" pitchFamily="18" charset="0"/>
                            </a:rPr>
                            <m:t>𝑡</m:t>
                          </m:r>
                        </m:sub>
                      </m:sSub>
                      <m:sSub>
                        <m:sSubPr>
                          <m:ctrlPr>
                            <a:rPr lang="en-US" altLang="ko-KR" sz="2500" b="0" i="1" smtClean="0">
                              <a:latin typeface="Cambria Math" panose="02040503050406030204" pitchFamily="18" charset="0"/>
                            </a:rPr>
                          </m:ctrlPr>
                        </m:sSubPr>
                        <m:e>
                          <m:r>
                            <a:rPr lang="en-US" altLang="ko-KR" sz="2500" b="0" i="1" smtClean="0">
                              <a:latin typeface="Cambria Math" panose="02040503050406030204" pitchFamily="18" charset="0"/>
                            </a:rPr>
                            <m:t>𝛽</m:t>
                          </m:r>
                        </m:e>
                        <m:sub>
                          <m:r>
                            <a:rPr lang="en-US" altLang="ko-KR" sz="2500" b="0" i="1" smtClean="0">
                              <a:latin typeface="Cambria Math" panose="02040503050406030204" pitchFamily="18" charset="0"/>
                            </a:rPr>
                            <m:t>𝑡</m:t>
                          </m:r>
                        </m:sub>
                      </m:sSub>
                      <m:r>
                        <a:rPr lang="en-US" altLang="ko-KR" sz="2500" b="0" i="1" smtClean="0">
                          <a:latin typeface="Cambria Math" panose="02040503050406030204" pitchFamily="18" charset="0"/>
                        </a:rPr>
                        <m:t>+</m:t>
                      </m:r>
                      <m:sSub>
                        <m:sSubPr>
                          <m:ctrlPr>
                            <a:rPr lang="en-US" altLang="ko-KR" sz="2500" b="0" i="1" smtClean="0">
                              <a:latin typeface="Cambria Math" panose="02040503050406030204" pitchFamily="18" charset="0"/>
                            </a:rPr>
                          </m:ctrlPr>
                        </m:sSubPr>
                        <m:e>
                          <m:r>
                            <a:rPr lang="en-US" altLang="ko-KR" sz="2500" b="0" i="1" smtClean="0">
                              <a:latin typeface="Cambria Math" panose="02040503050406030204" pitchFamily="18" charset="0"/>
                            </a:rPr>
                            <m:t>𝑢</m:t>
                          </m:r>
                        </m:e>
                        <m:sub>
                          <m:r>
                            <a:rPr lang="en-US" altLang="ko-KR" sz="2500" b="0" i="1" smtClean="0">
                              <a:latin typeface="Cambria Math" panose="02040503050406030204" pitchFamily="18" charset="0"/>
                            </a:rPr>
                            <m:t>𝑡</m:t>
                          </m:r>
                        </m:sub>
                      </m:sSub>
                    </m:oMath>
                  </m:oMathPara>
                </a14:m>
                <a:endParaRPr lang="en-US" altLang="ko-KR" sz="2500" b="0" dirty="0"/>
              </a:p>
            </p:txBody>
          </p:sp>
        </mc:Choice>
        <mc:Fallback xmlns="">
          <p:sp>
            <p:nvSpPr>
              <p:cNvPr id="2" name="TextBox 1">
                <a:extLst>
                  <a:ext uri="{FF2B5EF4-FFF2-40B4-BE49-F238E27FC236}">
                    <a16:creationId xmlns:a16="http://schemas.microsoft.com/office/drawing/2014/main" id="{5DF6C728-4BB0-0046-BA41-AD224CC95033}"/>
                  </a:ext>
                </a:extLst>
              </p:cNvPr>
              <p:cNvSpPr txBox="1">
                <a:spLocks noRot="1" noChangeAspect="1" noMove="1" noResize="1" noEditPoints="1" noAdjustHandles="1" noChangeArrowheads="1" noChangeShapeType="1" noTextEdit="1"/>
              </p:cNvSpPr>
              <p:nvPr/>
            </p:nvSpPr>
            <p:spPr>
              <a:xfrm>
                <a:off x="5976937" y="3837801"/>
                <a:ext cx="2079800" cy="384721"/>
              </a:xfrm>
              <a:prstGeom prst="rect">
                <a:avLst/>
              </a:prstGeom>
              <a:blipFill>
                <a:blip r:embed="rId3"/>
                <a:stretch>
                  <a:fillRect l="-3216" r="-585" b="-33333"/>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5" name="Text 2">
                <a:extLst>
                  <a:ext uri="{FF2B5EF4-FFF2-40B4-BE49-F238E27FC236}">
                    <a16:creationId xmlns:a16="http://schemas.microsoft.com/office/drawing/2014/main" id="{AAA4D2F7-B807-D0D7-6802-AE3926D39B73}"/>
                  </a:ext>
                </a:extLst>
              </p:cNvPr>
              <p:cNvSpPr/>
              <p:nvPr/>
            </p:nvSpPr>
            <p:spPr>
              <a:xfrm>
                <a:off x="1351002" y="4607927"/>
                <a:ext cx="12388810" cy="2888248"/>
              </a:xfrm>
              <a:prstGeom prst="rect">
                <a:avLst/>
              </a:prstGeom>
              <a:noFill/>
              <a:ln/>
            </p:spPr>
            <p:txBody>
              <a:bodyPr wrap="square" lIns="0" tIns="0" rIns="0" bIns="0" rtlCol="0" anchor="t"/>
              <a:lstStyle/>
              <a:p>
                <a:pPr marL="0" indent="0" algn="l">
                  <a:lnSpc>
                    <a:spcPts val="2500"/>
                  </a:lnSpc>
                  <a:buNone/>
                </a:pPr>
                <a14:m>
                  <m:oMath xmlns:m="http://schemas.openxmlformats.org/officeDocument/2006/math">
                    <m:sSub>
                      <m:sSubPr>
                        <m:ctrlPr>
                          <a:rPr lang="en-US" sz="1550" b="0" i="1" smtClean="0">
                            <a:solidFill>
                              <a:srgbClr val="504C49"/>
                            </a:solidFill>
                            <a:latin typeface="Cambria Math" panose="02040503050406030204" pitchFamily="18" charset="0"/>
                            <a:ea typeface="Source Serif Pro" pitchFamily="34" charset="-122"/>
                            <a:cs typeface="Source Serif Pro" pitchFamily="34" charset="-120"/>
                          </a:rPr>
                        </m:ctrlPr>
                      </m:sSubPr>
                      <m:e>
                        <m:r>
                          <a:rPr lang="en-US" sz="1550" b="0" i="1" smtClean="0">
                            <a:solidFill>
                              <a:srgbClr val="504C49"/>
                            </a:solidFill>
                            <a:latin typeface="Cambria Math" panose="02040503050406030204" pitchFamily="18" charset="0"/>
                            <a:ea typeface="Source Serif Pro" pitchFamily="34" charset="-122"/>
                            <a:cs typeface="Source Serif Pro" pitchFamily="34" charset="-120"/>
                          </a:rPr>
                          <m:t>𝑦</m:t>
                        </m:r>
                      </m:e>
                      <m:sub>
                        <m:r>
                          <a:rPr lang="en-US" sz="1550" b="0" i="1" smtClean="0">
                            <a:solidFill>
                              <a:srgbClr val="504C49"/>
                            </a:solidFill>
                            <a:latin typeface="Cambria Math" panose="02040503050406030204" pitchFamily="18" charset="0"/>
                            <a:ea typeface="Source Serif Pro" pitchFamily="34" charset="-122"/>
                            <a:cs typeface="Source Serif Pro" pitchFamily="34" charset="-120"/>
                          </a:rPr>
                          <m:t>𝑡</m:t>
                        </m:r>
                      </m:sub>
                    </m:sSub>
                  </m:oMath>
                </a14:m>
                <a:r>
                  <a:rPr lang="en-US" sz="1550" dirty="0">
                    <a:solidFill>
                      <a:srgbClr val="504C49"/>
                    </a:solidFill>
                    <a:latin typeface="Source Serif Pro" pitchFamily="34" charset="0"/>
                    <a:ea typeface="Source Serif Pro" pitchFamily="34" charset="-122"/>
                    <a:cs typeface="Source Serif Pro" pitchFamily="34" charset="-120"/>
                  </a:rPr>
                  <a:t>: return vector for the momentum strategy and the value strategy, </a:t>
                </a:r>
                <a14:m>
                  <m:oMath xmlns:m="http://schemas.openxmlformats.org/officeDocument/2006/math">
                    <m:sSub>
                      <m:sSubPr>
                        <m:ctrlPr>
                          <a:rPr lang="en-US" sz="1550" b="0" i="1" smtClean="0">
                            <a:solidFill>
                              <a:srgbClr val="504C49"/>
                            </a:solidFill>
                            <a:latin typeface="Cambria Math" panose="02040503050406030204" pitchFamily="18" charset="0"/>
                            <a:ea typeface="Source Serif Pro" pitchFamily="34" charset="-122"/>
                            <a:cs typeface="Source Serif Pro" pitchFamily="34" charset="-120"/>
                          </a:rPr>
                        </m:ctrlPr>
                      </m:sSubPr>
                      <m:e>
                        <m:r>
                          <a:rPr lang="en-US" sz="1550" b="0" i="1" smtClean="0">
                            <a:solidFill>
                              <a:srgbClr val="504C49"/>
                            </a:solidFill>
                            <a:latin typeface="Cambria Math" panose="02040503050406030204" pitchFamily="18" charset="0"/>
                            <a:ea typeface="Source Serif Pro" pitchFamily="34" charset="-122"/>
                            <a:cs typeface="Source Serif Pro" pitchFamily="34" charset="-120"/>
                          </a:rPr>
                          <m:t>𝑦</m:t>
                        </m:r>
                      </m:e>
                      <m:sub>
                        <m:r>
                          <a:rPr lang="en-US" sz="1550" b="0" i="1" smtClean="0">
                            <a:solidFill>
                              <a:srgbClr val="504C49"/>
                            </a:solidFill>
                            <a:latin typeface="Cambria Math" panose="02040503050406030204" pitchFamily="18" charset="0"/>
                            <a:ea typeface="Source Serif Pro" pitchFamily="34" charset="-122"/>
                            <a:cs typeface="Source Serif Pro" pitchFamily="34" charset="-120"/>
                          </a:rPr>
                          <m:t>𝑡</m:t>
                        </m:r>
                      </m:sub>
                    </m:sSub>
                    <m:r>
                      <a:rPr lang="en-US" sz="1550" b="0" i="1" smtClean="0">
                        <a:solidFill>
                          <a:srgbClr val="504C49"/>
                        </a:solidFill>
                        <a:latin typeface="Cambria Math" panose="02040503050406030204" pitchFamily="18" charset="0"/>
                        <a:ea typeface="Source Serif Pro" pitchFamily="34" charset="-122"/>
                        <a:cs typeface="Source Serif Pro" pitchFamily="34" charset="-120"/>
                      </a:rPr>
                      <m:t>=</m:t>
                    </m:r>
                    <m:sSup>
                      <m:sSupPr>
                        <m:ctrlPr>
                          <a:rPr lang="en-US" sz="1550" b="0" i="1" smtClean="0">
                            <a:solidFill>
                              <a:srgbClr val="504C49"/>
                            </a:solidFill>
                            <a:latin typeface="Cambria Math" panose="02040503050406030204" pitchFamily="18" charset="0"/>
                            <a:ea typeface="Source Serif Pro" pitchFamily="34" charset="-122"/>
                            <a:cs typeface="Source Serif Pro" pitchFamily="34" charset="-120"/>
                          </a:rPr>
                        </m:ctrlPr>
                      </m:sSupPr>
                      <m:e>
                        <m:d>
                          <m:dPr>
                            <m:begChr m:val="["/>
                            <m:endChr m:val="]"/>
                            <m:ctrlPr>
                              <a:rPr lang="en-US" sz="1550" b="0" i="1" smtClean="0">
                                <a:solidFill>
                                  <a:srgbClr val="504C49"/>
                                </a:solidFill>
                                <a:latin typeface="Cambria Math" panose="02040503050406030204" pitchFamily="18" charset="0"/>
                                <a:ea typeface="Source Serif Pro" pitchFamily="34" charset="-122"/>
                                <a:cs typeface="Source Serif Pro" pitchFamily="34" charset="-120"/>
                              </a:rPr>
                            </m:ctrlPr>
                          </m:dPr>
                          <m:e>
                            <m:sSubSup>
                              <m:sSubSupPr>
                                <m:ctrlPr>
                                  <a:rPr lang="en-US" sz="1550" b="0" i="1" smtClean="0">
                                    <a:solidFill>
                                      <a:srgbClr val="504C49"/>
                                    </a:solidFill>
                                    <a:latin typeface="Cambria Math" panose="02040503050406030204" pitchFamily="18" charset="0"/>
                                    <a:ea typeface="Source Serif Pro" pitchFamily="34" charset="-122"/>
                                    <a:cs typeface="Source Serif Pro" pitchFamily="34" charset="-120"/>
                                  </a:rPr>
                                </m:ctrlPr>
                              </m:sSubSupPr>
                              <m:e>
                                <m:r>
                                  <a:rPr lang="en-US" sz="1550" b="0" i="1" smtClean="0">
                                    <a:solidFill>
                                      <a:srgbClr val="504C49"/>
                                    </a:solidFill>
                                    <a:latin typeface="Cambria Math" panose="02040503050406030204" pitchFamily="18" charset="0"/>
                                    <a:ea typeface="Source Serif Pro" pitchFamily="34" charset="-122"/>
                                    <a:cs typeface="Source Serif Pro" pitchFamily="34" charset="-120"/>
                                  </a:rPr>
                                  <m:t>𝑟</m:t>
                                </m:r>
                              </m:e>
                              <m:sub>
                                <m:r>
                                  <a:rPr lang="en-US" sz="1550" b="0" i="1" smtClean="0">
                                    <a:solidFill>
                                      <a:srgbClr val="504C49"/>
                                    </a:solidFill>
                                    <a:latin typeface="Cambria Math" panose="02040503050406030204" pitchFamily="18" charset="0"/>
                                    <a:ea typeface="Source Serif Pro" pitchFamily="34" charset="-122"/>
                                    <a:cs typeface="Source Serif Pro" pitchFamily="34" charset="-120"/>
                                  </a:rPr>
                                  <m:t>𝑡</m:t>
                                </m:r>
                              </m:sub>
                              <m:sup>
                                <m:r>
                                  <a:rPr lang="en-US" sz="1550" b="0" i="1" smtClean="0">
                                    <a:solidFill>
                                      <a:srgbClr val="504C49"/>
                                    </a:solidFill>
                                    <a:latin typeface="Cambria Math" panose="02040503050406030204" pitchFamily="18" charset="0"/>
                                    <a:ea typeface="Source Serif Pro" pitchFamily="34" charset="-122"/>
                                    <a:cs typeface="Source Serif Pro" pitchFamily="34" charset="-120"/>
                                  </a:rPr>
                                  <m:t>𝑣𝑎𝑙𝑢𝑒</m:t>
                                </m:r>
                              </m:sup>
                            </m:sSubSup>
                            <m:r>
                              <a:rPr lang="en-US" sz="1550" b="0" i="1" smtClean="0">
                                <a:solidFill>
                                  <a:srgbClr val="504C49"/>
                                </a:solidFill>
                                <a:latin typeface="Cambria Math" panose="02040503050406030204" pitchFamily="18" charset="0"/>
                                <a:ea typeface="Source Serif Pro" pitchFamily="34" charset="-122"/>
                                <a:cs typeface="Source Serif Pro" pitchFamily="34" charset="-120"/>
                              </a:rPr>
                              <m:t>,</m:t>
                            </m:r>
                            <m:sSubSup>
                              <m:sSubSupPr>
                                <m:ctrlPr>
                                  <a:rPr lang="en-US" sz="1550" b="0" i="1" smtClean="0">
                                    <a:solidFill>
                                      <a:srgbClr val="504C49"/>
                                    </a:solidFill>
                                    <a:latin typeface="Cambria Math" panose="02040503050406030204" pitchFamily="18" charset="0"/>
                                    <a:ea typeface="Source Serif Pro" pitchFamily="34" charset="-122"/>
                                    <a:cs typeface="Source Serif Pro" pitchFamily="34" charset="-120"/>
                                  </a:rPr>
                                </m:ctrlPr>
                              </m:sSubSupPr>
                              <m:e>
                                <m:r>
                                  <a:rPr lang="en-US" sz="1550" b="0" i="1" smtClean="0">
                                    <a:solidFill>
                                      <a:srgbClr val="504C49"/>
                                    </a:solidFill>
                                    <a:latin typeface="Cambria Math" panose="02040503050406030204" pitchFamily="18" charset="0"/>
                                    <a:ea typeface="Source Serif Pro" pitchFamily="34" charset="-122"/>
                                    <a:cs typeface="Source Serif Pro" pitchFamily="34" charset="-120"/>
                                  </a:rPr>
                                  <m:t>𝑟</m:t>
                                </m:r>
                              </m:e>
                              <m:sub>
                                <m:r>
                                  <a:rPr lang="en-US" sz="1550" b="0" i="1" smtClean="0">
                                    <a:solidFill>
                                      <a:srgbClr val="504C49"/>
                                    </a:solidFill>
                                    <a:latin typeface="Cambria Math" panose="02040503050406030204" pitchFamily="18" charset="0"/>
                                    <a:ea typeface="Source Serif Pro" pitchFamily="34" charset="-122"/>
                                    <a:cs typeface="Source Serif Pro" pitchFamily="34" charset="-120"/>
                                  </a:rPr>
                                  <m:t>𝑡</m:t>
                                </m:r>
                              </m:sub>
                              <m:sup>
                                <m:r>
                                  <a:rPr lang="en-US" sz="1550" b="0" i="1" smtClean="0">
                                    <a:solidFill>
                                      <a:srgbClr val="504C49"/>
                                    </a:solidFill>
                                    <a:latin typeface="Cambria Math" panose="02040503050406030204" pitchFamily="18" charset="0"/>
                                    <a:ea typeface="Source Serif Pro" pitchFamily="34" charset="-122"/>
                                    <a:cs typeface="Source Serif Pro" pitchFamily="34" charset="-120"/>
                                  </a:rPr>
                                  <m:t>𝑚𝑜𝑚</m:t>
                                </m:r>
                              </m:sup>
                            </m:sSubSup>
                          </m:e>
                        </m:d>
                      </m:e>
                      <m:sup>
                        <m:r>
                          <a:rPr lang="en-US" sz="1550" b="0" i="1" smtClean="0">
                            <a:solidFill>
                              <a:srgbClr val="504C49"/>
                            </a:solidFill>
                            <a:latin typeface="Cambria Math" panose="02040503050406030204" pitchFamily="18" charset="0"/>
                            <a:ea typeface="Source Serif Pro" pitchFamily="34" charset="-122"/>
                            <a:cs typeface="Source Serif Pro" pitchFamily="34" charset="-120"/>
                          </a:rPr>
                          <m:t>⊤</m:t>
                        </m:r>
                      </m:sup>
                    </m:sSup>
                  </m:oMath>
                </a14:m>
                <a:endParaRPr lang="en-US" sz="1550" dirty="0">
                  <a:solidFill>
                    <a:srgbClr val="504C49"/>
                  </a:solidFill>
                  <a:latin typeface="Source Serif Pro" pitchFamily="34" charset="0"/>
                  <a:ea typeface="Source Serif Pro" pitchFamily="34" charset="-122"/>
                  <a:cs typeface="Source Serif Pro" pitchFamily="34" charset="-120"/>
                </a:endParaRPr>
              </a:p>
              <a:p>
                <a:pPr marL="0" indent="0" algn="l">
                  <a:lnSpc>
                    <a:spcPts val="2500"/>
                  </a:lnSpc>
                  <a:buNone/>
                </a:pPr>
                <a:endParaRPr lang="en-US" sz="1550" dirty="0">
                  <a:solidFill>
                    <a:srgbClr val="504C49"/>
                  </a:solidFill>
                  <a:latin typeface="Source Serif Pro" pitchFamily="34" charset="0"/>
                  <a:ea typeface="Source Serif Pro" pitchFamily="34" charset="-122"/>
                  <a:cs typeface="Source Serif Pro" pitchFamily="34" charset="-120"/>
                </a:endParaRPr>
              </a:p>
              <a:p>
                <a:pPr>
                  <a:lnSpc>
                    <a:spcPts val="2500"/>
                  </a:lnSpc>
                </a:pPr>
                <a14:m>
                  <m:oMath xmlns:m="http://schemas.openxmlformats.org/officeDocument/2006/math">
                    <m:sSub>
                      <m:sSubPr>
                        <m:ctrlPr>
                          <a:rPr lang="en-US" sz="1550" b="0" i="1" smtClean="0">
                            <a:solidFill>
                              <a:srgbClr val="504C49"/>
                            </a:solidFill>
                            <a:latin typeface="Cambria Math" panose="02040503050406030204" pitchFamily="18" charset="0"/>
                            <a:ea typeface="Source Serif Pro" pitchFamily="34" charset="-122"/>
                            <a:cs typeface="Source Serif Pro" pitchFamily="34" charset="-120"/>
                          </a:rPr>
                        </m:ctrlPr>
                      </m:sSubPr>
                      <m:e>
                        <m:r>
                          <a:rPr lang="en-US" sz="1550" b="0" i="1" smtClean="0">
                            <a:solidFill>
                              <a:srgbClr val="504C49"/>
                            </a:solidFill>
                            <a:latin typeface="Cambria Math" panose="02040503050406030204" pitchFamily="18" charset="0"/>
                            <a:ea typeface="Source Serif Pro" pitchFamily="34" charset="-122"/>
                            <a:cs typeface="Source Serif Pro" pitchFamily="34" charset="-120"/>
                          </a:rPr>
                          <m:t>𝑋</m:t>
                        </m:r>
                      </m:e>
                      <m:sub>
                        <m:r>
                          <a:rPr lang="en-US" sz="1550" b="0" i="1" smtClean="0">
                            <a:solidFill>
                              <a:srgbClr val="504C49"/>
                            </a:solidFill>
                            <a:latin typeface="Cambria Math" panose="02040503050406030204" pitchFamily="18" charset="0"/>
                            <a:ea typeface="Source Serif Pro" pitchFamily="34" charset="-122"/>
                            <a:cs typeface="Source Serif Pro" pitchFamily="34" charset="-120"/>
                          </a:rPr>
                          <m:t>𝑡</m:t>
                        </m:r>
                      </m:sub>
                    </m:sSub>
                  </m:oMath>
                </a14:m>
                <a:r>
                  <a:rPr lang="en-US" sz="1550" dirty="0">
                    <a:solidFill>
                      <a:srgbClr val="504C49"/>
                    </a:solidFill>
                    <a:latin typeface="Source Serif Pro" pitchFamily="34" charset="0"/>
                    <a:ea typeface="Source Serif Pro" pitchFamily="34" charset="-122"/>
                    <a:cs typeface="Source Serif Pro" pitchFamily="34" charset="-120"/>
                  </a:rPr>
                  <a:t>: First-order time-lag explanatory variable matrix, </a:t>
                </a:r>
                <a14:m>
                  <m:oMath xmlns:m="http://schemas.openxmlformats.org/officeDocument/2006/math">
                    <m:sSub>
                      <m:sSubPr>
                        <m:ctrlPr>
                          <a:rPr lang="en-US" sz="1550" b="0" i="1" smtClean="0">
                            <a:solidFill>
                              <a:srgbClr val="504C49"/>
                            </a:solidFill>
                            <a:latin typeface="Cambria Math" panose="02040503050406030204" pitchFamily="18" charset="0"/>
                            <a:ea typeface="Source Serif Pro" pitchFamily="34" charset="-122"/>
                            <a:cs typeface="Source Serif Pro" pitchFamily="34" charset="-120"/>
                          </a:rPr>
                        </m:ctrlPr>
                      </m:sSubPr>
                      <m:e>
                        <m:r>
                          <a:rPr lang="en-US" sz="1550" b="0" i="1" smtClean="0">
                            <a:solidFill>
                              <a:srgbClr val="504C49"/>
                            </a:solidFill>
                            <a:latin typeface="Cambria Math" panose="02040503050406030204" pitchFamily="18" charset="0"/>
                            <a:ea typeface="Source Serif Pro" pitchFamily="34" charset="-122"/>
                            <a:cs typeface="Source Serif Pro" pitchFamily="34" charset="-120"/>
                          </a:rPr>
                          <m:t>𝑋</m:t>
                        </m:r>
                      </m:e>
                      <m:sub>
                        <m:r>
                          <a:rPr lang="en-US" sz="1550" b="0" i="1" smtClean="0">
                            <a:solidFill>
                              <a:srgbClr val="504C49"/>
                            </a:solidFill>
                            <a:latin typeface="Cambria Math" panose="02040503050406030204" pitchFamily="18" charset="0"/>
                            <a:ea typeface="Source Serif Pro" pitchFamily="34" charset="-122"/>
                            <a:cs typeface="Source Serif Pro" pitchFamily="34" charset="-120"/>
                          </a:rPr>
                          <m:t>𝑡</m:t>
                        </m:r>
                      </m:sub>
                    </m:sSub>
                    <m:r>
                      <a:rPr lang="en-US" sz="1550" b="0" i="1" smtClean="0">
                        <a:solidFill>
                          <a:srgbClr val="504C49"/>
                        </a:solidFill>
                        <a:latin typeface="Cambria Math" panose="02040503050406030204" pitchFamily="18" charset="0"/>
                        <a:ea typeface="Source Serif Pro" pitchFamily="34" charset="-122"/>
                        <a:cs typeface="Source Serif Pro" pitchFamily="34" charset="-120"/>
                      </a:rPr>
                      <m:t>=</m:t>
                    </m:r>
                    <m:sSub>
                      <m:sSubPr>
                        <m:ctrlPr>
                          <a:rPr lang="en-US" sz="1550" b="0" i="1" smtClean="0">
                            <a:solidFill>
                              <a:srgbClr val="504C49"/>
                            </a:solidFill>
                            <a:latin typeface="Cambria Math" panose="02040503050406030204" pitchFamily="18" charset="0"/>
                            <a:ea typeface="Source Serif Pro" pitchFamily="34" charset="-122"/>
                            <a:cs typeface="Source Serif Pro" pitchFamily="34" charset="-120"/>
                          </a:rPr>
                        </m:ctrlPr>
                      </m:sSubPr>
                      <m:e>
                        <m:r>
                          <a:rPr lang="en-US" sz="1550" b="0" i="1" smtClean="0">
                            <a:solidFill>
                              <a:srgbClr val="504C49"/>
                            </a:solidFill>
                            <a:latin typeface="Cambria Math" panose="02040503050406030204" pitchFamily="18" charset="0"/>
                            <a:ea typeface="Source Serif Pro" pitchFamily="34" charset="-122"/>
                            <a:cs typeface="Source Serif Pro" pitchFamily="34" charset="-120"/>
                          </a:rPr>
                          <m:t>𝐼</m:t>
                        </m:r>
                      </m:e>
                      <m:sub>
                        <m:r>
                          <a:rPr lang="en-US" sz="1550" b="0" i="1" smtClean="0">
                            <a:solidFill>
                              <a:srgbClr val="504C49"/>
                            </a:solidFill>
                            <a:latin typeface="Cambria Math" panose="02040503050406030204" pitchFamily="18" charset="0"/>
                            <a:ea typeface="Source Serif Pro" pitchFamily="34" charset="-122"/>
                            <a:cs typeface="Source Serif Pro" pitchFamily="34" charset="-120"/>
                          </a:rPr>
                          <m:t>2</m:t>
                        </m:r>
                      </m:sub>
                    </m:sSub>
                    <m:r>
                      <a:rPr lang="en-US" sz="1550" b="0" i="1" smtClean="0">
                        <a:solidFill>
                          <a:srgbClr val="504C49"/>
                        </a:solidFill>
                        <a:latin typeface="Cambria Math" panose="02040503050406030204" pitchFamily="18" charset="0"/>
                        <a:ea typeface="Source Serif Pro" pitchFamily="34" charset="-122"/>
                        <a:cs typeface="Source Serif Pro" pitchFamily="34" charset="-120"/>
                      </a:rPr>
                      <m:t>⨂[1, </m:t>
                    </m:r>
                    <m:sSubSup>
                      <m:sSubSupPr>
                        <m:ctrlPr>
                          <a:rPr lang="en-US" sz="1550" b="0" i="1" smtClean="0">
                            <a:solidFill>
                              <a:srgbClr val="504C49"/>
                            </a:solidFill>
                            <a:latin typeface="Cambria Math" panose="02040503050406030204" pitchFamily="18" charset="0"/>
                            <a:ea typeface="Source Serif Pro" pitchFamily="34" charset="-122"/>
                            <a:cs typeface="Source Serif Pro" pitchFamily="34" charset="-120"/>
                          </a:rPr>
                        </m:ctrlPr>
                      </m:sSubSupPr>
                      <m:e>
                        <m:r>
                          <a:rPr lang="en-US" sz="1550" b="0" i="1" smtClean="0">
                            <a:solidFill>
                              <a:srgbClr val="504C49"/>
                            </a:solidFill>
                            <a:latin typeface="Cambria Math" panose="02040503050406030204" pitchFamily="18" charset="0"/>
                            <a:ea typeface="Source Serif Pro" pitchFamily="34" charset="-122"/>
                            <a:cs typeface="Source Serif Pro" pitchFamily="34" charset="-120"/>
                          </a:rPr>
                          <m:t>𝑟</m:t>
                        </m:r>
                      </m:e>
                      <m:sub>
                        <m:r>
                          <a:rPr lang="en-US" sz="1550" b="0" i="1" smtClean="0">
                            <a:solidFill>
                              <a:srgbClr val="504C49"/>
                            </a:solidFill>
                            <a:latin typeface="Cambria Math" panose="02040503050406030204" pitchFamily="18" charset="0"/>
                            <a:ea typeface="Source Serif Pro" pitchFamily="34" charset="-122"/>
                            <a:cs typeface="Source Serif Pro" pitchFamily="34" charset="-120"/>
                          </a:rPr>
                          <m:t>𝑡</m:t>
                        </m:r>
                        <m:r>
                          <a:rPr lang="en-US" sz="1550" b="0" i="1" smtClean="0">
                            <a:solidFill>
                              <a:srgbClr val="504C49"/>
                            </a:solidFill>
                            <a:latin typeface="Cambria Math" panose="02040503050406030204" pitchFamily="18" charset="0"/>
                            <a:ea typeface="Source Serif Pro" pitchFamily="34" charset="-122"/>
                            <a:cs typeface="Source Serif Pro" pitchFamily="34" charset="-120"/>
                          </a:rPr>
                          <m:t>−1</m:t>
                        </m:r>
                      </m:sub>
                      <m:sup>
                        <m:r>
                          <a:rPr lang="en-US" sz="1550" b="0" i="1" smtClean="0">
                            <a:solidFill>
                              <a:srgbClr val="504C49"/>
                            </a:solidFill>
                            <a:latin typeface="Cambria Math" panose="02040503050406030204" pitchFamily="18" charset="0"/>
                            <a:ea typeface="Source Serif Pro" pitchFamily="34" charset="-122"/>
                            <a:cs typeface="Source Serif Pro" pitchFamily="34" charset="-120"/>
                          </a:rPr>
                          <m:t>𝑣𝑎𝑙𝑢𝑒</m:t>
                        </m:r>
                      </m:sup>
                    </m:sSubSup>
                    <m:r>
                      <a:rPr lang="en-US" sz="1550" b="0" i="1" smtClean="0">
                        <a:solidFill>
                          <a:srgbClr val="504C49"/>
                        </a:solidFill>
                        <a:latin typeface="Cambria Math" panose="02040503050406030204" pitchFamily="18" charset="0"/>
                        <a:ea typeface="Source Serif Pro" pitchFamily="34" charset="-122"/>
                        <a:cs typeface="Source Serif Pro" pitchFamily="34" charset="-120"/>
                      </a:rPr>
                      <m:t>,</m:t>
                    </m:r>
                    <m:sSubSup>
                      <m:sSubSupPr>
                        <m:ctrlPr>
                          <a:rPr lang="en-US" sz="1550" b="0" i="1" smtClean="0">
                            <a:solidFill>
                              <a:srgbClr val="504C49"/>
                            </a:solidFill>
                            <a:latin typeface="Cambria Math" panose="02040503050406030204" pitchFamily="18" charset="0"/>
                            <a:ea typeface="Source Serif Pro" pitchFamily="34" charset="-122"/>
                            <a:cs typeface="Source Serif Pro" pitchFamily="34" charset="-120"/>
                          </a:rPr>
                        </m:ctrlPr>
                      </m:sSubSupPr>
                      <m:e>
                        <m:r>
                          <a:rPr lang="en-US" sz="1550" b="0" i="1" smtClean="0">
                            <a:solidFill>
                              <a:srgbClr val="504C49"/>
                            </a:solidFill>
                            <a:latin typeface="Cambria Math" panose="02040503050406030204" pitchFamily="18" charset="0"/>
                            <a:ea typeface="Source Serif Pro" pitchFamily="34" charset="-122"/>
                            <a:cs typeface="Source Serif Pro" pitchFamily="34" charset="-120"/>
                          </a:rPr>
                          <m:t>𝑟</m:t>
                        </m:r>
                      </m:e>
                      <m:sub>
                        <m:r>
                          <a:rPr lang="en-US" sz="1550" b="0" i="1" smtClean="0">
                            <a:solidFill>
                              <a:srgbClr val="504C49"/>
                            </a:solidFill>
                            <a:latin typeface="Cambria Math" panose="02040503050406030204" pitchFamily="18" charset="0"/>
                            <a:ea typeface="Source Serif Pro" pitchFamily="34" charset="-122"/>
                            <a:cs typeface="Source Serif Pro" pitchFamily="34" charset="-120"/>
                          </a:rPr>
                          <m:t>𝑡</m:t>
                        </m:r>
                        <m:r>
                          <a:rPr lang="en-US" sz="1550" b="0" i="1" smtClean="0">
                            <a:solidFill>
                              <a:srgbClr val="504C49"/>
                            </a:solidFill>
                            <a:latin typeface="Cambria Math" panose="02040503050406030204" pitchFamily="18" charset="0"/>
                            <a:ea typeface="Source Serif Pro" pitchFamily="34" charset="-122"/>
                            <a:cs typeface="Source Serif Pro" pitchFamily="34" charset="-120"/>
                          </a:rPr>
                          <m:t>−1</m:t>
                        </m:r>
                      </m:sub>
                      <m:sup>
                        <m:r>
                          <a:rPr lang="en-US" sz="1550" b="0" i="1" smtClean="0">
                            <a:solidFill>
                              <a:srgbClr val="504C49"/>
                            </a:solidFill>
                            <a:latin typeface="Cambria Math" panose="02040503050406030204" pitchFamily="18" charset="0"/>
                            <a:ea typeface="Source Serif Pro" pitchFamily="34" charset="-122"/>
                            <a:cs typeface="Source Serif Pro" pitchFamily="34" charset="-120"/>
                          </a:rPr>
                          <m:t>𝑚𝑜𝑚</m:t>
                        </m:r>
                      </m:sup>
                    </m:sSubSup>
                    <m:r>
                      <a:rPr lang="en-US" sz="1550" b="0" i="1" smtClean="0">
                        <a:solidFill>
                          <a:srgbClr val="504C49"/>
                        </a:solidFill>
                        <a:latin typeface="Cambria Math" panose="02040503050406030204" pitchFamily="18" charset="0"/>
                        <a:ea typeface="Source Serif Pro" pitchFamily="34" charset="-122"/>
                        <a:cs typeface="Source Serif Pro" pitchFamily="34" charset="-120"/>
                      </a:rPr>
                      <m:t>]</m:t>
                    </m:r>
                  </m:oMath>
                </a14:m>
                <a:endParaRPr lang="en-US" sz="1550" i="1" dirty="0">
                  <a:solidFill>
                    <a:srgbClr val="504C49"/>
                  </a:solidFill>
                  <a:latin typeface="Source Serif Pro" pitchFamily="34" charset="0"/>
                  <a:ea typeface="Source Serif Pro" pitchFamily="34" charset="-122"/>
                  <a:cs typeface="Source Serif Pro" pitchFamily="34" charset="-120"/>
                </a:endParaRPr>
              </a:p>
              <a:p>
                <a:pPr>
                  <a:lnSpc>
                    <a:spcPts val="2500"/>
                  </a:lnSpc>
                </a:pPr>
                <a:endParaRPr lang="en-US" sz="1550" dirty="0">
                  <a:solidFill>
                    <a:srgbClr val="504C49"/>
                  </a:solidFill>
                  <a:latin typeface="Source Serif Pro" pitchFamily="34" charset="0"/>
                  <a:ea typeface="Source Serif Pro" pitchFamily="34" charset="-122"/>
                  <a:cs typeface="Source Serif Pro" pitchFamily="34" charset="-120"/>
                </a:endParaRPr>
              </a:p>
              <a:p>
                <a:pPr>
                  <a:lnSpc>
                    <a:spcPts val="2500"/>
                  </a:lnSpc>
                </a:pPr>
                <a14:m>
                  <m:oMath xmlns:m="http://schemas.openxmlformats.org/officeDocument/2006/math">
                    <m:sSub>
                      <m:sSubPr>
                        <m:ctrlPr>
                          <a:rPr lang="en-US" sz="1550" b="0" i="1" smtClean="0">
                            <a:solidFill>
                              <a:srgbClr val="504C49"/>
                            </a:solidFill>
                            <a:latin typeface="Cambria Math" panose="02040503050406030204" pitchFamily="18" charset="0"/>
                            <a:ea typeface="Source Serif Pro" pitchFamily="34" charset="-122"/>
                            <a:cs typeface="Source Serif Pro" pitchFamily="34" charset="-120"/>
                          </a:rPr>
                        </m:ctrlPr>
                      </m:sSubPr>
                      <m:e>
                        <m:r>
                          <a:rPr lang="en-US" sz="1550" b="0" i="1" smtClean="0">
                            <a:solidFill>
                              <a:srgbClr val="504C49"/>
                            </a:solidFill>
                            <a:latin typeface="Cambria Math" panose="02040503050406030204" pitchFamily="18" charset="0"/>
                            <a:ea typeface="Source Serif Pro" pitchFamily="34" charset="-122"/>
                            <a:cs typeface="Source Serif Pro" pitchFamily="34" charset="-120"/>
                          </a:rPr>
                          <m:t>𝛽</m:t>
                        </m:r>
                      </m:e>
                      <m:sub>
                        <m:r>
                          <a:rPr lang="en-US" sz="1550" b="0" i="1" smtClean="0">
                            <a:solidFill>
                              <a:srgbClr val="504C49"/>
                            </a:solidFill>
                            <a:latin typeface="Cambria Math" panose="02040503050406030204" pitchFamily="18" charset="0"/>
                            <a:ea typeface="Source Serif Pro" pitchFamily="34" charset="-122"/>
                            <a:cs typeface="Source Serif Pro" pitchFamily="34" charset="-120"/>
                          </a:rPr>
                          <m:t>𝑡</m:t>
                        </m:r>
                      </m:sub>
                    </m:sSub>
                  </m:oMath>
                </a14:m>
                <a:r>
                  <a:rPr lang="en-US" sz="1550" dirty="0">
                    <a:solidFill>
                      <a:srgbClr val="504C49"/>
                    </a:solidFill>
                    <a:latin typeface="Source Serif Pro" pitchFamily="34" charset="0"/>
                    <a:ea typeface="Source Serif Pro" pitchFamily="34" charset="-122"/>
                    <a:cs typeface="Source Serif Pro" pitchFamily="34" charset="-120"/>
                  </a:rPr>
                  <a:t>: Time-Varying Parameter, </a:t>
                </a:r>
                <a14:m>
                  <m:oMath xmlns:m="http://schemas.openxmlformats.org/officeDocument/2006/math">
                    <m:sSub>
                      <m:sSubPr>
                        <m:ctrlPr>
                          <a:rPr lang="en-US" sz="1550" b="0" i="1" smtClean="0">
                            <a:solidFill>
                              <a:srgbClr val="504C49"/>
                            </a:solidFill>
                            <a:latin typeface="Cambria Math" panose="02040503050406030204" pitchFamily="18" charset="0"/>
                            <a:ea typeface="Source Serif Pro" pitchFamily="34" charset="-122"/>
                            <a:cs typeface="Source Serif Pro" pitchFamily="34" charset="-120"/>
                          </a:rPr>
                        </m:ctrlPr>
                      </m:sSubPr>
                      <m:e>
                        <m:r>
                          <a:rPr lang="en-US" sz="1550" b="0" i="1" smtClean="0">
                            <a:solidFill>
                              <a:srgbClr val="504C49"/>
                            </a:solidFill>
                            <a:latin typeface="Cambria Math" panose="02040503050406030204" pitchFamily="18" charset="0"/>
                            <a:ea typeface="Source Serif Pro" pitchFamily="34" charset="-122"/>
                            <a:cs typeface="Source Serif Pro" pitchFamily="34" charset="-120"/>
                          </a:rPr>
                          <m:t>𝛽</m:t>
                        </m:r>
                      </m:e>
                      <m:sub>
                        <m:r>
                          <a:rPr lang="en-US" sz="1550" b="0" i="1" smtClean="0">
                            <a:solidFill>
                              <a:srgbClr val="504C49"/>
                            </a:solidFill>
                            <a:latin typeface="Cambria Math" panose="02040503050406030204" pitchFamily="18" charset="0"/>
                            <a:ea typeface="Source Serif Pro" pitchFamily="34" charset="-122"/>
                            <a:cs typeface="Source Serif Pro" pitchFamily="34" charset="-120"/>
                          </a:rPr>
                          <m:t>𝑡</m:t>
                        </m:r>
                      </m:sub>
                    </m:sSub>
                    <m:r>
                      <a:rPr lang="en-US" sz="1550" b="0" i="1" smtClean="0">
                        <a:solidFill>
                          <a:srgbClr val="504C49"/>
                        </a:solidFill>
                        <a:latin typeface="Cambria Math" panose="02040503050406030204" pitchFamily="18" charset="0"/>
                        <a:ea typeface="Source Serif Pro" pitchFamily="34" charset="-122"/>
                        <a:cs typeface="Source Serif Pro" pitchFamily="34" charset="-120"/>
                      </a:rPr>
                      <m:t>=</m:t>
                    </m:r>
                    <m:sSup>
                      <m:sSupPr>
                        <m:ctrlPr>
                          <a:rPr lang="en-US" sz="1550" b="0" i="1" smtClean="0">
                            <a:solidFill>
                              <a:srgbClr val="504C49"/>
                            </a:solidFill>
                            <a:latin typeface="Cambria Math" panose="02040503050406030204" pitchFamily="18" charset="0"/>
                            <a:ea typeface="Source Serif Pro" pitchFamily="34" charset="-122"/>
                            <a:cs typeface="Source Serif Pro" pitchFamily="34" charset="-120"/>
                          </a:rPr>
                        </m:ctrlPr>
                      </m:sSupPr>
                      <m:e>
                        <m:r>
                          <a:rPr lang="en-US" sz="1550" b="0" i="1" smtClean="0">
                            <a:solidFill>
                              <a:srgbClr val="504C49"/>
                            </a:solidFill>
                            <a:latin typeface="Cambria Math" panose="02040503050406030204" pitchFamily="18" charset="0"/>
                            <a:ea typeface="Source Serif Pro" pitchFamily="34" charset="-122"/>
                            <a:cs typeface="Source Serif Pro" pitchFamily="34" charset="-120"/>
                          </a:rPr>
                          <m:t>𝑣𝑒𝑐</m:t>
                        </m:r>
                        <m:r>
                          <a:rPr lang="en-US" sz="1550" b="0" i="1" smtClean="0">
                            <a:solidFill>
                              <a:srgbClr val="504C49"/>
                            </a:solidFill>
                            <a:latin typeface="Cambria Math" panose="02040503050406030204" pitchFamily="18" charset="0"/>
                            <a:ea typeface="Source Serif Pro" pitchFamily="34" charset="-122"/>
                            <a:cs typeface="Source Serif Pro" pitchFamily="34" charset="-120"/>
                          </a:rPr>
                          <m:t>(</m:t>
                        </m:r>
                        <m:d>
                          <m:dPr>
                            <m:begChr m:val="["/>
                            <m:endChr m:val="]"/>
                            <m:ctrlPr>
                              <a:rPr lang="en-US" sz="1550" b="0" i="1" smtClean="0">
                                <a:solidFill>
                                  <a:srgbClr val="504C49"/>
                                </a:solidFill>
                                <a:latin typeface="Cambria Math" panose="02040503050406030204" pitchFamily="18" charset="0"/>
                                <a:ea typeface="Source Serif Pro" pitchFamily="34" charset="-122"/>
                                <a:cs typeface="Source Serif Pro" pitchFamily="34" charset="-120"/>
                              </a:rPr>
                            </m:ctrlPr>
                          </m:dPr>
                          <m:e>
                            <m:sSub>
                              <m:sSubPr>
                                <m:ctrlPr>
                                  <a:rPr lang="en-US" sz="1550" b="0" i="1" smtClean="0">
                                    <a:solidFill>
                                      <a:srgbClr val="504C49"/>
                                    </a:solidFill>
                                    <a:latin typeface="Cambria Math" panose="02040503050406030204" pitchFamily="18" charset="0"/>
                                    <a:ea typeface="Source Serif Pro" pitchFamily="34" charset="-122"/>
                                    <a:cs typeface="Source Serif Pro" pitchFamily="34" charset="-120"/>
                                  </a:rPr>
                                </m:ctrlPr>
                              </m:sSubPr>
                              <m:e>
                                <m:r>
                                  <a:rPr lang="en-US" sz="1550" b="0" i="1" smtClean="0">
                                    <a:solidFill>
                                      <a:srgbClr val="504C49"/>
                                    </a:solidFill>
                                    <a:latin typeface="Cambria Math" panose="02040503050406030204" pitchFamily="18" charset="0"/>
                                    <a:ea typeface="Source Serif Pro" pitchFamily="34" charset="-122"/>
                                    <a:cs typeface="Source Serif Pro" pitchFamily="34" charset="-120"/>
                                  </a:rPr>
                                  <m:t>𝛽</m:t>
                                </m:r>
                              </m:e>
                              <m:sub>
                                <m:r>
                                  <a:rPr lang="en-US" sz="1550" b="0" i="1" smtClean="0">
                                    <a:solidFill>
                                      <a:srgbClr val="504C49"/>
                                    </a:solidFill>
                                    <a:latin typeface="Cambria Math" panose="02040503050406030204" pitchFamily="18" charset="0"/>
                                    <a:ea typeface="Source Serif Pro" pitchFamily="34" charset="-122"/>
                                    <a:cs typeface="Source Serif Pro" pitchFamily="34" charset="-120"/>
                                  </a:rPr>
                                  <m:t>0,</m:t>
                                </m:r>
                                <m:r>
                                  <a:rPr lang="en-US" sz="1550" b="0" i="1" smtClean="0">
                                    <a:solidFill>
                                      <a:srgbClr val="504C49"/>
                                    </a:solidFill>
                                    <a:latin typeface="Cambria Math" panose="02040503050406030204" pitchFamily="18" charset="0"/>
                                    <a:ea typeface="Source Serif Pro" pitchFamily="34" charset="-122"/>
                                    <a:cs typeface="Source Serif Pro" pitchFamily="34" charset="-120"/>
                                  </a:rPr>
                                  <m:t>𝑡</m:t>
                                </m:r>
                              </m:sub>
                            </m:sSub>
                            <m:r>
                              <a:rPr lang="en-US" sz="1550" b="0" i="1" smtClean="0">
                                <a:solidFill>
                                  <a:srgbClr val="504C49"/>
                                </a:solidFill>
                                <a:latin typeface="Cambria Math" panose="02040503050406030204" pitchFamily="18" charset="0"/>
                                <a:ea typeface="Source Serif Pro" pitchFamily="34" charset="-122"/>
                                <a:cs typeface="Source Serif Pro" pitchFamily="34" charset="-120"/>
                              </a:rPr>
                              <m:t>  </m:t>
                            </m:r>
                            <m:sSub>
                              <m:sSubPr>
                                <m:ctrlPr>
                                  <a:rPr lang="en-US" sz="1550" b="0" i="1" smtClean="0">
                                    <a:solidFill>
                                      <a:srgbClr val="504C49"/>
                                    </a:solidFill>
                                    <a:latin typeface="Cambria Math" panose="02040503050406030204" pitchFamily="18" charset="0"/>
                                    <a:ea typeface="Source Serif Pro" pitchFamily="34" charset="-122"/>
                                    <a:cs typeface="Source Serif Pro" pitchFamily="34" charset="-120"/>
                                  </a:rPr>
                                </m:ctrlPr>
                              </m:sSubPr>
                              <m:e>
                                <m:r>
                                  <a:rPr lang="en-US" sz="1550" b="0" i="1" smtClean="0">
                                    <a:solidFill>
                                      <a:srgbClr val="504C49"/>
                                    </a:solidFill>
                                    <a:latin typeface="Cambria Math" panose="02040503050406030204" pitchFamily="18" charset="0"/>
                                    <a:ea typeface="Source Serif Pro" pitchFamily="34" charset="-122"/>
                                    <a:cs typeface="Source Serif Pro" pitchFamily="34" charset="-120"/>
                                  </a:rPr>
                                  <m:t>𝛽</m:t>
                                </m:r>
                              </m:e>
                              <m:sub>
                                <m:r>
                                  <a:rPr lang="en-US" sz="1550" b="0" i="1" smtClean="0">
                                    <a:solidFill>
                                      <a:srgbClr val="504C49"/>
                                    </a:solidFill>
                                    <a:latin typeface="Cambria Math" panose="02040503050406030204" pitchFamily="18" charset="0"/>
                                    <a:ea typeface="Source Serif Pro" pitchFamily="34" charset="-122"/>
                                    <a:cs typeface="Source Serif Pro" pitchFamily="34" charset="-120"/>
                                  </a:rPr>
                                  <m:t>1,</m:t>
                                </m:r>
                                <m:r>
                                  <a:rPr lang="en-US" sz="1550" b="0" i="1" smtClean="0">
                                    <a:solidFill>
                                      <a:srgbClr val="504C49"/>
                                    </a:solidFill>
                                    <a:latin typeface="Cambria Math" panose="02040503050406030204" pitchFamily="18" charset="0"/>
                                    <a:ea typeface="Source Serif Pro" pitchFamily="34" charset="-122"/>
                                    <a:cs typeface="Source Serif Pro" pitchFamily="34" charset="-120"/>
                                  </a:rPr>
                                  <m:t>𝑡</m:t>
                                </m:r>
                              </m:sub>
                            </m:sSub>
                            <m:r>
                              <a:rPr lang="en-US" sz="1550" b="0" i="1" smtClean="0">
                                <a:solidFill>
                                  <a:srgbClr val="504C49"/>
                                </a:solidFill>
                                <a:latin typeface="Cambria Math" panose="02040503050406030204" pitchFamily="18" charset="0"/>
                                <a:ea typeface="Source Serif Pro" pitchFamily="34" charset="-122"/>
                                <a:cs typeface="Source Serif Pro" pitchFamily="34" charset="-120"/>
                              </a:rPr>
                              <m:t>  </m:t>
                            </m:r>
                            <m:sSub>
                              <m:sSubPr>
                                <m:ctrlPr>
                                  <a:rPr lang="en-US" sz="1550" b="0" i="1" smtClean="0">
                                    <a:solidFill>
                                      <a:srgbClr val="504C49"/>
                                    </a:solidFill>
                                    <a:latin typeface="Cambria Math" panose="02040503050406030204" pitchFamily="18" charset="0"/>
                                    <a:ea typeface="Source Serif Pro" pitchFamily="34" charset="-122"/>
                                    <a:cs typeface="Source Serif Pro" pitchFamily="34" charset="-120"/>
                                  </a:rPr>
                                </m:ctrlPr>
                              </m:sSubPr>
                              <m:e>
                                <m:r>
                                  <a:rPr lang="en-US" sz="1550" b="0" i="1" smtClean="0">
                                    <a:solidFill>
                                      <a:srgbClr val="504C49"/>
                                    </a:solidFill>
                                    <a:latin typeface="Cambria Math" panose="02040503050406030204" pitchFamily="18" charset="0"/>
                                    <a:ea typeface="Source Serif Pro" pitchFamily="34" charset="-122"/>
                                    <a:cs typeface="Source Serif Pro" pitchFamily="34" charset="-120"/>
                                  </a:rPr>
                                  <m:t>𝛽</m:t>
                                </m:r>
                              </m:e>
                              <m:sub>
                                <m:r>
                                  <a:rPr lang="en-US" sz="1550" b="0" i="1" smtClean="0">
                                    <a:solidFill>
                                      <a:srgbClr val="504C49"/>
                                    </a:solidFill>
                                    <a:latin typeface="Cambria Math" panose="02040503050406030204" pitchFamily="18" charset="0"/>
                                    <a:ea typeface="Source Serif Pro" pitchFamily="34" charset="-122"/>
                                    <a:cs typeface="Source Serif Pro" pitchFamily="34" charset="-120"/>
                                  </a:rPr>
                                  <m:t>2,</m:t>
                                </m:r>
                                <m:r>
                                  <a:rPr lang="en-US" sz="1550" b="0" i="1" smtClean="0">
                                    <a:solidFill>
                                      <a:srgbClr val="504C49"/>
                                    </a:solidFill>
                                    <a:latin typeface="Cambria Math" panose="02040503050406030204" pitchFamily="18" charset="0"/>
                                    <a:ea typeface="Source Serif Pro" pitchFamily="34" charset="-122"/>
                                    <a:cs typeface="Source Serif Pro" pitchFamily="34" charset="-120"/>
                                  </a:rPr>
                                  <m:t>𝑡</m:t>
                                </m:r>
                              </m:sub>
                            </m:sSub>
                          </m:e>
                        </m:d>
                      </m:e>
                      <m:sup>
                        <m:r>
                          <a:rPr lang="en-US" sz="1550" b="0" i="1" smtClean="0">
                            <a:solidFill>
                              <a:srgbClr val="504C49"/>
                            </a:solidFill>
                            <a:latin typeface="Cambria Math" panose="02040503050406030204" pitchFamily="18" charset="0"/>
                            <a:ea typeface="Source Serif Pro" pitchFamily="34" charset="-122"/>
                            <a:cs typeface="Source Serif Pro" pitchFamily="34" charset="-120"/>
                          </a:rPr>
                          <m:t>⊤</m:t>
                        </m:r>
                      </m:sup>
                    </m:sSup>
                    <m:r>
                      <a:rPr lang="en-US" sz="1550" b="0" i="1" smtClean="0">
                        <a:solidFill>
                          <a:srgbClr val="504C49"/>
                        </a:solidFill>
                        <a:latin typeface="Cambria Math" panose="02040503050406030204" pitchFamily="18" charset="0"/>
                        <a:ea typeface="Source Serif Pro" pitchFamily="34" charset="-122"/>
                        <a:cs typeface="Source Serif Pro" pitchFamily="34" charset="-120"/>
                      </a:rPr>
                      <m:t>)∈</m:t>
                    </m:r>
                    <m:sSup>
                      <m:sSupPr>
                        <m:ctrlPr>
                          <a:rPr lang="en-US" sz="1550" b="0" i="1" smtClean="0">
                            <a:solidFill>
                              <a:srgbClr val="504C49"/>
                            </a:solidFill>
                            <a:latin typeface="Cambria Math" panose="02040503050406030204" pitchFamily="18" charset="0"/>
                            <a:ea typeface="Source Serif Pro" pitchFamily="34" charset="-122"/>
                            <a:cs typeface="Source Serif Pro" pitchFamily="34" charset="-120"/>
                          </a:rPr>
                        </m:ctrlPr>
                      </m:sSupPr>
                      <m:e>
                        <m:r>
                          <a:rPr lang="en-US" sz="1550" b="0" i="1" smtClean="0">
                            <a:solidFill>
                              <a:srgbClr val="504C49"/>
                            </a:solidFill>
                            <a:latin typeface="Cambria Math" panose="02040503050406030204" pitchFamily="18" charset="0"/>
                            <a:ea typeface="Source Serif Pro" pitchFamily="34" charset="-122"/>
                            <a:cs typeface="Source Serif Pro" pitchFamily="34" charset="-120"/>
                          </a:rPr>
                          <m:t>ℝ</m:t>
                        </m:r>
                      </m:e>
                      <m:sup>
                        <m:r>
                          <a:rPr lang="en-US" sz="1550" b="0" i="1" smtClean="0">
                            <a:solidFill>
                              <a:srgbClr val="504C49"/>
                            </a:solidFill>
                            <a:latin typeface="Cambria Math" panose="02040503050406030204" pitchFamily="18" charset="0"/>
                            <a:ea typeface="Source Serif Pro" pitchFamily="34" charset="-122"/>
                            <a:cs typeface="Source Serif Pro" pitchFamily="34" charset="-120"/>
                          </a:rPr>
                          <m:t>3×2</m:t>
                        </m:r>
                      </m:sup>
                    </m:sSup>
                    <m:r>
                      <a:rPr lang="en-US" sz="1550" b="0" i="0" smtClean="0">
                        <a:solidFill>
                          <a:srgbClr val="504C49"/>
                        </a:solidFill>
                        <a:latin typeface="Cambria Math" panose="02040503050406030204" pitchFamily="18" charset="0"/>
                        <a:ea typeface="Source Serif Pro" pitchFamily="34" charset="-122"/>
                        <a:cs typeface="Source Serif Pro" pitchFamily="34" charset="-120"/>
                      </a:rPr>
                      <m:t>, </m:t>
                    </m:r>
                    <m:sSub>
                      <m:sSubPr>
                        <m:ctrlPr>
                          <a:rPr lang="en-US" sz="1550" b="0" i="1" smtClean="0">
                            <a:solidFill>
                              <a:srgbClr val="504C49"/>
                            </a:solidFill>
                            <a:latin typeface="Cambria Math" panose="02040503050406030204" pitchFamily="18" charset="0"/>
                            <a:ea typeface="Source Serif Pro" pitchFamily="34" charset="-122"/>
                            <a:cs typeface="Source Serif Pro" pitchFamily="34" charset="-120"/>
                          </a:rPr>
                        </m:ctrlPr>
                      </m:sSubPr>
                      <m:e>
                        <m:r>
                          <a:rPr lang="en-US" sz="1550" b="0" i="1" smtClean="0">
                            <a:solidFill>
                              <a:srgbClr val="504C49"/>
                            </a:solidFill>
                            <a:latin typeface="Cambria Math" panose="02040503050406030204" pitchFamily="18" charset="0"/>
                            <a:ea typeface="Source Serif Pro" pitchFamily="34" charset="-122"/>
                            <a:cs typeface="Source Serif Pro" pitchFamily="34" charset="-120"/>
                          </a:rPr>
                          <m:t>𝛽</m:t>
                        </m:r>
                      </m:e>
                      <m:sub>
                        <m:r>
                          <a:rPr lang="en-US" sz="1550" b="0" i="1" smtClean="0">
                            <a:solidFill>
                              <a:srgbClr val="504C49"/>
                            </a:solidFill>
                            <a:latin typeface="Cambria Math" panose="02040503050406030204" pitchFamily="18" charset="0"/>
                            <a:ea typeface="Source Serif Pro" pitchFamily="34" charset="-122"/>
                            <a:cs typeface="Source Serif Pro" pitchFamily="34" charset="-120"/>
                          </a:rPr>
                          <m:t>𝑡</m:t>
                        </m:r>
                      </m:sub>
                    </m:sSub>
                    <m:r>
                      <a:rPr lang="en-US" sz="1550" b="0" i="1" smtClean="0">
                        <a:solidFill>
                          <a:srgbClr val="504C49"/>
                        </a:solidFill>
                        <a:latin typeface="Cambria Math" panose="02040503050406030204" pitchFamily="18" charset="0"/>
                        <a:ea typeface="Source Serif Pro" pitchFamily="34" charset="-122"/>
                        <a:cs typeface="Source Serif Pro" pitchFamily="34" charset="-120"/>
                      </a:rPr>
                      <m:t>=</m:t>
                    </m:r>
                    <m:sSub>
                      <m:sSubPr>
                        <m:ctrlPr>
                          <a:rPr lang="en-US" sz="1550" b="0" i="1" smtClean="0">
                            <a:solidFill>
                              <a:srgbClr val="504C49"/>
                            </a:solidFill>
                            <a:latin typeface="Cambria Math" panose="02040503050406030204" pitchFamily="18" charset="0"/>
                            <a:ea typeface="Source Serif Pro" pitchFamily="34" charset="-122"/>
                            <a:cs typeface="Source Serif Pro" pitchFamily="34" charset="-120"/>
                          </a:rPr>
                        </m:ctrlPr>
                      </m:sSubPr>
                      <m:e>
                        <m:r>
                          <a:rPr lang="en-US" sz="1550" b="0" i="1" smtClean="0">
                            <a:solidFill>
                              <a:srgbClr val="504C49"/>
                            </a:solidFill>
                            <a:latin typeface="Cambria Math" panose="02040503050406030204" pitchFamily="18" charset="0"/>
                            <a:ea typeface="Source Serif Pro" pitchFamily="34" charset="-122"/>
                            <a:cs typeface="Source Serif Pro" pitchFamily="34" charset="-120"/>
                          </a:rPr>
                          <m:t>𝛽</m:t>
                        </m:r>
                      </m:e>
                      <m:sub>
                        <m:r>
                          <a:rPr lang="en-US" sz="1550" b="0" i="1" smtClean="0">
                            <a:solidFill>
                              <a:srgbClr val="504C49"/>
                            </a:solidFill>
                            <a:latin typeface="Cambria Math" panose="02040503050406030204" pitchFamily="18" charset="0"/>
                            <a:ea typeface="Source Serif Pro" pitchFamily="34" charset="-122"/>
                            <a:cs typeface="Source Serif Pro" pitchFamily="34" charset="-120"/>
                          </a:rPr>
                          <m:t>𝑡</m:t>
                        </m:r>
                        <m:r>
                          <a:rPr lang="en-US" sz="1550" b="0" i="1" smtClean="0">
                            <a:solidFill>
                              <a:srgbClr val="504C49"/>
                            </a:solidFill>
                            <a:latin typeface="Cambria Math" panose="02040503050406030204" pitchFamily="18" charset="0"/>
                            <a:ea typeface="Source Serif Pro" pitchFamily="34" charset="-122"/>
                            <a:cs typeface="Source Serif Pro" pitchFamily="34" charset="-120"/>
                          </a:rPr>
                          <m:t>−1</m:t>
                        </m:r>
                      </m:sub>
                    </m:sSub>
                    <m:r>
                      <a:rPr lang="en-US" sz="1550" b="0" i="1" smtClean="0">
                        <a:solidFill>
                          <a:srgbClr val="504C49"/>
                        </a:solidFill>
                        <a:latin typeface="Cambria Math" panose="02040503050406030204" pitchFamily="18" charset="0"/>
                        <a:ea typeface="Source Serif Pro" pitchFamily="34" charset="-122"/>
                        <a:cs typeface="Source Serif Pro" pitchFamily="34" charset="-120"/>
                      </a:rPr>
                      <m:t>+</m:t>
                    </m:r>
                    <m:sSub>
                      <m:sSubPr>
                        <m:ctrlPr>
                          <a:rPr lang="en-US" sz="1550" b="0" i="1" smtClean="0">
                            <a:solidFill>
                              <a:srgbClr val="504C49"/>
                            </a:solidFill>
                            <a:latin typeface="Cambria Math" panose="02040503050406030204" pitchFamily="18" charset="0"/>
                            <a:ea typeface="Source Serif Pro" pitchFamily="34" charset="-122"/>
                            <a:cs typeface="Source Serif Pro" pitchFamily="34" charset="-120"/>
                          </a:rPr>
                        </m:ctrlPr>
                      </m:sSubPr>
                      <m:e>
                        <m:r>
                          <a:rPr lang="en-US" sz="1550" b="0" i="1" smtClean="0">
                            <a:solidFill>
                              <a:srgbClr val="504C49"/>
                            </a:solidFill>
                            <a:latin typeface="Cambria Math" panose="02040503050406030204" pitchFamily="18" charset="0"/>
                            <a:ea typeface="Source Serif Pro" pitchFamily="34" charset="-122"/>
                            <a:cs typeface="Source Serif Pro" pitchFamily="34" charset="-120"/>
                          </a:rPr>
                          <m:t>𝑣</m:t>
                        </m:r>
                      </m:e>
                      <m:sub>
                        <m:r>
                          <a:rPr lang="en-US" sz="1550" b="0" i="1" smtClean="0">
                            <a:solidFill>
                              <a:srgbClr val="504C49"/>
                            </a:solidFill>
                            <a:latin typeface="Cambria Math" panose="02040503050406030204" pitchFamily="18" charset="0"/>
                            <a:ea typeface="Source Serif Pro" pitchFamily="34" charset="-122"/>
                            <a:cs typeface="Source Serif Pro" pitchFamily="34" charset="-120"/>
                          </a:rPr>
                          <m:t>𝑡</m:t>
                        </m:r>
                      </m:sub>
                    </m:sSub>
                  </m:oMath>
                </a14:m>
                <a:r>
                  <a:rPr lang="en-US" sz="1550" dirty="0">
                    <a:solidFill>
                      <a:srgbClr val="504C49"/>
                    </a:solidFill>
                    <a:latin typeface="Source Serif Pro" pitchFamily="34" charset="0"/>
                    <a:ea typeface="Source Serif Pro" pitchFamily="34" charset="-122"/>
                    <a:cs typeface="Source Serif Pro" pitchFamily="34" charset="-120"/>
                  </a:rPr>
                  <a:t>, </a:t>
                </a:r>
                <a14:m>
                  <m:oMath xmlns:m="http://schemas.openxmlformats.org/officeDocument/2006/math">
                    <m:sSub>
                      <m:sSubPr>
                        <m:ctrlPr>
                          <a:rPr lang="en-US" sz="1550" b="0" i="1" smtClean="0">
                            <a:solidFill>
                              <a:srgbClr val="504C49"/>
                            </a:solidFill>
                            <a:latin typeface="Cambria Math" panose="02040503050406030204" pitchFamily="18" charset="0"/>
                            <a:ea typeface="Source Serif Pro" pitchFamily="34" charset="-122"/>
                            <a:cs typeface="Source Serif Pro" pitchFamily="34" charset="-120"/>
                          </a:rPr>
                        </m:ctrlPr>
                      </m:sSubPr>
                      <m:e>
                        <m:r>
                          <a:rPr lang="en-US" sz="1550" b="0" i="1" smtClean="0">
                            <a:solidFill>
                              <a:srgbClr val="504C49"/>
                            </a:solidFill>
                            <a:latin typeface="Cambria Math" panose="02040503050406030204" pitchFamily="18" charset="0"/>
                            <a:ea typeface="Source Serif Pro" pitchFamily="34" charset="-122"/>
                            <a:cs typeface="Source Serif Pro" pitchFamily="34" charset="-120"/>
                          </a:rPr>
                          <m:t>𝑣</m:t>
                        </m:r>
                      </m:e>
                      <m:sub>
                        <m:r>
                          <a:rPr lang="en-US" sz="1550" b="0" i="1" smtClean="0">
                            <a:solidFill>
                              <a:srgbClr val="504C49"/>
                            </a:solidFill>
                            <a:latin typeface="Cambria Math" panose="02040503050406030204" pitchFamily="18" charset="0"/>
                            <a:ea typeface="Source Serif Pro" pitchFamily="34" charset="-122"/>
                            <a:cs typeface="Source Serif Pro" pitchFamily="34" charset="-120"/>
                          </a:rPr>
                          <m:t>𝑡</m:t>
                        </m:r>
                      </m:sub>
                    </m:sSub>
                  </m:oMath>
                </a14:m>
                <a:r>
                  <a:rPr lang="en-US" sz="1550" dirty="0">
                    <a:solidFill>
                      <a:srgbClr val="504C49"/>
                    </a:solidFill>
                    <a:latin typeface="Source Serif Pro" pitchFamily="34" charset="0"/>
                    <a:ea typeface="Source Serif Pro" pitchFamily="34" charset="-122"/>
                    <a:cs typeface="Source Serif Pro" pitchFamily="34" charset="-120"/>
                  </a:rPr>
                  <a:t> is the state innovation vector.</a:t>
                </a:r>
              </a:p>
              <a:p>
                <a:pPr>
                  <a:lnSpc>
                    <a:spcPts val="2500"/>
                  </a:lnSpc>
                </a:pPr>
                <a:endParaRPr lang="en-US" sz="1550" dirty="0">
                  <a:solidFill>
                    <a:srgbClr val="504C49"/>
                  </a:solidFill>
                  <a:latin typeface="Source Serif Pro" pitchFamily="34" charset="0"/>
                  <a:ea typeface="Source Serif Pro" pitchFamily="34" charset="-122"/>
                  <a:cs typeface="Source Serif Pro" pitchFamily="34" charset="-120"/>
                </a:endParaRPr>
              </a:p>
              <a:p>
                <a:pPr>
                  <a:lnSpc>
                    <a:spcPts val="2500"/>
                  </a:lnSpc>
                </a:pPr>
                <a14:m>
                  <m:oMath xmlns:m="http://schemas.openxmlformats.org/officeDocument/2006/math">
                    <m:sSub>
                      <m:sSubPr>
                        <m:ctrlPr>
                          <a:rPr lang="en-US" sz="1550" b="0" i="1" smtClean="0">
                            <a:solidFill>
                              <a:srgbClr val="504C49"/>
                            </a:solidFill>
                            <a:latin typeface="Cambria Math" panose="02040503050406030204" pitchFamily="18" charset="0"/>
                            <a:ea typeface="Source Serif Pro" pitchFamily="34" charset="-122"/>
                            <a:cs typeface="Source Serif Pro" pitchFamily="34" charset="-120"/>
                          </a:rPr>
                        </m:ctrlPr>
                      </m:sSubPr>
                      <m:e>
                        <m:r>
                          <a:rPr lang="en-US" sz="1550" b="0" i="1" smtClean="0">
                            <a:solidFill>
                              <a:srgbClr val="504C49"/>
                            </a:solidFill>
                            <a:latin typeface="Cambria Math" panose="02040503050406030204" pitchFamily="18" charset="0"/>
                            <a:ea typeface="Source Serif Pro" pitchFamily="34" charset="-122"/>
                            <a:cs typeface="Source Serif Pro" pitchFamily="34" charset="-120"/>
                          </a:rPr>
                          <m:t>𝑢</m:t>
                        </m:r>
                      </m:e>
                      <m:sub>
                        <m:r>
                          <a:rPr lang="en-US" sz="1550" b="0" i="1" smtClean="0">
                            <a:solidFill>
                              <a:srgbClr val="504C49"/>
                            </a:solidFill>
                            <a:latin typeface="Cambria Math" panose="02040503050406030204" pitchFamily="18" charset="0"/>
                            <a:ea typeface="Source Serif Pro" pitchFamily="34" charset="-122"/>
                            <a:cs typeface="Source Serif Pro" pitchFamily="34" charset="-120"/>
                          </a:rPr>
                          <m:t>𝑡</m:t>
                        </m:r>
                      </m:sub>
                    </m:sSub>
                  </m:oMath>
                </a14:m>
                <a:r>
                  <a:rPr lang="en-US" sz="1550" dirty="0">
                    <a:solidFill>
                      <a:srgbClr val="504C49"/>
                    </a:solidFill>
                    <a:latin typeface="Source Serif Pro" pitchFamily="34" charset="0"/>
                    <a:ea typeface="Source Serif Pro" pitchFamily="34" charset="-122"/>
                    <a:cs typeface="Source Serif Pro" pitchFamily="34" charset="-120"/>
                  </a:rPr>
                  <a:t>: Observation Error Vector, </a:t>
                </a:r>
                <a14:m>
                  <m:oMath xmlns:m="http://schemas.openxmlformats.org/officeDocument/2006/math">
                    <m:sSub>
                      <m:sSubPr>
                        <m:ctrlPr>
                          <a:rPr lang="en-US" sz="1550" b="0" i="1" smtClean="0">
                            <a:solidFill>
                              <a:srgbClr val="504C49"/>
                            </a:solidFill>
                            <a:latin typeface="Cambria Math" panose="02040503050406030204" pitchFamily="18" charset="0"/>
                            <a:ea typeface="Source Serif Pro" pitchFamily="34" charset="-122"/>
                            <a:cs typeface="Source Serif Pro" pitchFamily="34" charset="-120"/>
                          </a:rPr>
                        </m:ctrlPr>
                      </m:sSubPr>
                      <m:e>
                        <m:r>
                          <a:rPr lang="en-US" sz="1550" b="0" i="1" smtClean="0">
                            <a:solidFill>
                              <a:srgbClr val="504C49"/>
                            </a:solidFill>
                            <a:latin typeface="Cambria Math" panose="02040503050406030204" pitchFamily="18" charset="0"/>
                            <a:ea typeface="Source Serif Pro" pitchFamily="34" charset="-122"/>
                            <a:cs typeface="Source Serif Pro" pitchFamily="34" charset="-120"/>
                          </a:rPr>
                          <m:t>𝑢</m:t>
                        </m:r>
                      </m:e>
                      <m:sub>
                        <m:r>
                          <a:rPr lang="en-US" sz="1550" b="0" i="1" smtClean="0">
                            <a:solidFill>
                              <a:srgbClr val="504C49"/>
                            </a:solidFill>
                            <a:latin typeface="Cambria Math" panose="02040503050406030204" pitchFamily="18" charset="0"/>
                            <a:ea typeface="Source Serif Pro" pitchFamily="34" charset="-122"/>
                            <a:cs typeface="Source Serif Pro" pitchFamily="34" charset="-120"/>
                          </a:rPr>
                          <m:t>𝑡</m:t>
                        </m:r>
                      </m:sub>
                    </m:sSub>
                    <m:r>
                      <a:rPr lang="en-US" sz="1550" b="0" i="1" smtClean="0">
                        <a:solidFill>
                          <a:srgbClr val="504C49"/>
                        </a:solidFill>
                        <a:latin typeface="Cambria Math" panose="02040503050406030204" pitchFamily="18" charset="0"/>
                        <a:ea typeface="Source Serif Pro" pitchFamily="34" charset="-122"/>
                        <a:cs typeface="Source Serif Pro" pitchFamily="34" charset="-120"/>
                      </a:rPr>
                      <m:t>∼</m:t>
                    </m:r>
                    <m:r>
                      <a:rPr lang="en-US" sz="1550" b="0" i="1" smtClean="0">
                        <a:solidFill>
                          <a:srgbClr val="504C49"/>
                        </a:solidFill>
                        <a:latin typeface="Cambria Math" panose="02040503050406030204" pitchFamily="18" charset="0"/>
                        <a:ea typeface="Source Serif Pro" pitchFamily="34" charset="-122"/>
                        <a:cs typeface="Source Serif Pro" pitchFamily="34" charset="-120"/>
                      </a:rPr>
                      <m:t>𝑀𝑉𝑁</m:t>
                    </m:r>
                    <m:r>
                      <a:rPr lang="en-US" sz="1550" b="0" i="1" smtClean="0">
                        <a:solidFill>
                          <a:srgbClr val="504C49"/>
                        </a:solidFill>
                        <a:latin typeface="Cambria Math" panose="02040503050406030204" pitchFamily="18" charset="0"/>
                        <a:ea typeface="Source Serif Pro" pitchFamily="34" charset="-122"/>
                        <a:cs typeface="Source Serif Pro" pitchFamily="34" charset="-120"/>
                      </a:rPr>
                      <m:t>(0, </m:t>
                    </m:r>
                    <m:sSub>
                      <m:sSubPr>
                        <m:ctrlPr>
                          <a:rPr lang="en-US" sz="1550" b="0" i="1" smtClean="0">
                            <a:solidFill>
                              <a:srgbClr val="504C49"/>
                            </a:solidFill>
                            <a:latin typeface="Cambria Math" panose="02040503050406030204" pitchFamily="18" charset="0"/>
                            <a:ea typeface="Source Serif Pro" pitchFamily="34" charset="-122"/>
                            <a:cs typeface="Source Serif Pro" pitchFamily="34" charset="-120"/>
                          </a:rPr>
                        </m:ctrlPr>
                      </m:sSubPr>
                      <m:e>
                        <m:r>
                          <m:rPr>
                            <m:sty m:val="p"/>
                          </m:rPr>
                          <a:rPr lang="en-US" sz="1550" b="0" i="0" smtClean="0">
                            <a:solidFill>
                              <a:srgbClr val="504C49"/>
                            </a:solidFill>
                            <a:latin typeface="Cambria Math" panose="02040503050406030204" pitchFamily="18" charset="0"/>
                            <a:ea typeface="Source Serif Pro" pitchFamily="34" charset="-122"/>
                            <a:cs typeface="Source Serif Pro" pitchFamily="34" charset="-120"/>
                          </a:rPr>
                          <m:t>Ω</m:t>
                        </m:r>
                      </m:e>
                      <m:sub>
                        <m:r>
                          <a:rPr lang="en-US" sz="1550" b="0" i="1" smtClean="0">
                            <a:solidFill>
                              <a:srgbClr val="504C49"/>
                            </a:solidFill>
                            <a:latin typeface="Cambria Math" panose="02040503050406030204" pitchFamily="18" charset="0"/>
                            <a:ea typeface="Source Serif Pro" pitchFamily="34" charset="-122"/>
                            <a:cs typeface="Source Serif Pro" pitchFamily="34" charset="-120"/>
                          </a:rPr>
                          <m:t>𝑡</m:t>
                        </m:r>
                      </m:sub>
                    </m:sSub>
                    <m:r>
                      <a:rPr lang="en-US" sz="1550" b="0" i="1" smtClean="0">
                        <a:solidFill>
                          <a:srgbClr val="504C49"/>
                        </a:solidFill>
                        <a:latin typeface="Cambria Math" panose="02040503050406030204" pitchFamily="18" charset="0"/>
                        <a:ea typeface="Source Serif Pro" pitchFamily="34" charset="-122"/>
                        <a:cs typeface="Source Serif Pro" pitchFamily="34" charset="-120"/>
                      </a:rPr>
                      <m:t>)</m:t>
                    </m:r>
                  </m:oMath>
                </a14:m>
                <a:r>
                  <a:rPr lang="en-US" sz="1550" dirty="0">
                    <a:solidFill>
                      <a:srgbClr val="504C49"/>
                    </a:solidFill>
                    <a:latin typeface="Source Serif Pro" pitchFamily="34" charset="0"/>
                    <a:ea typeface="Source Serif Pro" pitchFamily="34" charset="-122"/>
                    <a:cs typeface="Source Serif Pro" pitchFamily="34" charset="-120"/>
                  </a:rPr>
                  <a:t>, </a:t>
                </a:r>
              </a:p>
              <a:p>
                <a:pPr>
                  <a:lnSpc>
                    <a:spcPts val="2500"/>
                  </a:lnSpc>
                </a:pPr>
                <a:endParaRPr lang="en-US" sz="1550" dirty="0">
                  <a:solidFill>
                    <a:srgbClr val="504C49"/>
                  </a:solidFill>
                  <a:latin typeface="Source Serif Pro" pitchFamily="34" charset="0"/>
                  <a:ea typeface="Source Serif Pro" pitchFamily="34" charset="-122"/>
                  <a:cs typeface="Source Serif Pro" pitchFamily="34" charset="-120"/>
                </a:endParaRPr>
              </a:p>
              <a:p>
                <a:pPr>
                  <a:lnSpc>
                    <a:spcPts val="2500"/>
                  </a:lnSpc>
                </a:pPr>
                <a:endParaRPr lang="en-US" sz="1550" dirty="0">
                  <a:solidFill>
                    <a:srgbClr val="504C49"/>
                  </a:solidFill>
                  <a:latin typeface="Source Serif Pro" pitchFamily="34" charset="0"/>
                  <a:ea typeface="Source Serif Pro" pitchFamily="34" charset="-122"/>
                  <a:cs typeface="Source Serif Pro" pitchFamily="34" charset="-120"/>
                </a:endParaRPr>
              </a:p>
              <a:p>
                <a:pPr>
                  <a:lnSpc>
                    <a:spcPts val="2500"/>
                  </a:lnSpc>
                </a:pPr>
                <a:r>
                  <a:rPr lang="en-US" sz="1550" dirty="0">
                    <a:solidFill>
                      <a:srgbClr val="504C49"/>
                    </a:solidFill>
                    <a:latin typeface="Source Serif Pro" pitchFamily="34" charset="0"/>
                    <a:ea typeface="Source Serif Pro" pitchFamily="34" charset="-122"/>
                    <a:cs typeface="Source Serif Pro" pitchFamily="34" charset="-120"/>
                  </a:rPr>
                  <a:t> </a:t>
                </a:r>
                <a:endParaRPr lang="en-US" sz="1550" dirty="0"/>
              </a:p>
            </p:txBody>
          </p:sp>
        </mc:Choice>
        <mc:Fallback xmlns="">
          <p:sp>
            <p:nvSpPr>
              <p:cNvPr id="5" name="Text 2">
                <a:extLst>
                  <a:ext uri="{FF2B5EF4-FFF2-40B4-BE49-F238E27FC236}">
                    <a16:creationId xmlns:a16="http://schemas.microsoft.com/office/drawing/2014/main" id="{AAA4D2F7-B807-D0D7-6802-AE3926D39B73}"/>
                  </a:ext>
                </a:extLst>
              </p:cNvPr>
              <p:cNvSpPr>
                <a:spLocks noRot="1" noChangeAspect="1" noMove="1" noResize="1" noEditPoints="1" noAdjustHandles="1" noChangeArrowheads="1" noChangeShapeType="1" noTextEdit="1"/>
              </p:cNvSpPr>
              <p:nvPr/>
            </p:nvSpPr>
            <p:spPr>
              <a:xfrm>
                <a:off x="1351002" y="4607927"/>
                <a:ext cx="12388810" cy="2888248"/>
              </a:xfrm>
              <a:prstGeom prst="rect">
                <a:avLst/>
              </a:prstGeom>
              <a:blipFill>
                <a:blip r:embed="rId4"/>
                <a:stretch>
                  <a:fillRect l="-738" t="-211"/>
                </a:stretch>
              </a:blipFill>
              <a:ln/>
            </p:spPr>
            <p:txBody>
              <a:bodyPr/>
              <a:lstStyle/>
              <a:p>
                <a:r>
                  <a:rPr lang="ko-KR" altLang="en-US">
                    <a:noFill/>
                  </a:rPr>
                  <a:t> </a:t>
                </a:r>
              </a:p>
            </p:txBody>
          </p:sp>
        </mc:Fallback>
      </mc:AlternateContent>
      <p:sp>
        <p:nvSpPr>
          <p:cNvPr id="7" name="Text 4">
            <a:extLst>
              <a:ext uri="{FF2B5EF4-FFF2-40B4-BE49-F238E27FC236}">
                <a16:creationId xmlns:a16="http://schemas.microsoft.com/office/drawing/2014/main" id="{237FAE1B-9CA3-7396-54D2-0AA76A13BEA2}"/>
              </a:ext>
            </a:extLst>
          </p:cNvPr>
          <p:cNvSpPr/>
          <p:nvPr/>
        </p:nvSpPr>
        <p:spPr>
          <a:xfrm>
            <a:off x="704850" y="2872830"/>
            <a:ext cx="12288798" cy="1587698"/>
          </a:xfrm>
          <a:prstGeom prst="rect">
            <a:avLst/>
          </a:prstGeom>
          <a:noFill/>
          <a:ln/>
        </p:spPr>
        <p:txBody>
          <a:bodyPr wrap="square" lIns="0" tIns="0" rIns="0" bIns="0" rtlCol="0" anchor="t"/>
          <a:lstStyle/>
          <a:p>
            <a:pPr marL="0" indent="0" algn="l">
              <a:lnSpc>
                <a:spcPts val="2500"/>
              </a:lnSpc>
              <a:buNone/>
            </a:pPr>
            <a:r>
              <a:rPr lang="en-US" sz="1550" dirty="0">
                <a:solidFill>
                  <a:srgbClr val="504C49"/>
                </a:solidFill>
                <a:latin typeface="Source Serif Pro" pitchFamily="34" charset="0"/>
                <a:ea typeface="Source Serif Pro" pitchFamily="34" charset="-122"/>
                <a:cs typeface="Source Serif Pro" pitchFamily="34" charset="-120"/>
              </a:rPr>
              <a:t>We have a small dataset (only 9 years return for two portfolios). With the Hierarchical Bayesian Modeling, we can borrow the information</a:t>
            </a:r>
            <a:br>
              <a:rPr lang="en-US" sz="1550" dirty="0">
                <a:solidFill>
                  <a:srgbClr val="504C49"/>
                </a:solidFill>
                <a:latin typeface="Source Serif Pro" pitchFamily="34" charset="0"/>
                <a:ea typeface="Source Serif Pro" pitchFamily="34" charset="-122"/>
                <a:cs typeface="Source Serif Pro" pitchFamily="34" charset="-120"/>
              </a:rPr>
            </a:br>
            <a:r>
              <a:rPr lang="en-US" sz="1550" dirty="0">
                <a:solidFill>
                  <a:srgbClr val="504C49"/>
                </a:solidFill>
                <a:latin typeface="Source Serif Pro" pitchFamily="34" charset="0"/>
                <a:ea typeface="Source Serif Pro" pitchFamily="34" charset="-122"/>
                <a:cs typeface="Source Serif Pro" pitchFamily="34" charset="-120"/>
              </a:rPr>
              <a:t>from another portfolio and make stable the result.</a:t>
            </a:r>
            <a:endParaRPr lang="en-US" sz="1550" dirty="0"/>
          </a:p>
        </p:txBody>
      </p:sp>
    </p:spTree>
    <p:extLst>
      <p:ext uri="{BB962C8B-B14F-4D97-AF65-F5344CB8AC3E}">
        <p14:creationId xmlns:p14="http://schemas.microsoft.com/office/powerpoint/2010/main" val="15433193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1F6B4E-EEE7-6482-0FF1-F70B334B1243}"/>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B5E8CB5E-8514-B6FB-D070-40F54B4C7299}"/>
              </a:ext>
            </a:extLst>
          </p:cNvPr>
          <p:cNvSpPr/>
          <p:nvPr/>
        </p:nvSpPr>
        <p:spPr>
          <a:xfrm>
            <a:off x="749319" y="361950"/>
            <a:ext cx="13131761" cy="1240155"/>
          </a:xfrm>
          <a:prstGeom prst="rect">
            <a:avLst/>
          </a:prstGeom>
          <a:noFill/>
          <a:ln/>
        </p:spPr>
        <p:txBody>
          <a:bodyPr wrap="square" lIns="0" tIns="0" rIns="0" bIns="0" rtlCol="0" anchor="t"/>
          <a:lstStyle/>
          <a:p>
            <a:pPr marL="0" indent="0" algn="l">
              <a:lnSpc>
                <a:spcPts val="4850"/>
              </a:lnSpc>
              <a:buNone/>
            </a:pPr>
            <a:r>
              <a:rPr lang="en-US" sz="3900" dirty="0">
                <a:solidFill>
                  <a:srgbClr val="201B18"/>
                </a:solidFill>
                <a:latin typeface="Platypi Medium" pitchFamily="34" charset="0"/>
                <a:ea typeface="Platypi Medium" pitchFamily="34" charset="-122"/>
                <a:cs typeface="Platypi Medium" pitchFamily="34" charset="-120"/>
              </a:rPr>
              <a:t>Exercise: </a:t>
            </a:r>
          </a:p>
          <a:p>
            <a:pPr marL="0" indent="0" algn="l">
              <a:lnSpc>
                <a:spcPts val="4850"/>
              </a:lnSpc>
              <a:buNone/>
            </a:pPr>
            <a:r>
              <a:rPr lang="en-US" sz="3900" dirty="0">
                <a:solidFill>
                  <a:srgbClr val="201B18"/>
                </a:solidFill>
                <a:latin typeface="Platypi Medium" pitchFamily="34" charset="0"/>
                <a:ea typeface="Platypi Medium" pitchFamily="34" charset="-122"/>
                <a:cs typeface="Platypi Medium" pitchFamily="34" charset="-120"/>
              </a:rPr>
              <a:t>3. Prior Settings for the TVP-VAR Model</a:t>
            </a:r>
            <a:endParaRPr lang="en-US" sz="3900" dirty="0"/>
          </a:p>
        </p:txBody>
      </p:sp>
      <p:sp>
        <p:nvSpPr>
          <p:cNvPr id="13" name="직사각형 12">
            <a:extLst>
              <a:ext uri="{FF2B5EF4-FFF2-40B4-BE49-F238E27FC236}">
                <a16:creationId xmlns:a16="http://schemas.microsoft.com/office/drawing/2014/main" id="{33089592-113A-276C-A611-5BF842BE5ED3}"/>
              </a:ext>
            </a:extLst>
          </p:cNvPr>
          <p:cNvSpPr/>
          <p:nvPr/>
        </p:nvSpPr>
        <p:spPr>
          <a:xfrm>
            <a:off x="12849225" y="7790974"/>
            <a:ext cx="1781175" cy="51482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altLang="ko-KR" dirty="0">
                <a:solidFill>
                  <a:schemeClr val="tx1"/>
                </a:solidFill>
                <a:latin typeface="Platypi Medium" panose="020B0600000101010101" charset="0"/>
                <a:cs typeface="Platypi Medium" panose="020B0600000101010101" charset="0"/>
              </a:rPr>
              <a:t>KFAC</a:t>
            </a:r>
            <a:endParaRPr lang="ko-KR" altLang="en-US" dirty="0">
              <a:solidFill>
                <a:schemeClr val="tx1"/>
              </a:solidFill>
              <a:latin typeface="Platypi Medium" panose="020B0600000101010101" charset="0"/>
              <a:cs typeface="Platypi Medium" panose="020B0600000101010101" charset="0"/>
            </a:endParaRPr>
          </a:p>
        </p:txBody>
      </p:sp>
      <p:sp>
        <p:nvSpPr>
          <p:cNvPr id="5" name="Text 2">
            <a:extLst>
              <a:ext uri="{FF2B5EF4-FFF2-40B4-BE49-F238E27FC236}">
                <a16:creationId xmlns:a16="http://schemas.microsoft.com/office/drawing/2014/main" id="{28DC8CAF-36C7-3471-35EC-298A6B115654}"/>
              </a:ext>
            </a:extLst>
          </p:cNvPr>
          <p:cNvSpPr/>
          <p:nvPr/>
        </p:nvSpPr>
        <p:spPr>
          <a:xfrm>
            <a:off x="1327190" y="5074652"/>
            <a:ext cx="12388810" cy="2888248"/>
          </a:xfrm>
          <a:prstGeom prst="rect">
            <a:avLst/>
          </a:prstGeom>
          <a:noFill/>
          <a:ln/>
        </p:spPr>
        <p:txBody>
          <a:bodyPr wrap="square" lIns="0" tIns="0" rIns="0" bIns="0" rtlCol="0" anchor="t"/>
          <a:lstStyle/>
          <a:p>
            <a:pPr>
              <a:lnSpc>
                <a:spcPts val="2500"/>
              </a:lnSpc>
            </a:pPr>
            <a:endParaRPr lang="en-US" sz="1550" dirty="0">
              <a:solidFill>
                <a:srgbClr val="504C49"/>
              </a:solidFill>
              <a:latin typeface="Source Serif Pro" pitchFamily="34" charset="0"/>
              <a:ea typeface="Source Serif Pro" pitchFamily="34" charset="-122"/>
              <a:cs typeface="Source Serif Pro" pitchFamily="34" charset="-120"/>
            </a:endParaRPr>
          </a:p>
          <a:p>
            <a:pPr>
              <a:lnSpc>
                <a:spcPts val="2500"/>
              </a:lnSpc>
            </a:pPr>
            <a:r>
              <a:rPr lang="en-US" sz="1550" dirty="0">
                <a:solidFill>
                  <a:srgbClr val="504C49"/>
                </a:solidFill>
                <a:latin typeface="Source Serif Pro" pitchFamily="34" charset="0"/>
                <a:ea typeface="Source Serif Pro" pitchFamily="34" charset="-122"/>
                <a:cs typeface="Source Serif Pro" pitchFamily="34" charset="-120"/>
              </a:rPr>
              <a:t> </a:t>
            </a:r>
            <a:endParaRPr lang="en-US" sz="1550" dirty="0"/>
          </a:p>
        </p:txBody>
      </p:sp>
      <mc:AlternateContent xmlns:mc="http://schemas.openxmlformats.org/markup-compatibility/2006" xmlns:a14="http://schemas.microsoft.com/office/drawing/2010/main">
        <mc:Choice Requires="a14">
          <p:sp>
            <p:nvSpPr>
              <p:cNvPr id="2" name="Text 4">
                <a:extLst>
                  <a:ext uri="{FF2B5EF4-FFF2-40B4-BE49-F238E27FC236}">
                    <a16:creationId xmlns:a16="http://schemas.microsoft.com/office/drawing/2014/main" id="{46CAA036-4DD7-E459-184E-A0A91DB15BFF}"/>
                  </a:ext>
                </a:extLst>
              </p:cNvPr>
              <p:cNvSpPr/>
              <p:nvPr/>
            </p:nvSpPr>
            <p:spPr>
              <a:xfrm>
                <a:off x="749319" y="1639804"/>
                <a:ext cx="13725526" cy="6408583"/>
              </a:xfrm>
              <a:prstGeom prst="rect">
                <a:avLst/>
              </a:prstGeom>
              <a:noFill/>
              <a:ln/>
            </p:spPr>
            <p:txBody>
              <a:bodyPr wrap="square" lIns="0" tIns="0" rIns="0" bIns="0" rtlCol="0" anchor="t"/>
              <a:lstStyle/>
              <a:p>
                <a:pPr>
                  <a:lnSpc>
                    <a:spcPts val="2500"/>
                  </a:lnSpc>
                </a:pPr>
                <a:r>
                  <a:rPr lang="en-US" sz="1550" dirty="0">
                    <a:solidFill>
                      <a:srgbClr val="FF0000"/>
                    </a:solidFill>
                    <a:latin typeface="Source Serif Pro" pitchFamily="34" charset="0"/>
                    <a:ea typeface="Source Serif Pro" pitchFamily="34" charset="-122"/>
                    <a:cs typeface="Source Serif Pro" pitchFamily="34" charset="-120"/>
                  </a:rPr>
                  <a:t>Initial TVP</a:t>
                </a:r>
                <a:r>
                  <a:rPr lang="en-US" sz="1550" dirty="0">
                    <a:solidFill>
                      <a:srgbClr val="504C49"/>
                    </a:solidFill>
                    <a:latin typeface="Source Serif Pro" pitchFamily="34" charset="0"/>
                    <a:ea typeface="Source Serif Pro" pitchFamily="34" charset="-122"/>
                    <a:cs typeface="Source Serif Pro" pitchFamily="34" charset="-120"/>
                  </a:rPr>
                  <a:t>:  </a:t>
                </a:r>
                <a14:m>
                  <m:oMath xmlns:m="http://schemas.openxmlformats.org/officeDocument/2006/math">
                    <m:sSub>
                      <m:sSubPr>
                        <m:ctrlPr>
                          <a:rPr lang="en-US" sz="1550" b="0" i="1" smtClean="0">
                            <a:solidFill>
                              <a:srgbClr val="504C49"/>
                            </a:solidFill>
                            <a:latin typeface="Cambria Math" panose="02040503050406030204" pitchFamily="18" charset="0"/>
                            <a:ea typeface="Source Serif Pro" pitchFamily="34" charset="-122"/>
                            <a:cs typeface="Source Serif Pro" pitchFamily="34" charset="-120"/>
                          </a:rPr>
                        </m:ctrlPr>
                      </m:sSubPr>
                      <m:e>
                        <m:r>
                          <a:rPr lang="en-US" sz="1550" b="0" i="1" smtClean="0">
                            <a:solidFill>
                              <a:srgbClr val="504C49"/>
                            </a:solidFill>
                            <a:latin typeface="Cambria Math" panose="02040503050406030204" pitchFamily="18" charset="0"/>
                            <a:ea typeface="Source Serif Pro" pitchFamily="34" charset="-122"/>
                            <a:cs typeface="Source Serif Pro" pitchFamily="34" charset="-120"/>
                          </a:rPr>
                          <m:t>𝛽</m:t>
                        </m:r>
                      </m:e>
                      <m:sub>
                        <m:r>
                          <a:rPr lang="en-US" sz="1550" b="0" i="1" smtClean="0">
                            <a:solidFill>
                              <a:srgbClr val="504C49"/>
                            </a:solidFill>
                            <a:latin typeface="Cambria Math" panose="02040503050406030204" pitchFamily="18" charset="0"/>
                            <a:ea typeface="Source Serif Pro" pitchFamily="34" charset="-122"/>
                            <a:cs typeface="Source Serif Pro" pitchFamily="34" charset="-120"/>
                          </a:rPr>
                          <m:t>0</m:t>
                        </m:r>
                      </m:sub>
                    </m:sSub>
                    <m:r>
                      <a:rPr lang="en-US" sz="1550" b="0" i="1" smtClean="0">
                        <a:solidFill>
                          <a:srgbClr val="504C49"/>
                        </a:solidFill>
                        <a:latin typeface="Cambria Math" panose="02040503050406030204" pitchFamily="18" charset="0"/>
                        <a:ea typeface="Source Serif Pro" pitchFamily="34" charset="-122"/>
                        <a:cs typeface="Source Serif Pro" pitchFamily="34" charset="-120"/>
                      </a:rPr>
                      <m:t>∼</m:t>
                    </m:r>
                    <m:r>
                      <a:rPr lang="en-US" sz="1550" b="0" i="1" smtClean="0">
                        <a:solidFill>
                          <a:srgbClr val="504C49"/>
                        </a:solidFill>
                        <a:latin typeface="Cambria Math" panose="02040503050406030204" pitchFamily="18" charset="0"/>
                        <a:ea typeface="Source Serif Pro" pitchFamily="34" charset="-122"/>
                        <a:cs typeface="Source Serif Pro" pitchFamily="34" charset="-120"/>
                      </a:rPr>
                      <m:t>𝑁</m:t>
                    </m:r>
                    <m:d>
                      <m:dPr>
                        <m:ctrlPr>
                          <a:rPr lang="en-US" sz="1550" b="0" i="1" smtClean="0">
                            <a:solidFill>
                              <a:srgbClr val="504C49"/>
                            </a:solidFill>
                            <a:latin typeface="Cambria Math" panose="02040503050406030204" pitchFamily="18" charset="0"/>
                            <a:ea typeface="Source Serif Pro" pitchFamily="34" charset="-122"/>
                            <a:cs typeface="Source Serif Pro" pitchFamily="34" charset="-120"/>
                          </a:rPr>
                        </m:ctrlPr>
                      </m:dPr>
                      <m:e>
                        <m:r>
                          <a:rPr lang="en-US" sz="1550" b="0" i="1" smtClean="0">
                            <a:solidFill>
                              <a:srgbClr val="504C49"/>
                            </a:solidFill>
                            <a:latin typeface="Cambria Math" panose="02040503050406030204" pitchFamily="18" charset="0"/>
                            <a:ea typeface="Source Serif Pro" pitchFamily="34" charset="-122"/>
                            <a:cs typeface="Source Serif Pro" pitchFamily="34" charset="-120"/>
                          </a:rPr>
                          <m:t>0,10×</m:t>
                        </m:r>
                        <m:sSub>
                          <m:sSubPr>
                            <m:ctrlPr>
                              <a:rPr lang="en-US" sz="1550" b="0" i="1" smtClean="0">
                                <a:solidFill>
                                  <a:srgbClr val="504C49"/>
                                </a:solidFill>
                                <a:latin typeface="Cambria Math" panose="02040503050406030204" pitchFamily="18" charset="0"/>
                                <a:ea typeface="Source Serif Pro" pitchFamily="34" charset="-122"/>
                                <a:cs typeface="Source Serif Pro" pitchFamily="34" charset="-120"/>
                              </a:rPr>
                            </m:ctrlPr>
                          </m:sSubPr>
                          <m:e>
                            <m:r>
                              <a:rPr lang="en-US" sz="1550" b="0" i="1" smtClean="0">
                                <a:solidFill>
                                  <a:srgbClr val="504C49"/>
                                </a:solidFill>
                                <a:latin typeface="Cambria Math" panose="02040503050406030204" pitchFamily="18" charset="0"/>
                                <a:ea typeface="Source Serif Pro" pitchFamily="34" charset="-122"/>
                                <a:cs typeface="Source Serif Pro" pitchFamily="34" charset="-120"/>
                              </a:rPr>
                              <m:t>𝐼</m:t>
                            </m:r>
                          </m:e>
                          <m:sub>
                            <m:r>
                              <a:rPr lang="en-US" sz="1550" b="0" i="1" smtClean="0">
                                <a:solidFill>
                                  <a:srgbClr val="504C49"/>
                                </a:solidFill>
                                <a:latin typeface="Cambria Math" panose="02040503050406030204" pitchFamily="18" charset="0"/>
                                <a:ea typeface="Source Serif Pro" pitchFamily="34" charset="-122"/>
                                <a:cs typeface="Source Serif Pro" pitchFamily="34" charset="-120"/>
                              </a:rPr>
                              <m:t>6</m:t>
                            </m:r>
                          </m:sub>
                        </m:sSub>
                      </m:e>
                    </m:d>
                  </m:oMath>
                </a14:m>
                <a:r>
                  <a:rPr lang="en-US" altLang="ko-KR" sz="1550" b="0" dirty="0">
                    <a:solidFill>
                      <a:srgbClr val="504C49"/>
                    </a:solidFill>
                    <a:latin typeface="Source Serif Pro" pitchFamily="34" charset="0"/>
                    <a:ea typeface="Source Serif Pro" pitchFamily="34" charset="-122"/>
                  </a:rPr>
                  <a:t>, weak belief of the initial </a:t>
                </a:r>
                <a:r>
                  <a:rPr lang="en-US" altLang="ko-KR" sz="1550" dirty="0">
                    <a:solidFill>
                      <a:srgbClr val="504C49"/>
                    </a:solidFill>
                    <a:latin typeface="Source Serif Pro" pitchFamily="34" charset="0"/>
                    <a:ea typeface="Source Serif Pro" pitchFamily="34" charset="-122"/>
                  </a:rPr>
                  <a:t>state.</a:t>
                </a:r>
                <a:br>
                  <a:rPr lang="en-US" altLang="ko-KR" sz="1550" dirty="0">
                    <a:solidFill>
                      <a:srgbClr val="504C49"/>
                    </a:solidFill>
                    <a:latin typeface="Source Serif Pro" pitchFamily="34" charset="0"/>
                    <a:ea typeface="Source Serif Pro" pitchFamily="34" charset="-122"/>
                  </a:rPr>
                </a:br>
                <a:r>
                  <a:rPr lang="en-US" altLang="ko-KR" sz="1550" dirty="0">
                    <a:solidFill>
                      <a:srgbClr val="504C49"/>
                    </a:solidFill>
                    <a:latin typeface="Source Serif Pro" pitchFamily="34" charset="0"/>
                    <a:ea typeface="Source Serif Pro" pitchFamily="34" charset="-122"/>
                  </a:rPr>
                  <a:t>Since there are no training samples, we center them around 0 to reflect the lack of prior knowledge about a particular direction. </a:t>
                </a:r>
              </a:p>
              <a:p>
                <a:pPr>
                  <a:lnSpc>
                    <a:spcPts val="2500"/>
                  </a:lnSpc>
                </a:pPr>
                <a:r>
                  <a:rPr lang="en-US" altLang="ko-KR" sz="1550" dirty="0">
                    <a:solidFill>
                      <a:srgbClr val="504C49"/>
                    </a:solidFill>
                    <a:latin typeface="Source Serif Pro" pitchFamily="34" charset="0"/>
                    <a:ea typeface="Source Serif Pro" pitchFamily="34" charset="-122"/>
                  </a:rPr>
                  <a:t>The variance is set to be weakly informative to allow for initial uncertainty, but flat to avoid estimation instability that would otherwise occur.</a:t>
                </a:r>
                <a:endParaRPr lang="en-US" altLang="ko-KR" sz="1550" b="0" dirty="0">
                  <a:solidFill>
                    <a:srgbClr val="504C49"/>
                  </a:solidFill>
                  <a:latin typeface="Source Serif Pro" pitchFamily="34" charset="0"/>
                  <a:ea typeface="Source Serif Pro" pitchFamily="34" charset="-122"/>
                </a:endParaRPr>
              </a:p>
              <a:p>
                <a:pPr marL="0" indent="0" algn="l">
                  <a:lnSpc>
                    <a:spcPts val="2500"/>
                  </a:lnSpc>
                  <a:buNone/>
                </a:pPr>
                <a:endParaRPr lang="en-US" altLang="ko-KR" sz="1550" dirty="0">
                  <a:solidFill>
                    <a:srgbClr val="504C49"/>
                  </a:solidFill>
                  <a:latin typeface="Source Serif Pro" pitchFamily="34" charset="0"/>
                  <a:ea typeface="Source Serif Pro" pitchFamily="34" charset="-122"/>
                </a:endParaRPr>
              </a:p>
              <a:p>
                <a:pPr marL="0" indent="0" algn="l">
                  <a:lnSpc>
                    <a:spcPts val="2500"/>
                  </a:lnSpc>
                  <a:buNone/>
                </a:pPr>
                <a:r>
                  <a:rPr lang="en-US" altLang="ko-KR" sz="1550" dirty="0">
                    <a:solidFill>
                      <a:srgbClr val="FF0000"/>
                    </a:solidFill>
                    <a:latin typeface="Source Serif Pro" pitchFamily="34" charset="0"/>
                    <a:ea typeface="Source Serif Pro" pitchFamily="34" charset="-122"/>
                  </a:rPr>
                  <a:t>State Innovation Vector</a:t>
                </a:r>
                <a:r>
                  <a:rPr lang="en-US" altLang="ko-KR" sz="1550" dirty="0">
                    <a:solidFill>
                      <a:srgbClr val="504C49"/>
                    </a:solidFill>
                    <a:latin typeface="Source Serif Pro" pitchFamily="34" charset="0"/>
                    <a:ea typeface="Source Serif Pro" pitchFamily="34" charset="-122"/>
                  </a:rPr>
                  <a:t>: </a:t>
                </a:r>
                <a14:m>
                  <m:oMath xmlns:m="http://schemas.openxmlformats.org/officeDocument/2006/math">
                    <m:sSub>
                      <m:sSubPr>
                        <m:ctrlPr>
                          <a:rPr lang="en-US" altLang="ko-KR" sz="1550" b="0" i="1" smtClean="0">
                            <a:solidFill>
                              <a:srgbClr val="504C49"/>
                            </a:solidFill>
                            <a:latin typeface="Cambria Math" panose="02040503050406030204" pitchFamily="18" charset="0"/>
                            <a:ea typeface="Source Serif Pro" pitchFamily="34" charset="-122"/>
                          </a:rPr>
                        </m:ctrlPr>
                      </m:sSubPr>
                      <m:e>
                        <m:r>
                          <a:rPr lang="en-US" altLang="ko-KR" sz="1550" b="0" i="1" smtClean="0">
                            <a:solidFill>
                              <a:srgbClr val="504C49"/>
                            </a:solidFill>
                            <a:latin typeface="Cambria Math" panose="02040503050406030204" pitchFamily="18" charset="0"/>
                            <a:ea typeface="Source Serif Pro" pitchFamily="34" charset="-122"/>
                          </a:rPr>
                          <m:t>𝑣</m:t>
                        </m:r>
                      </m:e>
                      <m:sub>
                        <m:r>
                          <a:rPr lang="en-US" altLang="ko-KR" sz="1550" b="0" i="1" smtClean="0">
                            <a:solidFill>
                              <a:srgbClr val="504C49"/>
                            </a:solidFill>
                            <a:latin typeface="Cambria Math" panose="02040503050406030204" pitchFamily="18" charset="0"/>
                            <a:ea typeface="Source Serif Pro" pitchFamily="34" charset="-122"/>
                          </a:rPr>
                          <m:t>𝑡</m:t>
                        </m:r>
                      </m:sub>
                    </m:sSub>
                    <m:r>
                      <a:rPr lang="en-US" altLang="ko-KR" sz="1550" b="0" i="1" smtClean="0">
                        <a:solidFill>
                          <a:srgbClr val="504C49"/>
                        </a:solidFill>
                        <a:latin typeface="Cambria Math" panose="02040503050406030204" pitchFamily="18" charset="0"/>
                        <a:ea typeface="Source Serif Pro" pitchFamily="34" charset="-122"/>
                      </a:rPr>
                      <m:t>∼</m:t>
                    </m:r>
                    <m:r>
                      <a:rPr lang="en-US" altLang="ko-KR" sz="1550" b="0" i="1" smtClean="0">
                        <a:solidFill>
                          <a:srgbClr val="504C49"/>
                        </a:solidFill>
                        <a:latin typeface="Cambria Math" panose="02040503050406030204" pitchFamily="18" charset="0"/>
                        <a:ea typeface="Source Serif Pro" pitchFamily="34" charset="-122"/>
                      </a:rPr>
                      <m:t>𝑁</m:t>
                    </m:r>
                    <m:d>
                      <m:dPr>
                        <m:ctrlPr>
                          <a:rPr lang="en-US" altLang="ko-KR" sz="1550" b="0" i="1" smtClean="0">
                            <a:solidFill>
                              <a:srgbClr val="504C49"/>
                            </a:solidFill>
                            <a:latin typeface="Cambria Math" panose="02040503050406030204" pitchFamily="18" charset="0"/>
                            <a:ea typeface="Source Serif Pro" pitchFamily="34" charset="-122"/>
                          </a:rPr>
                        </m:ctrlPr>
                      </m:dPr>
                      <m:e>
                        <m:r>
                          <a:rPr lang="en-US" altLang="ko-KR" sz="1550" b="0" i="1" smtClean="0">
                            <a:solidFill>
                              <a:srgbClr val="504C49"/>
                            </a:solidFill>
                            <a:latin typeface="Cambria Math" panose="02040503050406030204" pitchFamily="18" charset="0"/>
                            <a:ea typeface="Source Serif Pro" pitchFamily="34" charset="-122"/>
                          </a:rPr>
                          <m:t>0,</m:t>
                        </m:r>
                        <m:r>
                          <a:rPr lang="en-US" altLang="ko-KR" sz="1550" b="0" i="1" smtClean="0">
                            <a:solidFill>
                              <a:srgbClr val="504C49"/>
                            </a:solidFill>
                            <a:latin typeface="Cambria Math" panose="02040503050406030204" pitchFamily="18" charset="0"/>
                            <a:ea typeface="Source Serif Pro" pitchFamily="34" charset="-122"/>
                          </a:rPr>
                          <m:t>𝑄</m:t>
                        </m:r>
                      </m:e>
                    </m:d>
                    <m:r>
                      <a:rPr lang="en-US" altLang="ko-KR" sz="1550" b="0" i="1" smtClean="0">
                        <a:solidFill>
                          <a:srgbClr val="504C49"/>
                        </a:solidFill>
                        <a:latin typeface="Cambria Math" panose="02040503050406030204" pitchFamily="18" charset="0"/>
                        <a:ea typeface="Source Serif Pro" pitchFamily="34" charset="-122"/>
                      </a:rPr>
                      <m:t>, </m:t>
                    </m:r>
                    <m:r>
                      <a:rPr lang="en-US" altLang="ko-KR" sz="1550" b="0" i="1" smtClean="0">
                        <a:solidFill>
                          <a:srgbClr val="504C49"/>
                        </a:solidFill>
                        <a:latin typeface="Cambria Math" panose="02040503050406030204" pitchFamily="18" charset="0"/>
                        <a:ea typeface="Source Serif Pro" pitchFamily="34" charset="-122"/>
                      </a:rPr>
                      <m:t>𝑄</m:t>
                    </m:r>
                    <m:r>
                      <a:rPr lang="en-US" altLang="ko-KR" sz="1550" b="0" i="1" smtClean="0">
                        <a:solidFill>
                          <a:srgbClr val="504C49"/>
                        </a:solidFill>
                        <a:latin typeface="Cambria Math" panose="02040503050406030204" pitchFamily="18" charset="0"/>
                        <a:ea typeface="Source Serif Pro" pitchFamily="34" charset="-122"/>
                      </a:rPr>
                      <m:t>∈</m:t>
                    </m:r>
                    <m:sSup>
                      <m:sSupPr>
                        <m:ctrlPr>
                          <a:rPr lang="en-US" altLang="ko-KR" sz="1550" b="0" i="1" smtClean="0">
                            <a:solidFill>
                              <a:srgbClr val="504C49"/>
                            </a:solidFill>
                            <a:latin typeface="Cambria Math" panose="02040503050406030204" pitchFamily="18" charset="0"/>
                            <a:ea typeface="Source Serif Pro" pitchFamily="34" charset="-122"/>
                          </a:rPr>
                        </m:ctrlPr>
                      </m:sSupPr>
                      <m:e>
                        <m:r>
                          <a:rPr lang="en-US" altLang="ko-KR" sz="1550" b="0" i="1" smtClean="0">
                            <a:solidFill>
                              <a:srgbClr val="504C49"/>
                            </a:solidFill>
                            <a:latin typeface="Cambria Math" panose="02040503050406030204" pitchFamily="18" charset="0"/>
                            <a:ea typeface="Source Serif Pro" pitchFamily="34" charset="-122"/>
                          </a:rPr>
                          <m:t>ℝ</m:t>
                        </m:r>
                      </m:e>
                      <m:sup>
                        <m:r>
                          <a:rPr lang="en-US" altLang="ko-KR" sz="1550" b="0" i="1" smtClean="0">
                            <a:solidFill>
                              <a:srgbClr val="504C49"/>
                            </a:solidFill>
                            <a:latin typeface="Cambria Math" panose="02040503050406030204" pitchFamily="18" charset="0"/>
                            <a:ea typeface="Source Serif Pro" pitchFamily="34" charset="-122"/>
                          </a:rPr>
                          <m:t>6×6</m:t>
                        </m:r>
                      </m:sup>
                    </m:sSup>
                  </m:oMath>
                </a14:m>
                <a:endParaRPr lang="en-US" altLang="ko-KR" sz="1550" dirty="0">
                  <a:solidFill>
                    <a:srgbClr val="504C49"/>
                  </a:solidFill>
                  <a:latin typeface="Source Serif Pro" pitchFamily="34" charset="0"/>
                  <a:ea typeface="Source Serif Pro" pitchFamily="34" charset="-122"/>
                </a:endParaRPr>
              </a:p>
              <a:p>
                <a:pPr marL="0" indent="0" algn="l">
                  <a:lnSpc>
                    <a:spcPts val="2500"/>
                  </a:lnSpc>
                  <a:buNone/>
                </a:pPr>
                <a:r>
                  <a:rPr lang="en-US" altLang="ko-KR" sz="1550" dirty="0">
                    <a:solidFill>
                      <a:srgbClr val="504C49"/>
                    </a:solidFill>
                    <a:latin typeface="Source Serif Pro" pitchFamily="34" charset="0"/>
                    <a:ea typeface="Source Serif Pro" pitchFamily="34" charset="-122"/>
                  </a:rPr>
                  <a:t>To prevent overfitting, set </a:t>
                </a:r>
                <a14:m>
                  <m:oMath xmlns:m="http://schemas.openxmlformats.org/officeDocument/2006/math">
                    <m:r>
                      <a:rPr lang="en-US" altLang="ko-KR" sz="1550" b="0" i="1" smtClean="0">
                        <a:solidFill>
                          <a:srgbClr val="504C49"/>
                        </a:solidFill>
                        <a:latin typeface="Cambria Math" panose="02040503050406030204" pitchFamily="18" charset="0"/>
                        <a:ea typeface="Source Serif Pro" pitchFamily="34" charset="-122"/>
                      </a:rPr>
                      <m:t>𝑄</m:t>
                    </m:r>
                  </m:oMath>
                </a14:m>
                <a:r>
                  <a:rPr lang="en-US" altLang="ko-KR" sz="1550" dirty="0">
                    <a:solidFill>
                      <a:srgbClr val="504C49"/>
                    </a:solidFill>
                    <a:latin typeface="Source Serif Pro" pitchFamily="34" charset="0"/>
                    <a:ea typeface="Source Serif Pro" pitchFamily="34" charset="-122"/>
                  </a:rPr>
                  <a:t> as the diagonal matrix, </a:t>
                </a:r>
                <a14:m>
                  <m:oMath xmlns:m="http://schemas.openxmlformats.org/officeDocument/2006/math">
                    <m:r>
                      <a:rPr lang="en-US" altLang="ko-KR" sz="1550" b="0" i="1" smtClean="0">
                        <a:solidFill>
                          <a:srgbClr val="504C49"/>
                        </a:solidFill>
                        <a:latin typeface="Cambria Math" panose="02040503050406030204" pitchFamily="18" charset="0"/>
                        <a:ea typeface="Source Serif Pro" pitchFamily="34" charset="-122"/>
                      </a:rPr>
                      <m:t>𝑑𝑖𝑎𝑔</m:t>
                    </m:r>
                    <m:r>
                      <a:rPr lang="en-US" altLang="ko-KR" sz="1550" b="0" i="1" smtClean="0">
                        <a:solidFill>
                          <a:srgbClr val="504C49"/>
                        </a:solidFill>
                        <a:latin typeface="Cambria Math" panose="02040503050406030204" pitchFamily="18" charset="0"/>
                        <a:ea typeface="Source Serif Pro" pitchFamily="34" charset="-122"/>
                      </a:rPr>
                      <m:t>(</m:t>
                    </m:r>
                    <m:sSub>
                      <m:sSubPr>
                        <m:ctrlPr>
                          <a:rPr lang="en-US" altLang="ko-KR" sz="1550" b="0" i="1" smtClean="0">
                            <a:solidFill>
                              <a:srgbClr val="504C49"/>
                            </a:solidFill>
                            <a:latin typeface="Cambria Math" panose="02040503050406030204" pitchFamily="18" charset="0"/>
                            <a:ea typeface="Source Serif Pro" pitchFamily="34" charset="-122"/>
                          </a:rPr>
                        </m:ctrlPr>
                      </m:sSubPr>
                      <m:e>
                        <m:r>
                          <a:rPr lang="en-US" altLang="ko-KR" sz="1550" b="0" i="1" smtClean="0">
                            <a:solidFill>
                              <a:srgbClr val="504C49"/>
                            </a:solidFill>
                            <a:latin typeface="Cambria Math" panose="02040503050406030204" pitchFamily="18" charset="0"/>
                            <a:ea typeface="Source Serif Pro" pitchFamily="34" charset="-122"/>
                          </a:rPr>
                          <m:t>𝜃</m:t>
                        </m:r>
                      </m:e>
                      <m:sub>
                        <m:r>
                          <a:rPr lang="en-US" altLang="ko-KR" sz="1550" b="0" i="1" smtClean="0">
                            <a:solidFill>
                              <a:srgbClr val="504C49"/>
                            </a:solidFill>
                            <a:latin typeface="Cambria Math" panose="02040503050406030204" pitchFamily="18" charset="0"/>
                            <a:ea typeface="Source Serif Pro" pitchFamily="34" charset="-122"/>
                          </a:rPr>
                          <m:t>1</m:t>
                        </m:r>
                      </m:sub>
                    </m:sSub>
                    <m:r>
                      <a:rPr lang="en-US" altLang="ko-KR" sz="1550" b="0" i="1" smtClean="0">
                        <a:solidFill>
                          <a:srgbClr val="504C49"/>
                        </a:solidFill>
                        <a:latin typeface="Cambria Math" panose="02040503050406030204" pitchFamily="18" charset="0"/>
                        <a:ea typeface="Source Serif Pro" pitchFamily="34" charset="-122"/>
                      </a:rPr>
                      <m:t>,…,</m:t>
                    </m:r>
                    <m:sSub>
                      <m:sSubPr>
                        <m:ctrlPr>
                          <a:rPr lang="en-US" altLang="ko-KR" sz="1550" b="0" i="1" smtClean="0">
                            <a:solidFill>
                              <a:srgbClr val="504C49"/>
                            </a:solidFill>
                            <a:latin typeface="Cambria Math" panose="02040503050406030204" pitchFamily="18" charset="0"/>
                            <a:ea typeface="Source Serif Pro" pitchFamily="34" charset="-122"/>
                          </a:rPr>
                        </m:ctrlPr>
                      </m:sSubPr>
                      <m:e>
                        <m:r>
                          <a:rPr lang="en-US" altLang="ko-KR" sz="1550" b="0" i="1" smtClean="0">
                            <a:solidFill>
                              <a:srgbClr val="504C49"/>
                            </a:solidFill>
                            <a:latin typeface="Cambria Math" panose="02040503050406030204" pitchFamily="18" charset="0"/>
                            <a:ea typeface="Source Serif Pro" pitchFamily="34" charset="-122"/>
                          </a:rPr>
                          <m:t>𝜃</m:t>
                        </m:r>
                      </m:e>
                      <m:sub>
                        <m:r>
                          <a:rPr lang="en-US" altLang="ko-KR" sz="1550" b="0" i="1" smtClean="0">
                            <a:solidFill>
                              <a:srgbClr val="504C49"/>
                            </a:solidFill>
                            <a:latin typeface="Cambria Math" panose="02040503050406030204" pitchFamily="18" charset="0"/>
                            <a:ea typeface="Source Serif Pro" pitchFamily="34" charset="-122"/>
                          </a:rPr>
                          <m:t>6</m:t>
                        </m:r>
                      </m:sub>
                    </m:sSub>
                    <m:r>
                      <a:rPr lang="en-US" altLang="ko-KR" sz="1550" b="0" i="1" smtClean="0">
                        <a:solidFill>
                          <a:srgbClr val="504C49"/>
                        </a:solidFill>
                        <a:latin typeface="Cambria Math" panose="02040503050406030204" pitchFamily="18" charset="0"/>
                        <a:ea typeface="Source Serif Pro" pitchFamily="34" charset="-122"/>
                      </a:rPr>
                      <m:t>)</m:t>
                    </m:r>
                  </m:oMath>
                </a14:m>
                <a:endParaRPr lang="en-US" altLang="ko-KR" sz="1550" dirty="0">
                  <a:solidFill>
                    <a:srgbClr val="504C49"/>
                  </a:solidFill>
                  <a:latin typeface="Source Serif Pro" pitchFamily="34" charset="0"/>
                  <a:ea typeface="Source Serif Pro" pitchFamily="34" charset="-122"/>
                </a:endParaRPr>
              </a:p>
              <a:p>
                <a:pPr marL="0" indent="0" algn="l">
                  <a:lnSpc>
                    <a:spcPts val="2500"/>
                  </a:lnSpc>
                  <a:buNone/>
                </a:pPr>
                <a:endParaRPr lang="en-US" altLang="ko-KR" sz="1550" dirty="0">
                  <a:solidFill>
                    <a:srgbClr val="504C49"/>
                  </a:solidFill>
                  <a:latin typeface="Source Serif Pro" pitchFamily="34" charset="0"/>
                  <a:ea typeface="Source Serif Pro" pitchFamily="34" charset="-122"/>
                </a:endParaRPr>
              </a:p>
              <a:p>
                <a:pPr marL="0" indent="0" algn="l">
                  <a:lnSpc>
                    <a:spcPts val="2500"/>
                  </a:lnSpc>
                  <a:buNone/>
                </a:pPr>
                <a:r>
                  <a:rPr lang="en-US" altLang="ko-KR" sz="1550" dirty="0">
                    <a:solidFill>
                      <a:srgbClr val="FF0000"/>
                    </a:solidFill>
                    <a:latin typeface="Source Serif Pro" pitchFamily="34" charset="0"/>
                    <a:ea typeface="Source Serif Pro" pitchFamily="34" charset="-122"/>
                  </a:rPr>
                  <a:t>State Innovation Vector Covariance</a:t>
                </a:r>
                <a:r>
                  <a:rPr lang="en-US" altLang="ko-KR" sz="1550" dirty="0">
                    <a:solidFill>
                      <a:srgbClr val="504C49"/>
                    </a:solidFill>
                    <a:latin typeface="Source Serif Pro" pitchFamily="34" charset="0"/>
                    <a:ea typeface="Source Serif Pro" pitchFamily="34" charset="-122"/>
                  </a:rPr>
                  <a:t>:</a:t>
                </a:r>
                <a:r>
                  <a:rPr lang="en-US" altLang="ko-KR" sz="1550" dirty="0">
                    <a:solidFill>
                      <a:srgbClr val="504C49"/>
                    </a:solidFill>
                    <a:latin typeface="Source Serif Pro" pitchFamily="34" charset="0"/>
                    <a:ea typeface="Source Serif Pro" pitchFamily="34" charset="-122"/>
                    <a:sym typeface="Wingdings" panose="05000000000000000000" pitchFamily="2" charset="2"/>
                  </a:rPr>
                  <a:t> </a:t>
                </a:r>
                <a14:m>
                  <m:oMath xmlns:m="http://schemas.openxmlformats.org/officeDocument/2006/math">
                    <m:sSub>
                      <m:sSubPr>
                        <m:ctrlPr>
                          <a:rPr lang="en-US" altLang="ko-KR" sz="1550" b="0" i="1" smtClean="0">
                            <a:solidFill>
                              <a:srgbClr val="504C49"/>
                            </a:solidFill>
                            <a:latin typeface="Cambria Math" panose="02040503050406030204" pitchFamily="18" charset="0"/>
                            <a:ea typeface="Source Serif Pro" pitchFamily="34" charset="-122"/>
                            <a:sym typeface="Wingdings" panose="05000000000000000000" pitchFamily="2" charset="2"/>
                          </a:rPr>
                        </m:ctrlPr>
                      </m:sSubPr>
                      <m:e>
                        <m:r>
                          <a:rPr lang="en-US" altLang="ko-KR" sz="1550" b="0" i="1" smtClean="0">
                            <a:solidFill>
                              <a:srgbClr val="504C49"/>
                            </a:solidFill>
                            <a:latin typeface="Cambria Math" panose="02040503050406030204" pitchFamily="18" charset="0"/>
                            <a:ea typeface="Source Serif Pro" pitchFamily="34" charset="-122"/>
                            <a:sym typeface="Wingdings" panose="05000000000000000000" pitchFamily="2" charset="2"/>
                          </a:rPr>
                          <m:t>𝜃</m:t>
                        </m:r>
                      </m:e>
                      <m:sub>
                        <m:r>
                          <a:rPr lang="en-US" altLang="ko-KR" sz="1550" b="0" i="1" smtClean="0">
                            <a:solidFill>
                              <a:srgbClr val="504C49"/>
                            </a:solidFill>
                            <a:latin typeface="Cambria Math" panose="02040503050406030204" pitchFamily="18" charset="0"/>
                            <a:ea typeface="Source Serif Pro" pitchFamily="34" charset="-122"/>
                            <a:sym typeface="Wingdings" panose="05000000000000000000" pitchFamily="2" charset="2"/>
                          </a:rPr>
                          <m:t>𝑗</m:t>
                        </m:r>
                      </m:sub>
                    </m:sSub>
                    <m:r>
                      <a:rPr lang="en-US" altLang="ko-KR" sz="1550" b="0" i="1" smtClean="0">
                        <a:solidFill>
                          <a:srgbClr val="504C49"/>
                        </a:solidFill>
                        <a:latin typeface="Cambria Math" panose="02040503050406030204" pitchFamily="18" charset="0"/>
                        <a:ea typeface="Source Serif Pro" pitchFamily="34" charset="-122"/>
                        <a:sym typeface="Wingdings" panose="05000000000000000000" pitchFamily="2" charset="2"/>
                      </a:rPr>
                      <m:t>|</m:t>
                    </m:r>
                    <m:sSub>
                      <m:sSubPr>
                        <m:ctrlPr>
                          <a:rPr lang="en-US" altLang="ko-KR" sz="1550" b="0" i="1" smtClean="0">
                            <a:solidFill>
                              <a:srgbClr val="504C49"/>
                            </a:solidFill>
                            <a:latin typeface="Cambria Math" panose="02040503050406030204" pitchFamily="18" charset="0"/>
                            <a:ea typeface="Source Serif Pro" pitchFamily="34" charset="-122"/>
                            <a:sym typeface="Wingdings" panose="05000000000000000000" pitchFamily="2" charset="2"/>
                          </a:rPr>
                        </m:ctrlPr>
                      </m:sSubPr>
                      <m:e>
                        <m:r>
                          <a:rPr lang="en-US" altLang="ko-KR" sz="1550" b="0" i="1" smtClean="0">
                            <a:solidFill>
                              <a:srgbClr val="504C49"/>
                            </a:solidFill>
                            <a:latin typeface="Cambria Math" panose="02040503050406030204" pitchFamily="18" charset="0"/>
                            <a:ea typeface="Source Serif Pro" pitchFamily="34" charset="-122"/>
                            <a:sym typeface="Wingdings" panose="05000000000000000000" pitchFamily="2" charset="2"/>
                          </a:rPr>
                          <m:t>𝜙</m:t>
                        </m:r>
                      </m:e>
                      <m:sub>
                        <m:r>
                          <a:rPr lang="en-US" altLang="ko-KR" sz="1550" b="0" i="1" smtClean="0">
                            <a:solidFill>
                              <a:srgbClr val="504C49"/>
                            </a:solidFill>
                            <a:latin typeface="Cambria Math" panose="02040503050406030204" pitchFamily="18" charset="0"/>
                            <a:ea typeface="Source Serif Pro" pitchFamily="34" charset="-122"/>
                            <a:sym typeface="Wingdings" panose="05000000000000000000" pitchFamily="2" charset="2"/>
                          </a:rPr>
                          <m:t>𝑗</m:t>
                        </m:r>
                      </m:sub>
                    </m:sSub>
                    <m:r>
                      <a:rPr lang="en-US" altLang="ko-KR" sz="1550" b="0" i="1" smtClean="0">
                        <a:solidFill>
                          <a:srgbClr val="504C49"/>
                        </a:solidFill>
                        <a:latin typeface="Cambria Math" panose="02040503050406030204" pitchFamily="18" charset="0"/>
                        <a:ea typeface="Source Serif Pro" pitchFamily="34" charset="-122"/>
                        <a:sym typeface="Wingdings" panose="05000000000000000000" pitchFamily="2" charset="2"/>
                      </a:rPr>
                      <m:t>,</m:t>
                    </m:r>
                    <m:sSup>
                      <m:sSupPr>
                        <m:ctrlPr>
                          <a:rPr lang="en-US" altLang="ko-KR" sz="1550" b="0" i="1" smtClean="0">
                            <a:solidFill>
                              <a:srgbClr val="504C49"/>
                            </a:solidFill>
                            <a:latin typeface="Cambria Math" panose="02040503050406030204" pitchFamily="18" charset="0"/>
                            <a:ea typeface="Source Serif Pro" pitchFamily="34" charset="-122"/>
                            <a:sym typeface="Wingdings" panose="05000000000000000000" pitchFamily="2" charset="2"/>
                          </a:rPr>
                        </m:ctrlPr>
                      </m:sSupPr>
                      <m:e>
                        <m:r>
                          <a:rPr lang="en-US" altLang="ko-KR" sz="1550" b="0" i="1" smtClean="0">
                            <a:solidFill>
                              <a:srgbClr val="504C49"/>
                            </a:solidFill>
                            <a:latin typeface="Cambria Math" panose="02040503050406030204" pitchFamily="18" charset="0"/>
                            <a:ea typeface="Source Serif Pro" pitchFamily="34" charset="-122"/>
                            <a:sym typeface="Wingdings" panose="05000000000000000000" pitchFamily="2" charset="2"/>
                          </a:rPr>
                          <m:t>𝜅</m:t>
                        </m:r>
                      </m:e>
                      <m:sup>
                        <m:r>
                          <a:rPr lang="en-US" altLang="ko-KR" sz="1550" b="0" i="1" smtClean="0">
                            <a:solidFill>
                              <a:srgbClr val="504C49"/>
                            </a:solidFill>
                            <a:latin typeface="Cambria Math" panose="02040503050406030204" pitchFamily="18" charset="0"/>
                            <a:ea typeface="Source Serif Pro" pitchFamily="34" charset="-122"/>
                            <a:sym typeface="Wingdings" panose="05000000000000000000" pitchFamily="2" charset="2"/>
                          </a:rPr>
                          <m:t>2</m:t>
                        </m:r>
                      </m:sup>
                    </m:sSup>
                    <m:r>
                      <a:rPr lang="en-US" altLang="ko-KR" sz="1550" b="0" i="1" smtClean="0">
                        <a:solidFill>
                          <a:srgbClr val="504C49"/>
                        </a:solidFill>
                        <a:latin typeface="Cambria Math" panose="02040503050406030204" pitchFamily="18" charset="0"/>
                        <a:ea typeface="Source Serif Pro" pitchFamily="34" charset="-122"/>
                        <a:sym typeface="Wingdings" panose="05000000000000000000" pitchFamily="2" charset="2"/>
                      </a:rPr>
                      <m:t>∼</m:t>
                    </m:r>
                    <m:r>
                      <a:rPr lang="en-US" altLang="ko-KR" sz="1550" b="0" i="1" smtClean="0">
                        <a:solidFill>
                          <a:srgbClr val="504C49"/>
                        </a:solidFill>
                        <a:latin typeface="Cambria Math" panose="02040503050406030204" pitchFamily="18" charset="0"/>
                        <a:ea typeface="Source Serif Pro" pitchFamily="34" charset="-122"/>
                        <a:sym typeface="Wingdings" panose="05000000000000000000" pitchFamily="2" charset="2"/>
                      </a:rPr>
                      <m:t>𝑖𝑛𝑣𝑒𝑟𝑠𝑒</m:t>
                    </m:r>
                    <m:r>
                      <a:rPr lang="en-US" altLang="ko-KR" sz="1550" b="0" i="1" smtClean="0">
                        <a:solidFill>
                          <a:srgbClr val="504C49"/>
                        </a:solidFill>
                        <a:latin typeface="Cambria Math" panose="02040503050406030204" pitchFamily="18" charset="0"/>
                        <a:ea typeface="Source Serif Pro" pitchFamily="34" charset="-122"/>
                        <a:sym typeface="Wingdings" panose="05000000000000000000" pitchFamily="2" charset="2"/>
                      </a:rPr>
                      <m:t>−</m:t>
                    </m:r>
                    <m:r>
                      <a:rPr lang="en-US" altLang="ko-KR" sz="1550" b="0" i="1" smtClean="0">
                        <a:solidFill>
                          <a:srgbClr val="504C49"/>
                        </a:solidFill>
                        <a:latin typeface="Cambria Math" panose="02040503050406030204" pitchFamily="18" charset="0"/>
                        <a:ea typeface="Source Serif Pro" pitchFamily="34" charset="-122"/>
                        <a:sym typeface="Wingdings" panose="05000000000000000000" pitchFamily="2" charset="2"/>
                      </a:rPr>
                      <m:t>𝑔𝑎𝑚𝑚𝑎</m:t>
                    </m:r>
                    <m:d>
                      <m:dPr>
                        <m:ctrlPr>
                          <a:rPr lang="en-US" altLang="ko-KR" sz="1550" b="0" i="1" smtClean="0">
                            <a:solidFill>
                              <a:srgbClr val="504C49"/>
                            </a:solidFill>
                            <a:latin typeface="Cambria Math" panose="02040503050406030204" pitchFamily="18" charset="0"/>
                            <a:ea typeface="Source Serif Pro" pitchFamily="34" charset="-122"/>
                            <a:sym typeface="Wingdings" panose="05000000000000000000" pitchFamily="2" charset="2"/>
                          </a:rPr>
                        </m:ctrlPr>
                      </m:dPr>
                      <m:e>
                        <m:f>
                          <m:fPr>
                            <m:ctrlPr>
                              <a:rPr lang="en-US" altLang="ko-KR" sz="1550" b="0" i="1" smtClean="0">
                                <a:solidFill>
                                  <a:srgbClr val="504C49"/>
                                </a:solidFill>
                                <a:latin typeface="Cambria Math" panose="02040503050406030204" pitchFamily="18" charset="0"/>
                                <a:ea typeface="Source Serif Pro" pitchFamily="34" charset="-122"/>
                                <a:sym typeface="Wingdings" panose="05000000000000000000" pitchFamily="2" charset="2"/>
                              </a:rPr>
                            </m:ctrlPr>
                          </m:fPr>
                          <m:num>
                            <m:r>
                              <a:rPr lang="en-US" altLang="ko-KR" sz="1550" b="0" i="1" smtClean="0">
                                <a:solidFill>
                                  <a:srgbClr val="504C49"/>
                                </a:solidFill>
                                <a:latin typeface="Cambria Math" panose="02040503050406030204" pitchFamily="18" charset="0"/>
                                <a:ea typeface="Source Serif Pro" pitchFamily="34" charset="-122"/>
                                <a:sym typeface="Wingdings" panose="05000000000000000000" pitchFamily="2" charset="2"/>
                              </a:rPr>
                              <m:t>1</m:t>
                            </m:r>
                          </m:num>
                          <m:den>
                            <m:r>
                              <a:rPr lang="en-US" altLang="ko-KR" sz="1550" b="0" i="1" smtClean="0">
                                <a:solidFill>
                                  <a:srgbClr val="504C49"/>
                                </a:solidFill>
                                <a:latin typeface="Cambria Math" panose="02040503050406030204" pitchFamily="18" charset="0"/>
                                <a:ea typeface="Source Serif Pro" pitchFamily="34" charset="-122"/>
                                <a:sym typeface="Wingdings" panose="05000000000000000000" pitchFamily="2" charset="2"/>
                              </a:rPr>
                              <m:t>2</m:t>
                            </m:r>
                          </m:den>
                        </m:f>
                        <m:r>
                          <a:rPr lang="en-US" altLang="ko-KR" sz="1550" b="0" i="1" smtClean="0">
                            <a:solidFill>
                              <a:srgbClr val="504C49"/>
                            </a:solidFill>
                            <a:latin typeface="Cambria Math" panose="02040503050406030204" pitchFamily="18" charset="0"/>
                            <a:ea typeface="Source Serif Pro" pitchFamily="34" charset="-122"/>
                            <a:sym typeface="Wingdings" panose="05000000000000000000" pitchFamily="2" charset="2"/>
                          </a:rPr>
                          <m:t>,</m:t>
                        </m:r>
                        <m:f>
                          <m:fPr>
                            <m:ctrlPr>
                              <a:rPr lang="en-US" altLang="ko-KR" sz="1550" b="0" i="1" smtClean="0">
                                <a:solidFill>
                                  <a:srgbClr val="504C49"/>
                                </a:solidFill>
                                <a:latin typeface="Cambria Math" panose="02040503050406030204" pitchFamily="18" charset="0"/>
                                <a:ea typeface="Source Serif Pro" pitchFamily="34" charset="-122"/>
                                <a:sym typeface="Wingdings" panose="05000000000000000000" pitchFamily="2" charset="2"/>
                              </a:rPr>
                            </m:ctrlPr>
                          </m:fPr>
                          <m:num>
                            <m:r>
                              <a:rPr lang="en-US" altLang="ko-KR" sz="1550" b="0" i="1" smtClean="0">
                                <a:solidFill>
                                  <a:srgbClr val="504C49"/>
                                </a:solidFill>
                                <a:latin typeface="Cambria Math" panose="02040503050406030204" pitchFamily="18" charset="0"/>
                                <a:ea typeface="Source Serif Pro" pitchFamily="34" charset="-122"/>
                                <a:sym typeface="Wingdings" panose="05000000000000000000" pitchFamily="2" charset="2"/>
                              </a:rPr>
                              <m:t>1</m:t>
                            </m:r>
                          </m:num>
                          <m:den>
                            <m:r>
                              <a:rPr lang="en-US" altLang="ko-KR" sz="1550" b="0" i="1" smtClean="0">
                                <a:solidFill>
                                  <a:srgbClr val="504C49"/>
                                </a:solidFill>
                                <a:latin typeface="Cambria Math" panose="02040503050406030204" pitchFamily="18" charset="0"/>
                                <a:ea typeface="Source Serif Pro" pitchFamily="34" charset="-122"/>
                                <a:sym typeface="Wingdings" panose="05000000000000000000" pitchFamily="2" charset="2"/>
                              </a:rPr>
                              <m:t>2</m:t>
                            </m:r>
                            <m:sSub>
                              <m:sSubPr>
                                <m:ctrlPr>
                                  <a:rPr lang="en-US" altLang="ko-KR" sz="1550" b="0" i="1" smtClean="0">
                                    <a:solidFill>
                                      <a:srgbClr val="504C49"/>
                                    </a:solidFill>
                                    <a:latin typeface="Cambria Math" panose="02040503050406030204" pitchFamily="18" charset="0"/>
                                    <a:ea typeface="Source Serif Pro" pitchFamily="34" charset="-122"/>
                                    <a:sym typeface="Wingdings" panose="05000000000000000000" pitchFamily="2" charset="2"/>
                                  </a:rPr>
                                </m:ctrlPr>
                              </m:sSubPr>
                              <m:e>
                                <m:r>
                                  <a:rPr lang="en-US" altLang="ko-KR" sz="1550" b="0" i="1" smtClean="0">
                                    <a:solidFill>
                                      <a:srgbClr val="504C49"/>
                                    </a:solidFill>
                                    <a:latin typeface="Cambria Math" panose="02040503050406030204" pitchFamily="18" charset="0"/>
                                    <a:ea typeface="Source Serif Pro" pitchFamily="34" charset="-122"/>
                                    <a:sym typeface="Wingdings" panose="05000000000000000000" pitchFamily="2" charset="2"/>
                                  </a:rPr>
                                  <m:t>𝜙</m:t>
                                </m:r>
                              </m:e>
                              <m:sub>
                                <m:r>
                                  <a:rPr lang="en-US" altLang="ko-KR" sz="1550" b="0" i="1" smtClean="0">
                                    <a:solidFill>
                                      <a:srgbClr val="504C49"/>
                                    </a:solidFill>
                                    <a:latin typeface="Cambria Math" panose="02040503050406030204" pitchFamily="18" charset="0"/>
                                    <a:ea typeface="Source Serif Pro" pitchFamily="34" charset="-122"/>
                                    <a:sym typeface="Wingdings" panose="05000000000000000000" pitchFamily="2" charset="2"/>
                                  </a:rPr>
                                  <m:t>𝑗</m:t>
                                </m:r>
                              </m:sub>
                            </m:sSub>
                            <m:sSup>
                              <m:sSupPr>
                                <m:ctrlPr>
                                  <a:rPr lang="en-US" altLang="ko-KR" sz="1550" b="0" i="1" smtClean="0">
                                    <a:solidFill>
                                      <a:srgbClr val="504C49"/>
                                    </a:solidFill>
                                    <a:latin typeface="Cambria Math" panose="02040503050406030204" pitchFamily="18" charset="0"/>
                                    <a:ea typeface="Source Serif Pro" pitchFamily="34" charset="-122"/>
                                    <a:sym typeface="Wingdings" panose="05000000000000000000" pitchFamily="2" charset="2"/>
                                  </a:rPr>
                                </m:ctrlPr>
                              </m:sSupPr>
                              <m:e>
                                <m:r>
                                  <a:rPr lang="en-US" altLang="ko-KR" sz="1550" b="0" i="1" smtClean="0">
                                    <a:solidFill>
                                      <a:srgbClr val="504C49"/>
                                    </a:solidFill>
                                    <a:latin typeface="Cambria Math" panose="02040503050406030204" pitchFamily="18" charset="0"/>
                                    <a:ea typeface="Source Serif Pro" pitchFamily="34" charset="-122"/>
                                    <a:sym typeface="Wingdings" panose="05000000000000000000" pitchFamily="2" charset="2"/>
                                  </a:rPr>
                                  <m:t>𝜅</m:t>
                                </m:r>
                              </m:e>
                              <m:sup>
                                <m:r>
                                  <a:rPr lang="en-US" altLang="ko-KR" sz="1550" b="0" i="1" smtClean="0">
                                    <a:solidFill>
                                      <a:srgbClr val="504C49"/>
                                    </a:solidFill>
                                    <a:latin typeface="Cambria Math" panose="02040503050406030204" pitchFamily="18" charset="0"/>
                                    <a:ea typeface="Source Serif Pro" pitchFamily="34" charset="-122"/>
                                    <a:sym typeface="Wingdings" panose="05000000000000000000" pitchFamily="2" charset="2"/>
                                  </a:rPr>
                                  <m:t>2</m:t>
                                </m:r>
                              </m:sup>
                            </m:sSup>
                          </m:den>
                        </m:f>
                      </m:e>
                    </m:d>
                  </m:oMath>
                </a14:m>
                <a:r>
                  <a:rPr lang="en-US" altLang="ko-KR" sz="1550" dirty="0">
                    <a:solidFill>
                      <a:srgbClr val="504C49"/>
                    </a:solidFill>
                    <a:latin typeface="Source Serif Pro" pitchFamily="34" charset="0"/>
                    <a:ea typeface="Source Serif Pro" pitchFamily="34" charset="-122"/>
                  </a:rPr>
                  <a:t> (Local Shrinkage), </a:t>
                </a:r>
              </a:p>
              <a:p>
                <a:pPr marL="0" indent="0" algn="l">
                  <a:lnSpc>
                    <a:spcPts val="2500"/>
                  </a:lnSpc>
                  <a:buNone/>
                </a:pPr>
                <a:r>
                  <a:rPr lang="en-US" altLang="ko-KR" sz="1550" b="0" dirty="0">
                    <a:solidFill>
                      <a:srgbClr val="504C49"/>
                    </a:solidFill>
                    <a:ea typeface="Source Serif Pro" pitchFamily="34" charset="-122"/>
                  </a:rPr>
                  <a:t>			           </a:t>
                </a:r>
                <a14:m>
                  <m:oMath xmlns:m="http://schemas.openxmlformats.org/officeDocument/2006/math">
                    <m:sSub>
                      <m:sSubPr>
                        <m:ctrlPr>
                          <a:rPr lang="en-US" altLang="ko-KR" sz="1550" b="0" i="1" smtClean="0">
                            <a:solidFill>
                              <a:srgbClr val="504C49"/>
                            </a:solidFill>
                            <a:latin typeface="Cambria Math" panose="02040503050406030204" pitchFamily="18" charset="0"/>
                            <a:ea typeface="Source Serif Pro" pitchFamily="34" charset="-122"/>
                          </a:rPr>
                        </m:ctrlPr>
                      </m:sSubPr>
                      <m:e>
                        <m:r>
                          <a:rPr lang="en-US" altLang="ko-KR" sz="1550" b="0" i="1" smtClean="0">
                            <a:solidFill>
                              <a:srgbClr val="504C49"/>
                            </a:solidFill>
                            <a:latin typeface="Cambria Math" panose="02040503050406030204" pitchFamily="18" charset="0"/>
                            <a:ea typeface="Source Serif Pro" pitchFamily="34" charset="-122"/>
                          </a:rPr>
                          <m:t>𝜙</m:t>
                        </m:r>
                      </m:e>
                      <m:sub>
                        <m:r>
                          <a:rPr lang="en-US" altLang="ko-KR" sz="1550" b="0" i="1" smtClean="0">
                            <a:solidFill>
                              <a:srgbClr val="504C49"/>
                            </a:solidFill>
                            <a:latin typeface="Cambria Math" panose="02040503050406030204" pitchFamily="18" charset="0"/>
                            <a:ea typeface="Source Serif Pro" pitchFamily="34" charset="-122"/>
                          </a:rPr>
                          <m:t>𝑗</m:t>
                        </m:r>
                      </m:sub>
                    </m:sSub>
                    <m:r>
                      <a:rPr lang="en-US" altLang="ko-KR" sz="1550" b="0" i="1" smtClean="0">
                        <a:solidFill>
                          <a:srgbClr val="504C49"/>
                        </a:solidFill>
                        <a:latin typeface="Cambria Math" panose="02040503050406030204" pitchFamily="18" charset="0"/>
                        <a:ea typeface="Source Serif Pro" pitchFamily="34" charset="-122"/>
                      </a:rPr>
                      <m:t>∼</m:t>
                    </m:r>
                    <m:r>
                      <a:rPr lang="en-US" altLang="ko-KR" sz="1550" b="0" i="1" smtClean="0">
                        <a:solidFill>
                          <a:srgbClr val="504C49"/>
                        </a:solidFill>
                        <a:latin typeface="Cambria Math" panose="02040503050406030204" pitchFamily="18" charset="0"/>
                        <a:ea typeface="Source Serif Pro" pitchFamily="34" charset="-122"/>
                      </a:rPr>
                      <m:t>𝑔𝑎𝑚𝑚𝑎</m:t>
                    </m:r>
                    <m:d>
                      <m:dPr>
                        <m:ctrlPr>
                          <a:rPr lang="en-US" altLang="ko-KR" sz="1550" b="0" i="1" smtClean="0">
                            <a:solidFill>
                              <a:srgbClr val="504C49"/>
                            </a:solidFill>
                            <a:latin typeface="Cambria Math" panose="02040503050406030204" pitchFamily="18" charset="0"/>
                            <a:ea typeface="Source Serif Pro" pitchFamily="34" charset="-122"/>
                          </a:rPr>
                        </m:ctrlPr>
                      </m:dPr>
                      <m:e>
                        <m:r>
                          <a:rPr lang="en-US" altLang="ko-KR" sz="1550" b="0" i="1" smtClean="0">
                            <a:solidFill>
                              <a:srgbClr val="504C49"/>
                            </a:solidFill>
                            <a:latin typeface="Cambria Math" panose="02040503050406030204" pitchFamily="18" charset="0"/>
                            <a:ea typeface="Source Serif Pro" pitchFamily="34" charset="-122"/>
                          </a:rPr>
                          <m:t>𝑑</m:t>
                        </m:r>
                        <m:r>
                          <a:rPr lang="en-US" altLang="ko-KR" sz="1550" b="0" i="1" smtClean="0">
                            <a:solidFill>
                              <a:srgbClr val="504C49"/>
                            </a:solidFill>
                            <a:latin typeface="Cambria Math" panose="02040503050406030204" pitchFamily="18" charset="0"/>
                            <a:ea typeface="Source Serif Pro" pitchFamily="34" charset="-122"/>
                          </a:rPr>
                          <m:t>,</m:t>
                        </m:r>
                        <m:r>
                          <a:rPr lang="en-US" altLang="ko-KR" sz="1550" b="0" i="1" smtClean="0">
                            <a:solidFill>
                              <a:srgbClr val="504C49"/>
                            </a:solidFill>
                            <a:latin typeface="Cambria Math" panose="02040503050406030204" pitchFamily="18" charset="0"/>
                            <a:ea typeface="Source Serif Pro" pitchFamily="34" charset="-122"/>
                          </a:rPr>
                          <m:t>𝑑</m:t>
                        </m:r>
                        <m:r>
                          <a:rPr lang="en-US" altLang="ko-KR" sz="1550" b="0" i="1" smtClean="0">
                            <a:solidFill>
                              <a:srgbClr val="504C49"/>
                            </a:solidFill>
                            <a:latin typeface="Cambria Math" panose="02040503050406030204" pitchFamily="18" charset="0"/>
                            <a:ea typeface="Source Serif Pro" pitchFamily="34" charset="-122"/>
                          </a:rPr>
                          <m:t>=0.1</m:t>
                        </m:r>
                      </m:e>
                    </m:d>
                    <m:r>
                      <a:rPr lang="en-US" altLang="ko-KR" sz="1550" b="0" i="1" smtClean="0">
                        <a:solidFill>
                          <a:srgbClr val="504C49"/>
                        </a:solidFill>
                        <a:latin typeface="Cambria Math" panose="02040503050406030204" pitchFamily="18" charset="0"/>
                        <a:ea typeface="Source Serif Pro" pitchFamily="34" charset="-122"/>
                      </a:rPr>
                      <m:t>,</m:t>
                    </m:r>
                    <m:sSup>
                      <m:sSupPr>
                        <m:ctrlPr>
                          <a:rPr lang="en-US" altLang="ko-KR" sz="1550" b="0" i="1" smtClean="0">
                            <a:solidFill>
                              <a:srgbClr val="504C49"/>
                            </a:solidFill>
                            <a:latin typeface="Cambria Math" panose="02040503050406030204" pitchFamily="18" charset="0"/>
                            <a:ea typeface="Source Serif Pro" pitchFamily="34" charset="-122"/>
                          </a:rPr>
                        </m:ctrlPr>
                      </m:sSupPr>
                      <m:e>
                        <m:r>
                          <a:rPr lang="en-US" altLang="ko-KR" sz="1550" b="0" i="1" smtClean="0">
                            <a:solidFill>
                              <a:srgbClr val="504C49"/>
                            </a:solidFill>
                            <a:latin typeface="Cambria Math" panose="02040503050406030204" pitchFamily="18" charset="0"/>
                            <a:ea typeface="Source Serif Pro" pitchFamily="34" charset="-122"/>
                          </a:rPr>
                          <m:t>𝜅</m:t>
                        </m:r>
                      </m:e>
                      <m:sup>
                        <m:r>
                          <a:rPr lang="en-US" altLang="ko-KR" sz="1550" b="0" i="1" smtClean="0">
                            <a:solidFill>
                              <a:srgbClr val="504C49"/>
                            </a:solidFill>
                            <a:latin typeface="Cambria Math" panose="02040503050406030204" pitchFamily="18" charset="0"/>
                            <a:ea typeface="Source Serif Pro" pitchFamily="34" charset="-122"/>
                          </a:rPr>
                          <m:t>2</m:t>
                        </m:r>
                      </m:sup>
                    </m:sSup>
                    <m:r>
                      <a:rPr lang="en-US" altLang="ko-KR" sz="1550" b="0" i="1" smtClean="0">
                        <a:solidFill>
                          <a:srgbClr val="504C49"/>
                        </a:solidFill>
                        <a:latin typeface="Cambria Math" panose="02040503050406030204" pitchFamily="18" charset="0"/>
                        <a:ea typeface="Source Serif Pro" pitchFamily="34" charset="-122"/>
                      </a:rPr>
                      <m:t>∼</m:t>
                    </m:r>
                    <m:r>
                      <a:rPr lang="en-US" altLang="ko-KR" sz="1550" b="0" i="1" smtClean="0">
                        <a:solidFill>
                          <a:srgbClr val="504C49"/>
                        </a:solidFill>
                        <a:latin typeface="Cambria Math" panose="02040503050406030204" pitchFamily="18" charset="0"/>
                        <a:ea typeface="Source Serif Pro" pitchFamily="34" charset="-122"/>
                      </a:rPr>
                      <m:t>𝑔𝑎𝑚𝑚𝑎</m:t>
                    </m:r>
                    <m:r>
                      <a:rPr lang="en-US" altLang="ko-KR" sz="1550" b="0" i="1" smtClean="0">
                        <a:solidFill>
                          <a:srgbClr val="504C49"/>
                        </a:solidFill>
                        <a:latin typeface="Cambria Math" panose="02040503050406030204" pitchFamily="18" charset="0"/>
                        <a:ea typeface="Source Serif Pro" pitchFamily="34" charset="-122"/>
                      </a:rPr>
                      <m:t>(</m:t>
                    </m:r>
                    <m:sSub>
                      <m:sSubPr>
                        <m:ctrlPr>
                          <a:rPr lang="en-US" altLang="ko-KR" sz="1550" b="0" i="1" smtClean="0">
                            <a:solidFill>
                              <a:srgbClr val="504C49"/>
                            </a:solidFill>
                            <a:latin typeface="Cambria Math" panose="02040503050406030204" pitchFamily="18" charset="0"/>
                            <a:ea typeface="Source Serif Pro" pitchFamily="34" charset="-122"/>
                          </a:rPr>
                        </m:ctrlPr>
                      </m:sSubPr>
                      <m:e>
                        <m:r>
                          <a:rPr lang="en-US" altLang="ko-KR" sz="1550" b="0" i="1" smtClean="0">
                            <a:solidFill>
                              <a:srgbClr val="504C49"/>
                            </a:solidFill>
                            <a:latin typeface="Cambria Math" panose="02040503050406030204" pitchFamily="18" charset="0"/>
                            <a:ea typeface="Source Serif Pro" pitchFamily="34" charset="-122"/>
                          </a:rPr>
                          <m:t>𝑐</m:t>
                        </m:r>
                      </m:e>
                      <m:sub>
                        <m:r>
                          <a:rPr lang="en-US" altLang="ko-KR" sz="1550" b="0" i="1" smtClean="0">
                            <a:solidFill>
                              <a:srgbClr val="504C49"/>
                            </a:solidFill>
                            <a:latin typeface="Cambria Math" panose="02040503050406030204" pitchFamily="18" charset="0"/>
                            <a:ea typeface="Source Serif Pro" pitchFamily="34" charset="-122"/>
                          </a:rPr>
                          <m:t>0</m:t>
                        </m:r>
                      </m:sub>
                    </m:sSub>
                    <m:r>
                      <a:rPr lang="en-US" altLang="ko-KR" sz="1550" b="0" i="1" smtClean="0">
                        <a:solidFill>
                          <a:srgbClr val="504C49"/>
                        </a:solidFill>
                        <a:latin typeface="Cambria Math" panose="02040503050406030204" pitchFamily="18" charset="0"/>
                        <a:ea typeface="Source Serif Pro" pitchFamily="34" charset="-122"/>
                      </a:rPr>
                      <m:t>=0.01, </m:t>
                    </m:r>
                    <m:sSub>
                      <m:sSubPr>
                        <m:ctrlPr>
                          <a:rPr lang="en-US" altLang="ko-KR" sz="1550" b="0" i="1" smtClean="0">
                            <a:solidFill>
                              <a:srgbClr val="504C49"/>
                            </a:solidFill>
                            <a:latin typeface="Cambria Math" panose="02040503050406030204" pitchFamily="18" charset="0"/>
                            <a:ea typeface="Source Serif Pro" pitchFamily="34" charset="-122"/>
                          </a:rPr>
                        </m:ctrlPr>
                      </m:sSubPr>
                      <m:e>
                        <m:r>
                          <a:rPr lang="en-US" altLang="ko-KR" sz="1550" b="0" i="1" smtClean="0">
                            <a:solidFill>
                              <a:srgbClr val="504C49"/>
                            </a:solidFill>
                            <a:latin typeface="Cambria Math" panose="02040503050406030204" pitchFamily="18" charset="0"/>
                            <a:ea typeface="Source Serif Pro" pitchFamily="34" charset="-122"/>
                          </a:rPr>
                          <m:t>𝑐</m:t>
                        </m:r>
                      </m:e>
                      <m:sub>
                        <m:r>
                          <a:rPr lang="en-US" altLang="ko-KR" sz="1550" b="0" i="1" smtClean="0">
                            <a:solidFill>
                              <a:srgbClr val="504C49"/>
                            </a:solidFill>
                            <a:latin typeface="Cambria Math" panose="02040503050406030204" pitchFamily="18" charset="0"/>
                            <a:ea typeface="Source Serif Pro" pitchFamily="34" charset="-122"/>
                          </a:rPr>
                          <m:t>1</m:t>
                        </m:r>
                      </m:sub>
                    </m:sSub>
                    <m:r>
                      <a:rPr lang="en-US" altLang="ko-KR" sz="1550" b="0" i="1" smtClean="0">
                        <a:solidFill>
                          <a:srgbClr val="504C49"/>
                        </a:solidFill>
                        <a:latin typeface="Cambria Math" panose="02040503050406030204" pitchFamily="18" charset="0"/>
                        <a:ea typeface="Source Serif Pro" pitchFamily="34" charset="-122"/>
                      </a:rPr>
                      <m:t>=0.01)</m:t>
                    </m:r>
                  </m:oMath>
                </a14:m>
                <a:r>
                  <a:rPr lang="en-US" altLang="ko-KR" sz="1550" dirty="0">
                    <a:solidFill>
                      <a:srgbClr val="504C49"/>
                    </a:solidFill>
                    <a:latin typeface="Source Serif Pro" pitchFamily="34" charset="0"/>
                    <a:ea typeface="Source Serif Pro" pitchFamily="34" charset="-122"/>
                  </a:rPr>
                  <a:t> (Global Shrinkage)</a:t>
                </a:r>
              </a:p>
              <a:p>
                <a:pPr>
                  <a:lnSpc>
                    <a:spcPts val="2500"/>
                  </a:lnSpc>
                </a:pPr>
                <a:r>
                  <a:rPr lang="en-US" altLang="ko-KR" sz="1550" dirty="0">
                    <a:solidFill>
                      <a:srgbClr val="504C49"/>
                    </a:solidFill>
                    <a:latin typeface="Source Serif Pro" pitchFamily="34" charset="0"/>
                    <a:ea typeface="Source Serif Pro" pitchFamily="34" charset="-122"/>
                  </a:rPr>
                  <a:t>This double-gamma prior distribution has a very sharp peak at 0, but also heavy tails, giving it the flexibility to allow </a:t>
                </a:r>
                <a14:m>
                  <m:oMath xmlns:m="http://schemas.openxmlformats.org/officeDocument/2006/math">
                    <m:sSub>
                      <m:sSubPr>
                        <m:ctrlPr>
                          <a:rPr lang="en-US" altLang="ko-KR" sz="1550" b="0" i="1" smtClean="0">
                            <a:solidFill>
                              <a:srgbClr val="504C49"/>
                            </a:solidFill>
                            <a:latin typeface="Cambria Math" panose="02040503050406030204" pitchFamily="18" charset="0"/>
                            <a:ea typeface="Source Serif Pro" pitchFamily="34" charset="-122"/>
                          </a:rPr>
                        </m:ctrlPr>
                      </m:sSubPr>
                      <m:e>
                        <m:r>
                          <a:rPr lang="en-US" altLang="ko-KR" sz="1550" b="0" i="1" smtClean="0">
                            <a:solidFill>
                              <a:srgbClr val="504C49"/>
                            </a:solidFill>
                            <a:latin typeface="Cambria Math" panose="02040503050406030204" pitchFamily="18" charset="0"/>
                            <a:ea typeface="Source Serif Pro" pitchFamily="34" charset="-122"/>
                          </a:rPr>
                          <m:t>𝜃</m:t>
                        </m:r>
                      </m:e>
                      <m:sub>
                        <m:r>
                          <a:rPr lang="en-US" altLang="ko-KR" sz="1550" b="0" i="1" smtClean="0">
                            <a:solidFill>
                              <a:srgbClr val="504C49"/>
                            </a:solidFill>
                            <a:latin typeface="Cambria Math" panose="02040503050406030204" pitchFamily="18" charset="0"/>
                            <a:ea typeface="Source Serif Pro" pitchFamily="34" charset="-122"/>
                          </a:rPr>
                          <m:t>𝑗</m:t>
                        </m:r>
                      </m:sub>
                    </m:sSub>
                  </m:oMath>
                </a14:m>
                <a:r>
                  <a:rPr lang="en-US" altLang="ko-KR" sz="1550" dirty="0">
                    <a:solidFill>
                      <a:srgbClr val="504C49"/>
                    </a:solidFill>
                    <a:latin typeface="Source Serif Pro" pitchFamily="34" charset="0"/>
                    <a:ea typeface="Source Serif Pro" pitchFamily="34" charset="-122"/>
                  </a:rPr>
                  <a:t> ​to shrink strongly to 0, or to take on large values ​​when necessary.</a:t>
                </a:r>
              </a:p>
              <a:p>
                <a:pPr marL="0" indent="0" algn="l">
                  <a:lnSpc>
                    <a:spcPts val="2500"/>
                  </a:lnSpc>
                  <a:buNone/>
                </a:pPr>
                <a:endParaRPr lang="en-US" altLang="ko-KR" sz="1550" dirty="0">
                  <a:solidFill>
                    <a:srgbClr val="504C49"/>
                  </a:solidFill>
                  <a:latin typeface="Source Serif Pro" pitchFamily="34" charset="0"/>
                  <a:ea typeface="Source Serif Pro" pitchFamily="34" charset="-122"/>
                </a:endParaRPr>
              </a:p>
              <a:p>
                <a:pPr>
                  <a:lnSpc>
                    <a:spcPts val="2500"/>
                  </a:lnSpc>
                </a:pPr>
                <a:r>
                  <a:rPr lang="en-US" altLang="ko-KR" sz="1550" dirty="0">
                    <a:solidFill>
                      <a:srgbClr val="FF0000"/>
                    </a:solidFill>
                    <a:latin typeface="Source Serif Pro" pitchFamily="34" charset="0"/>
                    <a:ea typeface="Source Serif Pro" pitchFamily="34" charset="-122"/>
                  </a:rPr>
                  <a:t>Observation Error Covariance</a:t>
                </a:r>
                <a:r>
                  <a:rPr lang="en-US" altLang="ko-KR" sz="1550" dirty="0">
                    <a:solidFill>
                      <a:srgbClr val="504C49"/>
                    </a:solidFill>
                    <a:latin typeface="Source Serif Pro" pitchFamily="34" charset="0"/>
                    <a:ea typeface="Source Serif Pro" pitchFamily="34" charset="-122"/>
                  </a:rPr>
                  <a:t>: </a:t>
                </a:r>
                <a14:m>
                  <m:oMath xmlns:m="http://schemas.openxmlformats.org/officeDocument/2006/math">
                    <m:sSub>
                      <m:sSubPr>
                        <m:ctrlPr>
                          <a:rPr lang="en-US" altLang="ko-KR" sz="1550" b="0" i="1" smtClean="0">
                            <a:solidFill>
                              <a:srgbClr val="504C49"/>
                            </a:solidFill>
                            <a:latin typeface="Cambria Math" panose="02040503050406030204" pitchFamily="18" charset="0"/>
                            <a:ea typeface="Source Serif Pro" pitchFamily="34" charset="-122"/>
                          </a:rPr>
                        </m:ctrlPr>
                      </m:sSubPr>
                      <m:e>
                        <m:r>
                          <m:rPr>
                            <m:sty m:val="p"/>
                          </m:rPr>
                          <a:rPr lang="en-US" altLang="ko-KR" sz="1550" b="0" i="0" smtClean="0">
                            <a:solidFill>
                              <a:srgbClr val="504C49"/>
                            </a:solidFill>
                            <a:latin typeface="Cambria Math" panose="02040503050406030204" pitchFamily="18" charset="0"/>
                            <a:ea typeface="Source Serif Pro" pitchFamily="34" charset="-122"/>
                          </a:rPr>
                          <m:t>Ω</m:t>
                        </m:r>
                      </m:e>
                      <m:sub>
                        <m:r>
                          <a:rPr lang="en-US" altLang="ko-KR" sz="1550" b="0" i="1" smtClean="0">
                            <a:solidFill>
                              <a:srgbClr val="504C49"/>
                            </a:solidFill>
                            <a:latin typeface="Cambria Math" panose="02040503050406030204" pitchFamily="18" charset="0"/>
                            <a:ea typeface="Source Serif Pro" pitchFamily="34" charset="-122"/>
                          </a:rPr>
                          <m:t>𝑡</m:t>
                        </m:r>
                      </m:sub>
                    </m:sSub>
                    <m:r>
                      <a:rPr lang="en-US" altLang="ko-KR" sz="1550" b="0" i="1" smtClean="0">
                        <a:solidFill>
                          <a:srgbClr val="504C49"/>
                        </a:solidFill>
                        <a:latin typeface="Cambria Math" panose="02040503050406030204" pitchFamily="18" charset="0"/>
                        <a:ea typeface="Source Serif Pro" pitchFamily="34" charset="-122"/>
                      </a:rPr>
                      <m:t>=</m:t>
                    </m:r>
                    <m:d>
                      <m:dPr>
                        <m:ctrlPr>
                          <a:rPr lang="en-US" altLang="ko-KR" sz="1550" b="0" i="1" smtClean="0">
                            <a:solidFill>
                              <a:srgbClr val="504C49"/>
                            </a:solidFill>
                            <a:latin typeface="Cambria Math" panose="02040503050406030204" pitchFamily="18" charset="0"/>
                            <a:ea typeface="Source Serif Pro" pitchFamily="34" charset="-122"/>
                          </a:rPr>
                        </m:ctrlPr>
                      </m:dPr>
                      <m:e>
                        <m:m>
                          <m:mPr>
                            <m:mcs>
                              <m:mc>
                                <m:mcPr>
                                  <m:count m:val="2"/>
                                  <m:mcJc m:val="center"/>
                                </m:mcPr>
                              </m:mc>
                            </m:mcs>
                            <m:ctrlPr>
                              <a:rPr lang="en-US" altLang="ko-KR" sz="1550" b="0" i="1" smtClean="0">
                                <a:solidFill>
                                  <a:srgbClr val="504C49"/>
                                </a:solidFill>
                                <a:latin typeface="Cambria Math" panose="02040503050406030204" pitchFamily="18" charset="0"/>
                                <a:ea typeface="Source Serif Pro" pitchFamily="34" charset="-122"/>
                              </a:rPr>
                            </m:ctrlPr>
                          </m:mPr>
                          <m:mr>
                            <m:e>
                              <m:sSubSup>
                                <m:sSubSupPr>
                                  <m:ctrlPr>
                                    <a:rPr lang="en-US" altLang="ko-KR" sz="1550" b="0" i="1" smtClean="0">
                                      <a:solidFill>
                                        <a:srgbClr val="504C49"/>
                                      </a:solidFill>
                                      <a:latin typeface="Cambria Math" panose="02040503050406030204" pitchFamily="18" charset="0"/>
                                      <a:ea typeface="Source Serif Pro" pitchFamily="34" charset="-122"/>
                                    </a:rPr>
                                  </m:ctrlPr>
                                </m:sSubSupPr>
                                <m:e>
                                  <m:r>
                                    <a:rPr lang="en-US" altLang="ko-KR" sz="1550" b="0" i="1" smtClean="0">
                                      <a:solidFill>
                                        <a:srgbClr val="504C49"/>
                                      </a:solidFill>
                                      <a:latin typeface="Cambria Math" panose="02040503050406030204" pitchFamily="18" charset="0"/>
                                      <a:ea typeface="Source Serif Pro" pitchFamily="34" charset="-122"/>
                                    </a:rPr>
                                    <m:t>𝜎</m:t>
                                  </m:r>
                                </m:e>
                                <m:sub>
                                  <m:r>
                                    <a:rPr lang="en-US" altLang="ko-KR" sz="1550" b="0" i="1" smtClean="0">
                                      <a:solidFill>
                                        <a:srgbClr val="504C49"/>
                                      </a:solidFill>
                                      <a:latin typeface="Cambria Math" panose="02040503050406030204" pitchFamily="18" charset="0"/>
                                      <a:ea typeface="Source Serif Pro" pitchFamily="34" charset="-122"/>
                                    </a:rPr>
                                    <m:t>𝑣𝑎𝑙𝑢𝑒</m:t>
                                  </m:r>
                                  <m:r>
                                    <a:rPr lang="en-US" altLang="ko-KR" sz="1550" b="0" i="1" smtClean="0">
                                      <a:solidFill>
                                        <a:srgbClr val="504C49"/>
                                      </a:solidFill>
                                      <a:latin typeface="Cambria Math" panose="02040503050406030204" pitchFamily="18" charset="0"/>
                                      <a:ea typeface="Source Serif Pro" pitchFamily="34" charset="-122"/>
                                    </a:rPr>
                                    <m:t>,</m:t>
                                  </m:r>
                                  <m:r>
                                    <a:rPr lang="en-US" altLang="ko-KR" sz="1550" b="0" i="1" smtClean="0">
                                      <a:solidFill>
                                        <a:srgbClr val="504C49"/>
                                      </a:solidFill>
                                      <a:latin typeface="Cambria Math" panose="02040503050406030204" pitchFamily="18" charset="0"/>
                                      <a:ea typeface="Source Serif Pro" pitchFamily="34" charset="-122"/>
                                    </a:rPr>
                                    <m:t>𝑡</m:t>
                                  </m:r>
                                </m:sub>
                                <m:sup>
                                  <m:r>
                                    <a:rPr lang="en-US" altLang="ko-KR" sz="1550" b="0" i="1" smtClean="0">
                                      <a:solidFill>
                                        <a:srgbClr val="504C49"/>
                                      </a:solidFill>
                                      <a:latin typeface="Cambria Math" panose="02040503050406030204" pitchFamily="18" charset="0"/>
                                      <a:ea typeface="Source Serif Pro" pitchFamily="34" charset="-122"/>
                                    </a:rPr>
                                    <m:t>2</m:t>
                                  </m:r>
                                </m:sup>
                              </m:sSubSup>
                            </m:e>
                            <m:e>
                              <m:sSub>
                                <m:sSubPr>
                                  <m:ctrlPr>
                                    <a:rPr lang="en-US" altLang="ko-KR" sz="1550" i="1">
                                      <a:solidFill>
                                        <a:srgbClr val="504C49"/>
                                      </a:solidFill>
                                      <a:latin typeface="Cambria Math" panose="02040503050406030204" pitchFamily="18" charset="0"/>
                                      <a:ea typeface="Source Serif Pro" pitchFamily="34" charset="-122"/>
                                    </a:rPr>
                                  </m:ctrlPr>
                                </m:sSubPr>
                                <m:e>
                                  <m:r>
                                    <a:rPr lang="en-US" altLang="ko-KR" sz="1550" i="1">
                                      <a:solidFill>
                                        <a:srgbClr val="504C49"/>
                                      </a:solidFill>
                                      <a:latin typeface="Cambria Math" panose="02040503050406030204" pitchFamily="18" charset="0"/>
                                      <a:ea typeface="Source Serif Pro" pitchFamily="34" charset="-122"/>
                                    </a:rPr>
                                    <m:t>𝜌</m:t>
                                  </m:r>
                                </m:e>
                                <m:sub>
                                  <m:r>
                                    <a:rPr lang="en-US" altLang="ko-KR" sz="1550" i="1">
                                      <a:solidFill>
                                        <a:srgbClr val="504C49"/>
                                      </a:solidFill>
                                      <a:latin typeface="Cambria Math" panose="02040503050406030204" pitchFamily="18" charset="0"/>
                                      <a:ea typeface="Source Serif Pro" pitchFamily="34" charset="-122"/>
                                    </a:rPr>
                                    <m:t>𝑡</m:t>
                                  </m:r>
                                </m:sub>
                              </m:sSub>
                              <m:sSub>
                                <m:sSubPr>
                                  <m:ctrlPr>
                                    <a:rPr lang="en-US" altLang="ko-KR" sz="1550" i="1">
                                      <a:solidFill>
                                        <a:srgbClr val="504C49"/>
                                      </a:solidFill>
                                      <a:latin typeface="Cambria Math" panose="02040503050406030204" pitchFamily="18" charset="0"/>
                                      <a:ea typeface="Source Serif Pro" pitchFamily="34" charset="-122"/>
                                    </a:rPr>
                                  </m:ctrlPr>
                                </m:sSubPr>
                                <m:e>
                                  <m:r>
                                    <a:rPr lang="en-US" altLang="ko-KR" sz="1550" i="1">
                                      <a:solidFill>
                                        <a:srgbClr val="504C49"/>
                                      </a:solidFill>
                                      <a:latin typeface="Cambria Math" panose="02040503050406030204" pitchFamily="18" charset="0"/>
                                      <a:ea typeface="Source Serif Pro" pitchFamily="34" charset="-122"/>
                                    </a:rPr>
                                    <m:t>𝜎</m:t>
                                  </m:r>
                                </m:e>
                                <m:sub>
                                  <m:r>
                                    <a:rPr lang="en-US" altLang="ko-KR" sz="1550" i="1">
                                      <a:solidFill>
                                        <a:srgbClr val="504C49"/>
                                      </a:solidFill>
                                      <a:latin typeface="Cambria Math" panose="02040503050406030204" pitchFamily="18" charset="0"/>
                                      <a:ea typeface="Source Serif Pro" pitchFamily="34" charset="-122"/>
                                    </a:rPr>
                                    <m:t>𝑣𝑎𝑙𝑢𝑒</m:t>
                                  </m:r>
                                  <m:r>
                                    <a:rPr lang="en-US" altLang="ko-KR" sz="1550" i="1">
                                      <a:solidFill>
                                        <a:srgbClr val="504C49"/>
                                      </a:solidFill>
                                      <a:latin typeface="Cambria Math" panose="02040503050406030204" pitchFamily="18" charset="0"/>
                                      <a:ea typeface="Source Serif Pro" pitchFamily="34" charset="-122"/>
                                    </a:rPr>
                                    <m:t>,</m:t>
                                  </m:r>
                                  <m:r>
                                    <a:rPr lang="en-US" altLang="ko-KR" sz="1550" i="1">
                                      <a:solidFill>
                                        <a:srgbClr val="504C49"/>
                                      </a:solidFill>
                                      <a:latin typeface="Cambria Math" panose="02040503050406030204" pitchFamily="18" charset="0"/>
                                      <a:ea typeface="Source Serif Pro" pitchFamily="34" charset="-122"/>
                                    </a:rPr>
                                    <m:t>𝑡</m:t>
                                  </m:r>
                                </m:sub>
                              </m:sSub>
                              <m:sSub>
                                <m:sSubPr>
                                  <m:ctrlPr>
                                    <a:rPr lang="en-US" altLang="ko-KR" sz="1550" i="1">
                                      <a:solidFill>
                                        <a:srgbClr val="504C49"/>
                                      </a:solidFill>
                                      <a:latin typeface="Cambria Math" panose="02040503050406030204" pitchFamily="18" charset="0"/>
                                      <a:ea typeface="Source Serif Pro" pitchFamily="34" charset="-122"/>
                                    </a:rPr>
                                  </m:ctrlPr>
                                </m:sSubPr>
                                <m:e>
                                  <m:r>
                                    <a:rPr lang="en-US" altLang="ko-KR" sz="1550" i="1">
                                      <a:solidFill>
                                        <a:srgbClr val="504C49"/>
                                      </a:solidFill>
                                      <a:latin typeface="Cambria Math" panose="02040503050406030204" pitchFamily="18" charset="0"/>
                                      <a:ea typeface="Source Serif Pro" pitchFamily="34" charset="-122"/>
                                    </a:rPr>
                                    <m:t>𝜎</m:t>
                                  </m:r>
                                </m:e>
                                <m:sub>
                                  <m:r>
                                    <a:rPr lang="en-US" altLang="ko-KR" sz="1550" i="1">
                                      <a:solidFill>
                                        <a:srgbClr val="504C49"/>
                                      </a:solidFill>
                                      <a:latin typeface="Cambria Math" panose="02040503050406030204" pitchFamily="18" charset="0"/>
                                      <a:ea typeface="Source Serif Pro" pitchFamily="34" charset="-122"/>
                                    </a:rPr>
                                    <m:t>𝑚𝑜𝑚</m:t>
                                  </m:r>
                                  <m:r>
                                    <a:rPr lang="en-US" altLang="ko-KR" sz="1550" i="1">
                                      <a:solidFill>
                                        <a:srgbClr val="504C49"/>
                                      </a:solidFill>
                                      <a:latin typeface="Cambria Math" panose="02040503050406030204" pitchFamily="18" charset="0"/>
                                      <a:ea typeface="Source Serif Pro" pitchFamily="34" charset="-122"/>
                                    </a:rPr>
                                    <m:t>,</m:t>
                                  </m:r>
                                  <m:r>
                                    <a:rPr lang="en-US" altLang="ko-KR" sz="1550" i="1">
                                      <a:solidFill>
                                        <a:srgbClr val="504C49"/>
                                      </a:solidFill>
                                      <a:latin typeface="Cambria Math" panose="02040503050406030204" pitchFamily="18" charset="0"/>
                                      <a:ea typeface="Source Serif Pro" pitchFamily="34" charset="-122"/>
                                    </a:rPr>
                                    <m:t>𝑡</m:t>
                                  </m:r>
                                </m:sub>
                              </m:sSub>
                            </m:e>
                          </m:mr>
                          <m:mr>
                            <m:e>
                              <m:sSub>
                                <m:sSubPr>
                                  <m:ctrlPr>
                                    <a:rPr lang="en-US" altLang="ko-KR" sz="1550" b="0" i="1" smtClean="0">
                                      <a:solidFill>
                                        <a:srgbClr val="504C49"/>
                                      </a:solidFill>
                                      <a:latin typeface="Cambria Math" panose="02040503050406030204" pitchFamily="18" charset="0"/>
                                      <a:ea typeface="Source Serif Pro" pitchFamily="34" charset="-122"/>
                                    </a:rPr>
                                  </m:ctrlPr>
                                </m:sSubPr>
                                <m:e>
                                  <m:r>
                                    <a:rPr lang="en-US" altLang="ko-KR" sz="1550" b="0" i="1" smtClean="0">
                                      <a:solidFill>
                                        <a:srgbClr val="504C49"/>
                                      </a:solidFill>
                                      <a:latin typeface="Cambria Math" panose="02040503050406030204" pitchFamily="18" charset="0"/>
                                      <a:ea typeface="Source Serif Pro" pitchFamily="34" charset="-122"/>
                                    </a:rPr>
                                    <m:t>𝜌</m:t>
                                  </m:r>
                                </m:e>
                                <m:sub>
                                  <m:r>
                                    <a:rPr lang="en-US" altLang="ko-KR" sz="1550" b="0" i="1" smtClean="0">
                                      <a:solidFill>
                                        <a:srgbClr val="504C49"/>
                                      </a:solidFill>
                                      <a:latin typeface="Cambria Math" panose="02040503050406030204" pitchFamily="18" charset="0"/>
                                      <a:ea typeface="Source Serif Pro" pitchFamily="34" charset="-122"/>
                                    </a:rPr>
                                    <m:t>𝑡</m:t>
                                  </m:r>
                                </m:sub>
                              </m:sSub>
                              <m:sSub>
                                <m:sSubPr>
                                  <m:ctrlPr>
                                    <a:rPr lang="en-US" altLang="ko-KR" sz="1550" b="0" i="1" smtClean="0">
                                      <a:solidFill>
                                        <a:srgbClr val="504C49"/>
                                      </a:solidFill>
                                      <a:latin typeface="Cambria Math" panose="02040503050406030204" pitchFamily="18" charset="0"/>
                                      <a:ea typeface="Source Serif Pro" pitchFamily="34" charset="-122"/>
                                    </a:rPr>
                                  </m:ctrlPr>
                                </m:sSubPr>
                                <m:e>
                                  <m:r>
                                    <a:rPr lang="en-US" altLang="ko-KR" sz="1550" b="0" i="1" smtClean="0">
                                      <a:solidFill>
                                        <a:srgbClr val="504C49"/>
                                      </a:solidFill>
                                      <a:latin typeface="Cambria Math" panose="02040503050406030204" pitchFamily="18" charset="0"/>
                                      <a:ea typeface="Source Serif Pro" pitchFamily="34" charset="-122"/>
                                    </a:rPr>
                                    <m:t>𝜎</m:t>
                                  </m:r>
                                </m:e>
                                <m:sub>
                                  <m:r>
                                    <a:rPr lang="en-US" altLang="ko-KR" sz="1550" b="0" i="1" smtClean="0">
                                      <a:solidFill>
                                        <a:srgbClr val="504C49"/>
                                      </a:solidFill>
                                      <a:latin typeface="Cambria Math" panose="02040503050406030204" pitchFamily="18" charset="0"/>
                                      <a:ea typeface="Source Serif Pro" pitchFamily="34" charset="-122"/>
                                    </a:rPr>
                                    <m:t>𝑣𝑎𝑙𝑢𝑒</m:t>
                                  </m:r>
                                  <m:r>
                                    <a:rPr lang="en-US" altLang="ko-KR" sz="1550" b="0" i="1" smtClean="0">
                                      <a:solidFill>
                                        <a:srgbClr val="504C49"/>
                                      </a:solidFill>
                                      <a:latin typeface="Cambria Math" panose="02040503050406030204" pitchFamily="18" charset="0"/>
                                      <a:ea typeface="Source Serif Pro" pitchFamily="34" charset="-122"/>
                                    </a:rPr>
                                    <m:t>,</m:t>
                                  </m:r>
                                  <m:r>
                                    <a:rPr lang="en-US" altLang="ko-KR" sz="1550" b="0" i="1" smtClean="0">
                                      <a:solidFill>
                                        <a:srgbClr val="504C49"/>
                                      </a:solidFill>
                                      <a:latin typeface="Cambria Math" panose="02040503050406030204" pitchFamily="18" charset="0"/>
                                      <a:ea typeface="Source Serif Pro" pitchFamily="34" charset="-122"/>
                                    </a:rPr>
                                    <m:t>𝑡</m:t>
                                  </m:r>
                                </m:sub>
                              </m:sSub>
                              <m:sSub>
                                <m:sSubPr>
                                  <m:ctrlPr>
                                    <a:rPr lang="en-US" altLang="ko-KR" sz="1550" b="0" i="1" smtClean="0">
                                      <a:solidFill>
                                        <a:srgbClr val="504C49"/>
                                      </a:solidFill>
                                      <a:latin typeface="Cambria Math" panose="02040503050406030204" pitchFamily="18" charset="0"/>
                                      <a:ea typeface="Source Serif Pro" pitchFamily="34" charset="-122"/>
                                    </a:rPr>
                                  </m:ctrlPr>
                                </m:sSubPr>
                                <m:e>
                                  <m:r>
                                    <a:rPr lang="en-US" altLang="ko-KR" sz="1550" b="0" i="1" smtClean="0">
                                      <a:solidFill>
                                        <a:srgbClr val="504C49"/>
                                      </a:solidFill>
                                      <a:latin typeface="Cambria Math" panose="02040503050406030204" pitchFamily="18" charset="0"/>
                                      <a:ea typeface="Source Serif Pro" pitchFamily="34" charset="-122"/>
                                    </a:rPr>
                                    <m:t>𝜎</m:t>
                                  </m:r>
                                </m:e>
                                <m:sub>
                                  <m:r>
                                    <a:rPr lang="en-US" altLang="ko-KR" sz="1550" b="0" i="1" smtClean="0">
                                      <a:solidFill>
                                        <a:srgbClr val="504C49"/>
                                      </a:solidFill>
                                      <a:latin typeface="Cambria Math" panose="02040503050406030204" pitchFamily="18" charset="0"/>
                                      <a:ea typeface="Source Serif Pro" pitchFamily="34" charset="-122"/>
                                    </a:rPr>
                                    <m:t>𝑚𝑜𝑚</m:t>
                                  </m:r>
                                  <m:r>
                                    <a:rPr lang="en-US" altLang="ko-KR" sz="1550" b="0" i="1" smtClean="0">
                                      <a:solidFill>
                                        <a:srgbClr val="504C49"/>
                                      </a:solidFill>
                                      <a:latin typeface="Cambria Math" panose="02040503050406030204" pitchFamily="18" charset="0"/>
                                      <a:ea typeface="Source Serif Pro" pitchFamily="34" charset="-122"/>
                                    </a:rPr>
                                    <m:t>,</m:t>
                                  </m:r>
                                  <m:r>
                                    <a:rPr lang="en-US" altLang="ko-KR" sz="1550" b="0" i="1" smtClean="0">
                                      <a:solidFill>
                                        <a:srgbClr val="504C49"/>
                                      </a:solidFill>
                                      <a:latin typeface="Cambria Math" panose="02040503050406030204" pitchFamily="18" charset="0"/>
                                      <a:ea typeface="Source Serif Pro" pitchFamily="34" charset="-122"/>
                                    </a:rPr>
                                    <m:t>𝑡</m:t>
                                  </m:r>
                                </m:sub>
                              </m:sSub>
                            </m:e>
                            <m:e>
                              <m:sSubSup>
                                <m:sSubSupPr>
                                  <m:ctrlPr>
                                    <a:rPr lang="en-US" altLang="ko-KR" sz="1550" b="0" i="1" smtClean="0">
                                      <a:solidFill>
                                        <a:srgbClr val="504C49"/>
                                      </a:solidFill>
                                      <a:latin typeface="Cambria Math" panose="02040503050406030204" pitchFamily="18" charset="0"/>
                                      <a:ea typeface="Source Serif Pro" pitchFamily="34" charset="-122"/>
                                    </a:rPr>
                                  </m:ctrlPr>
                                </m:sSubSupPr>
                                <m:e>
                                  <m:r>
                                    <a:rPr lang="en-US" altLang="ko-KR" sz="1550" b="0" i="1" smtClean="0">
                                      <a:solidFill>
                                        <a:srgbClr val="504C49"/>
                                      </a:solidFill>
                                      <a:latin typeface="Cambria Math" panose="02040503050406030204" pitchFamily="18" charset="0"/>
                                      <a:ea typeface="Source Serif Pro" pitchFamily="34" charset="-122"/>
                                    </a:rPr>
                                    <m:t>𝜎</m:t>
                                  </m:r>
                                </m:e>
                                <m:sub>
                                  <m:r>
                                    <a:rPr lang="en-US" altLang="ko-KR" sz="1550" b="0" i="1" smtClean="0">
                                      <a:solidFill>
                                        <a:srgbClr val="504C49"/>
                                      </a:solidFill>
                                      <a:latin typeface="Cambria Math" panose="02040503050406030204" pitchFamily="18" charset="0"/>
                                      <a:ea typeface="Source Serif Pro" pitchFamily="34" charset="-122"/>
                                    </a:rPr>
                                    <m:t>𝑚𝑜𝑚</m:t>
                                  </m:r>
                                  <m:r>
                                    <a:rPr lang="en-US" altLang="ko-KR" sz="1550" b="0" i="1" smtClean="0">
                                      <a:solidFill>
                                        <a:srgbClr val="504C49"/>
                                      </a:solidFill>
                                      <a:latin typeface="Cambria Math" panose="02040503050406030204" pitchFamily="18" charset="0"/>
                                      <a:ea typeface="Source Serif Pro" pitchFamily="34" charset="-122"/>
                                    </a:rPr>
                                    <m:t>,</m:t>
                                  </m:r>
                                  <m:r>
                                    <a:rPr lang="en-US" altLang="ko-KR" sz="1550" b="0" i="1" smtClean="0">
                                      <a:solidFill>
                                        <a:srgbClr val="504C49"/>
                                      </a:solidFill>
                                      <a:latin typeface="Cambria Math" panose="02040503050406030204" pitchFamily="18" charset="0"/>
                                      <a:ea typeface="Source Serif Pro" pitchFamily="34" charset="-122"/>
                                    </a:rPr>
                                    <m:t>𝑡</m:t>
                                  </m:r>
                                </m:sub>
                                <m:sup>
                                  <m:r>
                                    <a:rPr lang="en-US" altLang="ko-KR" sz="1550" b="0" i="1" smtClean="0">
                                      <a:solidFill>
                                        <a:srgbClr val="504C49"/>
                                      </a:solidFill>
                                      <a:latin typeface="Cambria Math" panose="02040503050406030204" pitchFamily="18" charset="0"/>
                                      <a:ea typeface="Source Serif Pro" pitchFamily="34" charset="-122"/>
                                    </a:rPr>
                                    <m:t>2</m:t>
                                  </m:r>
                                </m:sup>
                              </m:sSubSup>
                            </m:e>
                          </m:mr>
                        </m:m>
                      </m:e>
                    </m:d>
                  </m:oMath>
                </a14:m>
                <a:endParaRPr lang="en-US" altLang="ko-KR" sz="1550" b="0" dirty="0">
                  <a:solidFill>
                    <a:srgbClr val="504C49"/>
                  </a:solidFill>
                  <a:latin typeface="Source Serif Pro" pitchFamily="34" charset="0"/>
                  <a:ea typeface="Source Serif Pro" pitchFamily="34" charset="-122"/>
                </a:endParaRPr>
              </a:p>
              <a:p>
                <a:pPr marL="0" indent="0" algn="l">
                  <a:lnSpc>
                    <a:spcPts val="2500"/>
                  </a:lnSpc>
                  <a:buNone/>
                </a:pPr>
                <a:endParaRPr lang="en-US" altLang="ko-KR" sz="1550" b="0" dirty="0">
                  <a:solidFill>
                    <a:srgbClr val="504C49"/>
                  </a:solidFill>
                  <a:latin typeface="Source Serif Pro" pitchFamily="34" charset="0"/>
                  <a:ea typeface="Source Serif Pro" pitchFamily="34" charset="-122"/>
                </a:endParaRPr>
              </a:p>
              <a:p>
                <a:pPr marL="0" indent="0" algn="l">
                  <a:lnSpc>
                    <a:spcPts val="2500"/>
                  </a:lnSpc>
                  <a:buNone/>
                </a:pPr>
                <a:r>
                  <a:rPr lang="en-US" altLang="ko-KR" sz="1550" dirty="0">
                    <a:solidFill>
                      <a:srgbClr val="504C49"/>
                    </a:solidFill>
                    <a:latin typeface="Source Serif Pro" pitchFamily="34" charset="0"/>
                    <a:ea typeface="Source Serif Pro" pitchFamily="34" charset="-122"/>
                  </a:rPr>
                  <a:t>Considering the method of </a:t>
                </a:r>
                <a:r>
                  <a:rPr lang="en-US" altLang="ko-KR" sz="1550" dirty="0" err="1">
                    <a:solidFill>
                      <a:srgbClr val="504C49"/>
                    </a:solidFill>
                    <a:latin typeface="Source Serif Pro" pitchFamily="34" charset="0"/>
                    <a:ea typeface="Source Serif Pro" pitchFamily="34" charset="-122"/>
                  </a:rPr>
                  <a:t>Primiceri</a:t>
                </a:r>
                <a:r>
                  <a:rPr lang="en-US" altLang="ko-KR" sz="1550" dirty="0">
                    <a:solidFill>
                      <a:srgbClr val="504C49"/>
                    </a:solidFill>
                    <a:latin typeface="Source Serif Pro" pitchFamily="34" charset="0"/>
                    <a:ea typeface="Source Serif Pro" pitchFamily="34" charset="-122"/>
                  </a:rPr>
                  <a:t> (2005), decompose </a:t>
                </a:r>
                <a14:m>
                  <m:oMath xmlns:m="http://schemas.openxmlformats.org/officeDocument/2006/math">
                    <m:sSub>
                      <m:sSubPr>
                        <m:ctrlPr>
                          <a:rPr lang="en-US" altLang="ko-KR" sz="1550" b="0" i="1" smtClean="0">
                            <a:solidFill>
                              <a:srgbClr val="504C49"/>
                            </a:solidFill>
                            <a:latin typeface="Cambria Math" panose="02040503050406030204" pitchFamily="18" charset="0"/>
                            <a:ea typeface="Source Serif Pro" pitchFamily="34" charset="-122"/>
                          </a:rPr>
                        </m:ctrlPr>
                      </m:sSubPr>
                      <m:e>
                        <m:r>
                          <m:rPr>
                            <m:sty m:val="p"/>
                          </m:rPr>
                          <a:rPr lang="en-US" altLang="ko-KR" sz="1550" b="0" i="0" smtClean="0">
                            <a:solidFill>
                              <a:srgbClr val="504C49"/>
                            </a:solidFill>
                            <a:latin typeface="Cambria Math" panose="02040503050406030204" pitchFamily="18" charset="0"/>
                            <a:ea typeface="Source Serif Pro" pitchFamily="34" charset="-122"/>
                          </a:rPr>
                          <m:t>Ω</m:t>
                        </m:r>
                      </m:e>
                      <m:sub>
                        <m:r>
                          <a:rPr lang="en-US" altLang="ko-KR" sz="1550" b="0" i="1" smtClean="0">
                            <a:solidFill>
                              <a:srgbClr val="504C49"/>
                            </a:solidFill>
                            <a:latin typeface="Cambria Math" panose="02040503050406030204" pitchFamily="18" charset="0"/>
                            <a:ea typeface="Source Serif Pro" pitchFamily="34" charset="-122"/>
                          </a:rPr>
                          <m:t>𝑡</m:t>
                        </m:r>
                      </m:sub>
                    </m:sSub>
                  </m:oMath>
                </a14:m>
                <a:r>
                  <a:rPr lang="en-US" altLang="ko-KR" sz="1550" dirty="0">
                    <a:solidFill>
                      <a:srgbClr val="504C49"/>
                    </a:solidFill>
                    <a:latin typeface="Source Serif Pro" pitchFamily="34" charset="0"/>
                    <a:ea typeface="Source Serif Pro" pitchFamily="34" charset="-122"/>
                  </a:rPr>
                  <a:t> to </a:t>
                </a:r>
                <a14:m>
                  <m:oMath xmlns:m="http://schemas.openxmlformats.org/officeDocument/2006/math">
                    <m:sSub>
                      <m:sSubPr>
                        <m:ctrlPr>
                          <a:rPr lang="en-US" altLang="ko-KR" sz="1550" b="0" i="1" smtClean="0">
                            <a:solidFill>
                              <a:srgbClr val="504C49"/>
                            </a:solidFill>
                            <a:latin typeface="Cambria Math" panose="02040503050406030204" pitchFamily="18" charset="0"/>
                            <a:ea typeface="Source Serif Pro" pitchFamily="34" charset="-122"/>
                          </a:rPr>
                        </m:ctrlPr>
                      </m:sSubPr>
                      <m:e>
                        <m:r>
                          <a:rPr lang="en-US" altLang="ko-KR" sz="1550" b="0" i="1" smtClean="0">
                            <a:solidFill>
                              <a:srgbClr val="504C49"/>
                            </a:solidFill>
                            <a:latin typeface="Cambria Math" panose="02040503050406030204" pitchFamily="18" charset="0"/>
                            <a:ea typeface="Source Serif Pro" pitchFamily="34" charset="-122"/>
                          </a:rPr>
                          <m:t>𝐴</m:t>
                        </m:r>
                      </m:e>
                      <m:sub>
                        <m:r>
                          <a:rPr lang="en-US" altLang="ko-KR" sz="1550" b="0" i="1" smtClean="0">
                            <a:solidFill>
                              <a:srgbClr val="504C49"/>
                            </a:solidFill>
                            <a:latin typeface="Cambria Math" panose="02040503050406030204" pitchFamily="18" charset="0"/>
                            <a:ea typeface="Source Serif Pro" pitchFamily="34" charset="-122"/>
                          </a:rPr>
                          <m:t>𝑡</m:t>
                        </m:r>
                      </m:sub>
                    </m:sSub>
                  </m:oMath>
                </a14:m>
                <a:r>
                  <a:rPr lang="en-US" altLang="ko-KR" sz="1550" dirty="0">
                    <a:solidFill>
                      <a:srgbClr val="504C49"/>
                    </a:solidFill>
                    <a:latin typeface="Source Serif Pro" pitchFamily="34" charset="0"/>
                    <a:ea typeface="Source Serif Pro" pitchFamily="34" charset="-122"/>
                  </a:rPr>
                  <a:t> and </a:t>
                </a:r>
                <a14:m>
                  <m:oMath xmlns:m="http://schemas.openxmlformats.org/officeDocument/2006/math">
                    <m:sSub>
                      <m:sSubPr>
                        <m:ctrlPr>
                          <a:rPr lang="en-US" altLang="ko-KR" sz="1550" b="0" i="1" smtClean="0">
                            <a:solidFill>
                              <a:srgbClr val="504C49"/>
                            </a:solidFill>
                            <a:latin typeface="Cambria Math" panose="02040503050406030204" pitchFamily="18" charset="0"/>
                            <a:ea typeface="Source Serif Pro" pitchFamily="34" charset="-122"/>
                          </a:rPr>
                        </m:ctrlPr>
                      </m:sSubPr>
                      <m:e>
                        <m:r>
                          <a:rPr lang="en-US" altLang="ko-KR" sz="1550" b="0" i="1" smtClean="0">
                            <a:solidFill>
                              <a:srgbClr val="504C49"/>
                            </a:solidFill>
                            <a:latin typeface="Cambria Math" panose="02040503050406030204" pitchFamily="18" charset="0"/>
                            <a:ea typeface="Source Serif Pro" pitchFamily="34" charset="-122"/>
                          </a:rPr>
                          <m:t>𝐻</m:t>
                        </m:r>
                      </m:e>
                      <m:sub>
                        <m:r>
                          <a:rPr lang="en-US" altLang="ko-KR" sz="1550" b="0" i="1" smtClean="0">
                            <a:solidFill>
                              <a:srgbClr val="504C49"/>
                            </a:solidFill>
                            <a:latin typeface="Cambria Math" panose="02040503050406030204" pitchFamily="18" charset="0"/>
                            <a:ea typeface="Source Serif Pro" pitchFamily="34" charset="-122"/>
                          </a:rPr>
                          <m:t>𝑡</m:t>
                        </m:r>
                      </m:sub>
                    </m:sSub>
                  </m:oMath>
                </a14:m>
                <a:r>
                  <a:rPr lang="en-US" altLang="ko-KR" sz="1550" dirty="0">
                    <a:solidFill>
                      <a:srgbClr val="504C49"/>
                    </a:solidFill>
                    <a:latin typeface="Source Serif Pro" pitchFamily="34" charset="0"/>
                    <a:ea typeface="Source Serif Pro" pitchFamily="34" charset="-122"/>
                  </a:rPr>
                  <a:t> </a:t>
                </a:r>
                <a:r>
                  <a:rPr lang="en-US" altLang="ko-KR" sz="1550" dirty="0" err="1">
                    <a:solidFill>
                      <a:srgbClr val="504C49"/>
                    </a:solidFill>
                    <a:latin typeface="Source Serif Pro" pitchFamily="34" charset="0"/>
                    <a:ea typeface="Source Serif Pro" pitchFamily="34" charset="-122"/>
                  </a:rPr>
                  <a:t>s.t.</a:t>
                </a:r>
                <a:r>
                  <a:rPr lang="en-US" altLang="ko-KR" sz="1550" dirty="0">
                    <a:solidFill>
                      <a:srgbClr val="504C49"/>
                    </a:solidFill>
                    <a:latin typeface="Source Serif Pro" pitchFamily="34" charset="0"/>
                    <a:ea typeface="Source Serif Pro" pitchFamily="34" charset="-122"/>
                  </a:rPr>
                  <a:t> </a:t>
                </a:r>
                <a14:m>
                  <m:oMath xmlns:m="http://schemas.openxmlformats.org/officeDocument/2006/math">
                    <m:sSub>
                      <m:sSubPr>
                        <m:ctrlPr>
                          <a:rPr lang="en-US" altLang="ko-KR" sz="1550" b="0" i="1" smtClean="0">
                            <a:solidFill>
                              <a:srgbClr val="504C49"/>
                            </a:solidFill>
                            <a:latin typeface="Cambria Math" panose="02040503050406030204" pitchFamily="18" charset="0"/>
                            <a:ea typeface="Source Serif Pro" pitchFamily="34" charset="-122"/>
                          </a:rPr>
                        </m:ctrlPr>
                      </m:sSubPr>
                      <m:e>
                        <m:r>
                          <m:rPr>
                            <m:sty m:val="p"/>
                          </m:rPr>
                          <a:rPr lang="en-US" altLang="ko-KR" sz="1550" b="0" i="0" smtClean="0">
                            <a:solidFill>
                              <a:srgbClr val="504C49"/>
                            </a:solidFill>
                            <a:latin typeface="Cambria Math" panose="02040503050406030204" pitchFamily="18" charset="0"/>
                            <a:ea typeface="Source Serif Pro" pitchFamily="34" charset="-122"/>
                          </a:rPr>
                          <m:t>Ω</m:t>
                        </m:r>
                      </m:e>
                      <m:sub>
                        <m:r>
                          <a:rPr lang="en-US" altLang="ko-KR" sz="1550" b="0" i="1" smtClean="0">
                            <a:solidFill>
                              <a:srgbClr val="504C49"/>
                            </a:solidFill>
                            <a:latin typeface="Cambria Math" panose="02040503050406030204" pitchFamily="18" charset="0"/>
                            <a:ea typeface="Source Serif Pro" pitchFamily="34" charset="-122"/>
                          </a:rPr>
                          <m:t>𝑡</m:t>
                        </m:r>
                      </m:sub>
                    </m:sSub>
                    <m:r>
                      <a:rPr lang="en-US" altLang="ko-KR" sz="1550" b="0" i="1" smtClean="0">
                        <a:solidFill>
                          <a:srgbClr val="504C49"/>
                        </a:solidFill>
                        <a:latin typeface="Cambria Math" panose="02040503050406030204" pitchFamily="18" charset="0"/>
                        <a:ea typeface="Source Serif Pro" pitchFamily="34" charset="-122"/>
                      </a:rPr>
                      <m:t>=</m:t>
                    </m:r>
                    <m:sSubSup>
                      <m:sSubSupPr>
                        <m:ctrlPr>
                          <a:rPr lang="en-US" altLang="ko-KR" sz="1550" b="0" i="1" smtClean="0">
                            <a:solidFill>
                              <a:srgbClr val="504C49"/>
                            </a:solidFill>
                            <a:latin typeface="Cambria Math" panose="02040503050406030204" pitchFamily="18" charset="0"/>
                            <a:ea typeface="Source Serif Pro" pitchFamily="34" charset="-122"/>
                          </a:rPr>
                        </m:ctrlPr>
                      </m:sSubSupPr>
                      <m:e>
                        <m:r>
                          <a:rPr lang="en-US" altLang="ko-KR" sz="1550" b="0" i="1" smtClean="0">
                            <a:solidFill>
                              <a:srgbClr val="504C49"/>
                            </a:solidFill>
                            <a:latin typeface="Cambria Math" panose="02040503050406030204" pitchFamily="18" charset="0"/>
                            <a:ea typeface="Source Serif Pro" pitchFamily="34" charset="-122"/>
                          </a:rPr>
                          <m:t>𝐴</m:t>
                        </m:r>
                      </m:e>
                      <m:sub>
                        <m:r>
                          <a:rPr lang="en-US" altLang="ko-KR" sz="1550" b="0" i="1" smtClean="0">
                            <a:solidFill>
                              <a:srgbClr val="504C49"/>
                            </a:solidFill>
                            <a:latin typeface="Cambria Math" panose="02040503050406030204" pitchFamily="18" charset="0"/>
                            <a:ea typeface="Source Serif Pro" pitchFamily="34" charset="-122"/>
                          </a:rPr>
                          <m:t>𝑡</m:t>
                        </m:r>
                      </m:sub>
                      <m:sup>
                        <m:r>
                          <a:rPr lang="en-US" altLang="ko-KR" sz="1550" b="0" i="1" smtClean="0">
                            <a:solidFill>
                              <a:srgbClr val="504C49"/>
                            </a:solidFill>
                            <a:latin typeface="Cambria Math" panose="02040503050406030204" pitchFamily="18" charset="0"/>
                            <a:ea typeface="Source Serif Pro" pitchFamily="34" charset="-122"/>
                          </a:rPr>
                          <m:t>−1</m:t>
                        </m:r>
                      </m:sup>
                    </m:sSubSup>
                    <m:sSub>
                      <m:sSubPr>
                        <m:ctrlPr>
                          <a:rPr lang="en-US" altLang="ko-KR" sz="1550" b="0" i="1" smtClean="0">
                            <a:solidFill>
                              <a:srgbClr val="504C49"/>
                            </a:solidFill>
                            <a:latin typeface="Cambria Math" panose="02040503050406030204" pitchFamily="18" charset="0"/>
                            <a:ea typeface="Source Serif Pro" pitchFamily="34" charset="-122"/>
                          </a:rPr>
                        </m:ctrlPr>
                      </m:sSubPr>
                      <m:e>
                        <m:r>
                          <a:rPr lang="en-US" altLang="ko-KR" sz="1550" b="0" i="1" smtClean="0">
                            <a:solidFill>
                              <a:srgbClr val="504C49"/>
                            </a:solidFill>
                            <a:latin typeface="Cambria Math" panose="02040503050406030204" pitchFamily="18" charset="0"/>
                            <a:ea typeface="Source Serif Pro" pitchFamily="34" charset="-122"/>
                          </a:rPr>
                          <m:t>𝐻</m:t>
                        </m:r>
                      </m:e>
                      <m:sub>
                        <m:r>
                          <a:rPr lang="en-US" altLang="ko-KR" sz="1550" b="0" i="1" smtClean="0">
                            <a:solidFill>
                              <a:srgbClr val="504C49"/>
                            </a:solidFill>
                            <a:latin typeface="Cambria Math" panose="02040503050406030204" pitchFamily="18" charset="0"/>
                            <a:ea typeface="Source Serif Pro" pitchFamily="34" charset="-122"/>
                          </a:rPr>
                          <m:t>𝑡</m:t>
                        </m:r>
                      </m:sub>
                    </m:sSub>
                    <m:sSup>
                      <m:sSupPr>
                        <m:ctrlPr>
                          <a:rPr lang="en-US" altLang="ko-KR" sz="1550" b="0" i="1" smtClean="0">
                            <a:solidFill>
                              <a:srgbClr val="504C49"/>
                            </a:solidFill>
                            <a:latin typeface="Cambria Math" panose="02040503050406030204" pitchFamily="18" charset="0"/>
                            <a:ea typeface="Source Serif Pro" pitchFamily="34" charset="-122"/>
                          </a:rPr>
                        </m:ctrlPr>
                      </m:sSupPr>
                      <m:e>
                        <m:d>
                          <m:dPr>
                            <m:ctrlPr>
                              <a:rPr lang="en-US" altLang="ko-KR" sz="1550" b="0" i="1" smtClean="0">
                                <a:solidFill>
                                  <a:srgbClr val="504C49"/>
                                </a:solidFill>
                                <a:latin typeface="Cambria Math" panose="02040503050406030204" pitchFamily="18" charset="0"/>
                                <a:ea typeface="Source Serif Pro" pitchFamily="34" charset="-122"/>
                              </a:rPr>
                            </m:ctrlPr>
                          </m:dPr>
                          <m:e>
                            <m:sSubSup>
                              <m:sSubSupPr>
                                <m:ctrlPr>
                                  <a:rPr lang="en-US" altLang="ko-KR" sz="1550" b="0" i="1" smtClean="0">
                                    <a:solidFill>
                                      <a:srgbClr val="504C49"/>
                                    </a:solidFill>
                                    <a:latin typeface="Cambria Math" panose="02040503050406030204" pitchFamily="18" charset="0"/>
                                    <a:ea typeface="Source Serif Pro" pitchFamily="34" charset="-122"/>
                                  </a:rPr>
                                </m:ctrlPr>
                              </m:sSubSupPr>
                              <m:e>
                                <m:r>
                                  <a:rPr lang="en-US" altLang="ko-KR" sz="1550" b="0" i="1" smtClean="0">
                                    <a:solidFill>
                                      <a:srgbClr val="504C49"/>
                                    </a:solidFill>
                                    <a:latin typeface="Cambria Math" panose="02040503050406030204" pitchFamily="18" charset="0"/>
                                    <a:ea typeface="Source Serif Pro" pitchFamily="34" charset="-122"/>
                                  </a:rPr>
                                  <m:t>𝐴</m:t>
                                </m:r>
                              </m:e>
                              <m:sub>
                                <m:r>
                                  <a:rPr lang="en-US" altLang="ko-KR" sz="1550" b="0" i="1" smtClean="0">
                                    <a:solidFill>
                                      <a:srgbClr val="504C49"/>
                                    </a:solidFill>
                                    <a:latin typeface="Cambria Math" panose="02040503050406030204" pitchFamily="18" charset="0"/>
                                    <a:ea typeface="Source Serif Pro" pitchFamily="34" charset="-122"/>
                                  </a:rPr>
                                  <m:t>𝑡</m:t>
                                </m:r>
                              </m:sub>
                              <m:sup>
                                <m:r>
                                  <a:rPr lang="en-US" altLang="ko-KR" sz="1550" b="0" i="1" smtClean="0">
                                    <a:solidFill>
                                      <a:srgbClr val="504C49"/>
                                    </a:solidFill>
                                    <a:latin typeface="Cambria Math" panose="02040503050406030204" pitchFamily="18" charset="0"/>
                                    <a:ea typeface="Source Serif Pro" pitchFamily="34" charset="-122"/>
                                  </a:rPr>
                                  <m:t>−1</m:t>
                                </m:r>
                              </m:sup>
                            </m:sSubSup>
                          </m:e>
                        </m:d>
                      </m:e>
                      <m:sup>
                        <m:r>
                          <a:rPr lang="en-US" altLang="ko-KR" sz="1550" b="0" i="1" smtClean="0">
                            <a:solidFill>
                              <a:srgbClr val="504C49"/>
                            </a:solidFill>
                            <a:latin typeface="Cambria Math" panose="02040503050406030204" pitchFamily="18" charset="0"/>
                            <a:ea typeface="Source Serif Pro" pitchFamily="34" charset="-122"/>
                          </a:rPr>
                          <m:t>⊤</m:t>
                        </m:r>
                      </m:sup>
                    </m:sSup>
                  </m:oMath>
                </a14:m>
                <a:r>
                  <a:rPr lang="en-US" altLang="ko-KR" sz="1550" b="0" dirty="0">
                    <a:solidFill>
                      <a:srgbClr val="504C49"/>
                    </a:solidFill>
                    <a:latin typeface="Source Serif Pro" pitchFamily="34" charset="0"/>
                    <a:ea typeface="Source Serif Pro" pitchFamily="34" charset="-122"/>
                  </a:rPr>
                  <a:t>, </a:t>
                </a:r>
                <a14:m>
                  <m:oMath xmlns:m="http://schemas.openxmlformats.org/officeDocument/2006/math">
                    <m:sSub>
                      <m:sSubPr>
                        <m:ctrlPr>
                          <a:rPr lang="en-US" altLang="ko-KR" sz="1550" b="0" i="1" smtClean="0">
                            <a:solidFill>
                              <a:srgbClr val="504C49"/>
                            </a:solidFill>
                            <a:latin typeface="Cambria Math" panose="02040503050406030204" pitchFamily="18" charset="0"/>
                            <a:ea typeface="Source Serif Pro" pitchFamily="34" charset="-122"/>
                          </a:rPr>
                        </m:ctrlPr>
                      </m:sSubPr>
                      <m:e>
                        <m:r>
                          <a:rPr lang="en-US" altLang="ko-KR" sz="1550" b="0" i="1" smtClean="0">
                            <a:solidFill>
                              <a:srgbClr val="504C49"/>
                            </a:solidFill>
                            <a:latin typeface="Cambria Math" panose="02040503050406030204" pitchFamily="18" charset="0"/>
                            <a:ea typeface="Source Serif Pro" pitchFamily="34" charset="-122"/>
                          </a:rPr>
                          <m:t>𝐴</m:t>
                        </m:r>
                      </m:e>
                      <m:sub>
                        <m:r>
                          <a:rPr lang="en-US" altLang="ko-KR" sz="1550" b="0" i="1" smtClean="0">
                            <a:solidFill>
                              <a:srgbClr val="504C49"/>
                            </a:solidFill>
                            <a:latin typeface="Cambria Math" panose="02040503050406030204" pitchFamily="18" charset="0"/>
                            <a:ea typeface="Source Serif Pro" pitchFamily="34" charset="-122"/>
                          </a:rPr>
                          <m:t>𝑡</m:t>
                        </m:r>
                      </m:sub>
                    </m:sSub>
                    <m:r>
                      <a:rPr lang="en-US" altLang="ko-KR" sz="1550" b="0" i="1" smtClean="0">
                        <a:solidFill>
                          <a:srgbClr val="504C49"/>
                        </a:solidFill>
                        <a:latin typeface="Cambria Math" panose="02040503050406030204" pitchFamily="18" charset="0"/>
                        <a:ea typeface="Source Serif Pro" pitchFamily="34" charset="-122"/>
                      </a:rPr>
                      <m:t>=</m:t>
                    </m:r>
                    <m:d>
                      <m:dPr>
                        <m:ctrlPr>
                          <a:rPr lang="en-US" altLang="ko-KR" sz="1550" b="0" i="1" smtClean="0">
                            <a:solidFill>
                              <a:srgbClr val="504C49"/>
                            </a:solidFill>
                            <a:latin typeface="Cambria Math" panose="02040503050406030204" pitchFamily="18" charset="0"/>
                            <a:ea typeface="Source Serif Pro" pitchFamily="34" charset="-122"/>
                          </a:rPr>
                        </m:ctrlPr>
                      </m:dPr>
                      <m:e>
                        <m:m>
                          <m:mPr>
                            <m:mcs>
                              <m:mc>
                                <m:mcPr>
                                  <m:count m:val="2"/>
                                  <m:mcJc m:val="center"/>
                                </m:mcPr>
                              </m:mc>
                            </m:mcs>
                            <m:ctrlPr>
                              <a:rPr lang="en-US" altLang="ko-KR" sz="1550" b="0" i="1" smtClean="0">
                                <a:solidFill>
                                  <a:srgbClr val="504C49"/>
                                </a:solidFill>
                                <a:latin typeface="Cambria Math" panose="02040503050406030204" pitchFamily="18" charset="0"/>
                                <a:ea typeface="Source Serif Pro" pitchFamily="34" charset="-122"/>
                              </a:rPr>
                            </m:ctrlPr>
                          </m:mPr>
                          <m:mr>
                            <m:e>
                              <m:r>
                                <m:rPr>
                                  <m:brk m:alnAt="7"/>
                                </m:rPr>
                                <a:rPr lang="en-US" altLang="ko-KR" sz="1550" b="0" i="1" smtClean="0">
                                  <a:solidFill>
                                    <a:srgbClr val="504C49"/>
                                  </a:solidFill>
                                  <a:latin typeface="Cambria Math" panose="02040503050406030204" pitchFamily="18" charset="0"/>
                                  <a:ea typeface="Source Serif Pro" pitchFamily="34" charset="-122"/>
                                </a:rPr>
                                <m:t>1</m:t>
                              </m:r>
                            </m:e>
                            <m:e>
                              <m:r>
                                <a:rPr lang="en-US" altLang="ko-KR" sz="1550" b="0" i="1" smtClean="0">
                                  <a:solidFill>
                                    <a:srgbClr val="504C49"/>
                                  </a:solidFill>
                                  <a:latin typeface="Cambria Math" panose="02040503050406030204" pitchFamily="18" charset="0"/>
                                  <a:ea typeface="Source Serif Pro" pitchFamily="34" charset="-122"/>
                                </a:rPr>
                                <m:t>0</m:t>
                              </m:r>
                            </m:e>
                          </m:mr>
                          <m:mr>
                            <m:e>
                              <m:sSub>
                                <m:sSubPr>
                                  <m:ctrlPr>
                                    <a:rPr lang="en-US" altLang="ko-KR" sz="1550" b="0" i="1" smtClean="0">
                                      <a:solidFill>
                                        <a:srgbClr val="504C49"/>
                                      </a:solidFill>
                                      <a:latin typeface="Cambria Math" panose="02040503050406030204" pitchFamily="18" charset="0"/>
                                      <a:ea typeface="Source Serif Pro" pitchFamily="34" charset="-122"/>
                                    </a:rPr>
                                  </m:ctrlPr>
                                </m:sSubPr>
                                <m:e>
                                  <m:r>
                                    <a:rPr lang="en-US" altLang="ko-KR" sz="1550" b="0" i="1" smtClean="0">
                                      <a:solidFill>
                                        <a:srgbClr val="504C49"/>
                                      </a:solidFill>
                                      <a:latin typeface="Cambria Math" panose="02040503050406030204" pitchFamily="18" charset="0"/>
                                      <a:ea typeface="Source Serif Pro" pitchFamily="34" charset="-122"/>
                                    </a:rPr>
                                    <m:t>𝑎</m:t>
                                  </m:r>
                                </m:e>
                                <m:sub>
                                  <m:r>
                                    <a:rPr lang="en-US" altLang="ko-KR" sz="1550" b="0" i="1" smtClean="0">
                                      <a:solidFill>
                                        <a:srgbClr val="504C49"/>
                                      </a:solidFill>
                                      <a:latin typeface="Cambria Math" panose="02040503050406030204" pitchFamily="18" charset="0"/>
                                      <a:ea typeface="Source Serif Pro" pitchFamily="34" charset="-122"/>
                                    </a:rPr>
                                    <m:t>𝑣𝑚</m:t>
                                  </m:r>
                                  <m:r>
                                    <a:rPr lang="en-US" altLang="ko-KR" sz="1550" b="0" i="1" smtClean="0">
                                      <a:solidFill>
                                        <a:srgbClr val="504C49"/>
                                      </a:solidFill>
                                      <a:latin typeface="Cambria Math" panose="02040503050406030204" pitchFamily="18" charset="0"/>
                                      <a:ea typeface="Source Serif Pro" pitchFamily="34" charset="-122"/>
                                    </a:rPr>
                                    <m:t>,</m:t>
                                  </m:r>
                                  <m:r>
                                    <a:rPr lang="en-US" altLang="ko-KR" sz="1550" b="0" i="1" smtClean="0">
                                      <a:solidFill>
                                        <a:srgbClr val="504C49"/>
                                      </a:solidFill>
                                      <a:latin typeface="Cambria Math" panose="02040503050406030204" pitchFamily="18" charset="0"/>
                                      <a:ea typeface="Source Serif Pro" pitchFamily="34" charset="-122"/>
                                    </a:rPr>
                                    <m:t>𝑡</m:t>
                                  </m:r>
                                </m:sub>
                              </m:sSub>
                            </m:e>
                            <m:e>
                              <m:r>
                                <a:rPr lang="en-US" altLang="ko-KR" sz="1550" b="0" i="1" smtClean="0">
                                  <a:solidFill>
                                    <a:srgbClr val="504C49"/>
                                  </a:solidFill>
                                  <a:latin typeface="Cambria Math" panose="02040503050406030204" pitchFamily="18" charset="0"/>
                                  <a:ea typeface="Source Serif Pro" pitchFamily="34" charset="-122"/>
                                </a:rPr>
                                <m:t>1</m:t>
                              </m:r>
                            </m:e>
                          </m:mr>
                        </m:m>
                      </m:e>
                    </m:d>
                    <m:r>
                      <a:rPr lang="en-US" altLang="ko-KR" sz="1550" b="0" i="0" smtClean="0">
                        <a:solidFill>
                          <a:srgbClr val="504C49"/>
                        </a:solidFill>
                        <a:latin typeface="Cambria Math" panose="02040503050406030204" pitchFamily="18" charset="0"/>
                        <a:ea typeface="Source Serif Pro" pitchFamily="34" charset="-122"/>
                      </a:rPr>
                      <m:t>, </m:t>
                    </m:r>
                    <m:sSub>
                      <m:sSubPr>
                        <m:ctrlPr>
                          <a:rPr lang="en-US" altLang="ko-KR" sz="1550" b="0" i="1" smtClean="0">
                            <a:solidFill>
                              <a:srgbClr val="504C49"/>
                            </a:solidFill>
                            <a:latin typeface="Cambria Math" panose="02040503050406030204" pitchFamily="18" charset="0"/>
                            <a:ea typeface="Source Serif Pro" pitchFamily="34" charset="-122"/>
                          </a:rPr>
                        </m:ctrlPr>
                      </m:sSubPr>
                      <m:e>
                        <m:r>
                          <a:rPr lang="en-US" altLang="ko-KR" sz="1550" b="0" i="1" smtClean="0">
                            <a:solidFill>
                              <a:srgbClr val="504C49"/>
                            </a:solidFill>
                            <a:latin typeface="Cambria Math" panose="02040503050406030204" pitchFamily="18" charset="0"/>
                            <a:ea typeface="Source Serif Pro" pitchFamily="34" charset="-122"/>
                          </a:rPr>
                          <m:t>𝐻</m:t>
                        </m:r>
                      </m:e>
                      <m:sub>
                        <m:r>
                          <a:rPr lang="en-US" altLang="ko-KR" sz="1550" b="0" i="1" smtClean="0">
                            <a:solidFill>
                              <a:srgbClr val="504C49"/>
                            </a:solidFill>
                            <a:latin typeface="Cambria Math" panose="02040503050406030204" pitchFamily="18" charset="0"/>
                            <a:ea typeface="Source Serif Pro" pitchFamily="34" charset="-122"/>
                          </a:rPr>
                          <m:t>𝑡</m:t>
                        </m:r>
                      </m:sub>
                    </m:sSub>
                    <m:r>
                      <a:rPr lang="en-US" altLang="ko-KR" sz="1550" b="0" i="1" smtClean="0">
                        <a:solidFill>
                          <a:srgbClr val="504C49"/>
                        </a:solidFill>
                        <a:latin typeface="Cambria Math" panose="02040503050406030204" pitchFamily="18" charset="0"/>
                        <a:ea typeface="Source Serif Pro" pitchFamily="34" charset="-122"/>
                      </a:rPr>
                      <m:t>=</m:t>
                    </m:r>
                    <m:d>
                      <m:dPr>
                        <m:ctrlPr>
                          <a:rPr lang="en-US" altLang="ko-KR" sz="1550" b="0" i="1" smtClean="0">
                            <a:solidFill>
                              <a:srgbClr val="504C49"/>
                            </a:solidFill>
                            <a:latin typeface="Cambria Math" panose="02040503050406030204" pitchFamily="18" charset="0"/>
                            <a:ea typeface="Source Serif Pro" pitchFamily="34" charset="-122"/>
                          </a:rPr>
                        </m:ctrlPr>
                      </m:dPr>
                      <m:e>
                        <m:m>
                          <m:mPr>
                            <m:mcs>
                              <m:mc>
                                <m:mcPr>
                                  <m:count m:val="2"/>
                                  <m:mcJc m:val="center"/>
                                </m:mcPr>
                              </m:mc>
                            </m:mcs>
                            <m:ctrlPr>
                              <a:rPr lang="en-US" altLang="ko-KR" sz="1550" b="0" i="1" smtClean="0">
                                <a:solidFill>
                                  <a:srgbClr val="504C49"/>
                                </a:solidFill>
                                <a:latin typeface="Cambria Math" panose="02040503050406030204" pitchFamily="18" charset="0"/>
                                <a:ea typeface="Source Serif Pro" pitchFamily="34" charset="-122"/>
                              </a:rPr>
                            </m:ctrlPr>
                          </m:mPr>
                          <m:mr>
                            <m:e>
                              <m:sSub>
                                <m:sSubPr>
                                  <m:ctrlPr>
                                    <a:rPr lang="en-US" altLang="ko-KR" sz="1550" b="0" i="1" smtClean="0">
                                      <a:solidFill>
                                        <a:srgbClr val="504C49"/>
                                      </a:solidFill>
                                      <a:latin typeface="Cambria Math" panose="02040503050406030204" pitchFamily="18" charset="0"/>
                                      <a:ea typeface="Source Serif Pro" pitchFamily="34" charset="-122"/>
                                    </a:rPr>
                                  </m:ctrlPr>
                                </m:sSubPr>
                                <m:e>
                                  <m:r>
                                    <m:rPr>
                                      <m:brk m:alnAt="7"/>
                                    </m:rPr>
                                    <a:rPr lang="en-US" altLang="ko-KR" sz="1550" b="0" i="1" smtClean="0">
                                      <a:solidFill>
                                        <a:srgbClr val="504C49"/>
                                      </a:solidFill>
                                      <a:latin typeface="Cambria Math" panose="02040503050406030204" pitchFamily="18" charset="0"/>
                                      <a:ea typeface="Source Serif Pro" pitchFamily="34" charset="-122"/>
                                    </a:rPr>
                                    <m:t>h</m:t>
                                  </m:r>
                                </m:e>
                                <m:sub>
                                  <m:r>
                                    <a:rPr lang="en-US" altLang="ko-KR" sz="1550" b="0" i="1" smtClean="0">
                                      <a:solidFill>
                                        <a:srgbClr val="504C49"/>
                                      </a:solidFill>
                                      <a:latin typeface="Cambria Math" panose="02040503050406030204" pitchFamily="18" charset="0"/>
                                      <a:ea typeface="Source Serif Pro" pitchFamily="34" charset="-122"/>
                                    </a:rPr>
                                    <m:t>1,</m:t>
                                  </m:r>
                                  <m:r>
                                    <a:rPr lang="en-US" altLang="ko-KR" sz="1550" b="0" i="1" smtClean="0">
                                      <a:solidFill>
                                        <a:srgbClr val="504C49"/>
                                      </a:solidFill>
                                      <a:latin typeface="Cambria Math" panose="02040503050406030204" pitchFamily="18" charset="0"/>
                                      <a:ea typeface="Source Serif Pro" pitchFamily="34" charset="-122"/>
                                    </a:rPr>
                                    <m:t>𝑡</m:t>
                                  </m:r>
                                </m:sub>
                              </m:sSub>
                            </m:e>
                            <m:e>
                              <m:r>
                                <a:rPr lang="en-US" altLang="ko-KR" sz="1550" b="0" i="1" smtClean="0">
                                  <a:solidFill>
                                    <a:srgbClr val="504C49"/>
                                  </a:solidFill>
                                  <a:latin typeface="Cambria Math" panose="02040503050406030204" pitchFamily="18" charset="0"/>
                                  <a:ea typeface="Source Serif Pro" pitchFamily="34" charset="-122"/>
                                </a:rPr>
                                <m:t>0</m:t>
                              </m:r>
                            </m:e>
                          </m:mr>
                          <m:mr>
                            <m:e>
                              <m:r>
                                <a:rPr lang="en-US" altLang="ko-KR" sz="1550" b="0" i="1" smtClean="0">
                                  <a:solidFill>
                                    <a:srgbClr val="504C49"/>
                                  </a:solidFill>
                                  <a:latin typeface="Cambria Math" panose="02040503050406030204" pitchFamily="18" charset="0"/>
                                  <a:ea typeface="Source Serif Pro" pitchFamily="34" charset="-122"/>
                                </a:rPr>
                                <m:t>0</m:t>
                              </m:r>
                            </m:e>
                            <m:e>
                              <m:sSub>
                                <m:sSubPr>
                                  <m:ctrlPr>
                                    <a:rPr lang="en-US" altLang="ko-KR" sz="1550" b="0" i="1" smtClean="0">
                                      <a:solidFill>
                                        <a:srgbClr val="504C49"/>
                                      </a:solidFill>
                                      <a:latin typeface="Cambria Math" panose="02040503050406030204" pitchFamily="18" charset="0"/>
                                      <a:ea typeface="Source Serif Pro" pitchFamily="34" charset="-122"/>
                                    </a:rPr>
                                  </m:ctrlPr>
                                </m:sSubPr>
                                <m:e>
                                  <m:r>
                                    <a:rPr lang="en-US" altLang="ko-KR" sz="1550" b="0" i="1" smtClean="0">
                                      <a:solidFill>
                                        <a:srgbClr val="504C49"/>
                                      </a:solidFill>
                                      <a:latin typeface="Cambria Math" panose="02040503050406030204" pitchFamily="18" charset="0"/>
                                      <a:ea typeface="Source Serif Pro" pitchFamily="34" charset="-122"/>
                                    </a:rPr>
                                    <m:t>h</m:t>
                                  </m:r>
                                </m:e>
                                <m:sub>
                                  <m:r>
                                    <a:rPr lang="en-US" altLang="ko-KR" sz="1550" b="0" i="1" smtClean="0">
                                      <a:solidFill>
                                        <a:srgbClr val="504C49"/>
                                      </a:solidFill>
                                      <a:latin typeface="Cambria Math" panose="02040503050406030204" pitchFamily="18" charset="0"/>
                                      <a:ea typeface="Source Serif Pro" pitchFamily="34" charset="-122"/>
                                    </a:rPr>
                                    <m:t>2,</m:t>
                                  </m:r>
                                  <m:r>
                                    <a:rPr lang="en-US" altLang="ko-KR" sz="1550" b="0" i="1" smtClean="0">
                                      <a:solidFill>
                                        <a:srgbClr val="504C49"/>
                                      </a:solidFill>
                                      <a:latin typeface="Cambria Math" panose="02040503050406030204" pitchFamily="18" charset="0"/>
                                      <a:ea typeface="Source Serif Pro" pitchFamily="34" charset="-122"/>
                                    </a:rPr>
                                    <m:t>𝑡</m:t>
                                  </m:r>
                                </m:sub>
                              </m:sSub>
                            </m:e>
                          </m:mr>
                        </m:m>
                      </m:e>
                    </m:d>
                  </m:oMath>
                </a14:m>
                <a:br>
                  <a:rPr lang="en-US" altLang="ko-KR" sz="1550" b="0" dirty="0">
                    <a:solidFill>
                      <a:srgbClr val="504C49"/>
                    </a:solidFill>
                    <a:latin typeface="Source Serif Pro" pitchFamily="34" charset="0"/>
                    <a:ea typeface="Source Serif Pro" pitchFamily="34" charset="-122"/>
                  </a:rPr>
                </a:br>
                <a:r>
                  <a:rPr lang="en-US" altLang="ko-KR" sz="1550" b="0" dirty="0">
                    <a:solidFill>
                      <a:srgbClr val="504C49"/>
                    </a:solidFill>
                    <a:latin typeface="Source Serif Pro" pitchFamily="34" charset="0"/>
                    <a:ea typeface="Source Serif Pro" pitchFamily="34" charset="-122"/>
                  </a:rPr>
                  <a:t>Each parameter </a:t>
                </a:r>
                <a14:m>
                  <m:oMath xmlns:m="http://schemas.openxmlformats.org/officeDocument/2006/math">
                    <m:sSub>
                      <m:sSubPr>
                        <m:ctrlPr>
                          <a:rPr lang="en-US" altLang="ko-KR" sz="1550" b="0" i="1" smtClean="0">
                            <a:solidFill>
                              <a:srgbClr val="504C49"/>
                            </a:solidFill>
                            <a:latin typeface="Cambria Math" panose="02040503050406030204" pitchFamily="18" charset="0"/>
                            <a:ea typeface="Source Serif Pro" pitchFamily="34" charset="-122"/>
                          </a:rPr>
                        </m:ctrlPr>
                      </m:sSubPr>
                      <m:e>
                        <m:r>
                          <a:rPr lang="en-US" altLang="ko-KR" sz="1550" b="0" i="1" smtClean="0">
                            <a:solidFill>
                              <a:srgbClr val="504C49"/>
                            </a:solidFill>
                            <a:latin typeface="Cambria Math" panose="02040503050406030204" pitchFamily="18" charset="0"/>
                            <a:ea typeface="Source Serif Pro" pitchFamily="34" charset="-122"/>
                          </a:rPr>
                          <m:t>𝑎</m:t>
                        </m:r>
                      </m:e>
                      <m:sub>
                        <m:r>
                          <a:rPr lang="en-US" altLang="ko-KR" sz="1550" b="0" i="1" smtClean="0">
                            <a:solidFill>
                              <a:srgbClr val="504C49"/>
                            </a:solidFill>
                            <a:latin typeface="Cambria Math" panose="02040503050406030204" pitchFamily="18" charset="0"/>
                            <a:ea typeface="Source Serif Pro" pitchFamily="34" charset="-122"/>
                          </a:rPr>
                          <m:t>𝑣𝑚</m:t>
                        </m:r>
                        <m:r>
                          <a:rPr lang="en-US" altLang="ko-KR" sz="1550" b="0" i="1" smtClean="0">
                            <a:solidFill>
                              <a:srgbClr val="504C49"/>
                            </a:solidFill>
                            <a:latin typeface="Cambria Math" panose="02040503050406030204" pitchFamily="18" charset="0"/>
                            <a:ea typeface="Source Serif Pro" pitchFamily="34" charset="-122"/>
                          </a:rPr>
                          <m:t>,</m:t>
                        </m:r>
                        <m:r>
                          <a:rPr lang="en-US" altLang="ko-KR" sz="1550" b="0" i="1" smtClean="0">
                            <a:solidFill>
                              <a:srgbClr val="504C49"/>
                            </a:solidFill>
                            <a:latin typeface="Cambria Math" panose="02040503050406030204" pitchFamily="18" charset="0"/>
                            <a:ea typeface="Source Serif Pro" pitchFamily="34" charset="-122"/>
                          </a:rPr>
                          <m:t>𝑡</m:t>
                        </m:r>
                      </m:sub>
                    </m:sSub>
                    <m:r>
                      <a:rPr lang="en-US" altLang="ko-KR" sz="1550" b="0" i="1" smtClean="0">
                        <a:solidFill>
                          <a:srgbClr val="504C49"/>
                        </a:solidFill>
                        <a:latin typeface="Cambria Math" panose="02040503050406030204" pitchFamily="18" charset="0"/>
                        <a:ea typeface="Source Serif Pro" pitchFamily="34" charset="-122"/>
                      </a:rPr>
                      <m:t>,</m:t>
                    </m:r>
                    <m:sSub>
                      <m:sSubPr>
                        <m:ctrlPr>
                          <a:rPr lang="en-US" altLang="ko-KR" sz="1550" b="0" i="1" smtClean="0">
                            <a:solidFill>
                              <a:srgbClr val="504C49"/>
                            </a:solidFill>
                            <a:latin typeface="Cambria Math" panose="02040503050406030204" pitchFamily="18" charset="0"/>
                            <a:ea typeface="Source Serif Pro" pitchFamily="34" charset="-122"/>
                          </a:rPr>
                        </m:ctrlPr>
                      </m:sSubPr>
                      <m:e>
                        <m:r>
                          <a:rPr lang="en-US" altLang="ko-KR" sz="1550" b="0" i="1" smtClean="0">
                            <a:solidFill>
                              <a:srgbClr val="504C49"/>
                            </a:solidFill>
                            <a:latin typeface="Cambria Math" panose="02040503050406030204" pitchFamily="18" charset="0"/>
                            <a:ea typeface="Source Serif Pro" pitchFamily="34" charset="-122"/>
                          </a:rPr>
                          <m:t>h</m:t>
                        </m:r>
                      </m:e>
                      <m:sub>
                        <m:r>
                          <a:rPr lang="en-US" altLang="ko-KR" sz="1550" b="0" i="1" smtClean="0">
                            <a:solidFill>
                              <a:srgbClr val="504C49"/>
                            </a:solidFill>
                            <a:latin typeface="Cambria Math" panose="02040503050406030204" pitchFamily="18" charset="0"/>
                            <a:ea typeface="Source Serif Pro" pitchFamily="34" charset="-122"/>
                          </a:rPr>
                          <m:t>1,</m:t>
                        </m:r>
                        <m:r>
                          <a:rPr lang="en-US" altLang="ko-KR" sz="1550" b="0" i="1" smtClean="0">
                            <a:solidFill>
                              <a:srgbClr val="504C49"/>
                            </a:solidFill>
                            <a:latin typeface="Cambria Math" panose="02040503050406030204" pitchFamily="18" charset="0"/>
                            <a:ea typeface="Source Serif Pro" pitchFamily="34" charset="-122"/>
                          </a:rPr>
                          <m:t>𝑡</m:t>
                        </m:r>
                      </m:sub>
                    </m:sSub>
                    <m:r>
                      <a:rPr lang="en-US" altLang="ko-KR" sz="1550" b="0" i="1" smtClean="0">
                        <a:solidFill>
                          <a:srgbClr val="504C49"/>
                        </a:solidFill>
                        <a:latin typeface="Cambria Math" panose="02040503050406030204" pitchFamily="18" charset="0"/>
                        <a:ea typeface="Source Serif Pro" pitchFamily="34" charset="-122"/>
                      </a:rPr>
                      <m:t>,</m:t>
                    </m:r>
                    <m:sSub>
                      <m:sSubPr>
                        <m:ctrlPr>
                          <a:rPr lang="en-US" altLang="ko-KR" sz="1550" b="0" i="1" smtClean="0">
                            <a:solidFill>
                              <a:srgbClr val="504C49"/>
                            </a:solidFill>
                            <a:latin typeface="Cambria Math" panose="02040503050406030204" pitchFamily="18" charset="0"/>
                            <a:ea typeface="Source Serif Pro" pitchFamily="34" charset="-122"/>
                          </a:rPr>
                        </m:ctrlPr>
                      </m:sSubPr>
                      <m:e>
                        <m:r>
                          <a:rPr lang="en-US" altLang="ko-KR" sz="1550" b="0" i="1" smtClean="0">
                            <a:solidFill>
                              <a:srgbClr val="504C49"/>
                            </a:solidFill>
                            <a:latin typeface="Cambria Math" panose="02040503050406030204" pitchFamily="18" charset="0"/>
                            <a:ea typeface="Source Serif Pro" pitchFamily="34" charset="-122"/>
                          </a:rPr>
                          <m:t>h</m:t>
                        </m:r>
                      </m:e>
                      <m:sub>
                        <m:r>
                          <a:rPr lang="en-US" altLang="ko-KR" sz="1550" b="0" i="1" smtClean="0">
                            <a:solidFill>
                              <a:srgbClr val="504C49"/>
                            </a:solidFill>
                            <a:latin typeface="Cambria Math" panose="02040503050406030204" pitchFamily="18" charset="0"/>
                            <a:ea typeface="Source Serif Pro" pitchFamily="34" charset="-122"/>
                          </a:rPr>
                          <m:t>2,</m:t>
                        </m:r>
                        <m:r>
                          <a:rPr lang="en-US" altLang="ko-KR" sz="1550" b="0" i="1" smtClean="0">
                            <a:solidFill>
                              <a:srgbClr val="504C49"/>
                            </a:solidFill>
                            <a:latin typeface="Cambria Math" panose="02040503050406030204" pitchFamily="18" charset="0"/>
                            <a:ea typeface="Source Serif Pro" pitchFamily="34" charset="-122"/>
                          </a:rPr>
                          <m:t>𝑡</m:t>
                        </m:r>
                      </m:sub>
                    </m:sSub>
                  </m:oMath>
                </a14:m>
                <a:r>
                  <a:rPr lang="en-US" altLang="ko-KR" sz="1550" dirty="0">
                    <a:solidFill>
                      <a:srgbClr val="504C49"/>
                    </a:solidFill>
                    <a:latin typeface="Source Serif Pro" pitchFamily="34" charset="0"/>
                    <a:ea typeface="Source Serif Pro" pitchFamily="34" charset="-122"/>
                  </a:rPr>
                  <a:t> follow the log random walk</a:t>
                </a:r>
              </a:p>
              <a:p>
                <a:pPr marL="0" indent="0" algn="l">
                  <a:lnSpc>
                    <a:spcPts val="2500"/>
                  </a:lnSpc>
                  <a:buNone/>
                </a:pPr>
                <a:r>
                  <a:rPr lang="en-US" altLang="ko-KR" sz="1550" dirty="0">
                    <a:solidFill>
                      <a:srgbClr val="504C49"/>
                    </a:solidFill>
                    <a:latin typeface="Source Serif Pro" pitchFamily="34" charset="0"/>
                    <a:ea typeface="Source Serif Pro" pitchFamily="34" charset="-122"/>
                  </a:rPr>
                  <a:t>	</a:t>
                </a:r>
                <a:r>
                  <a:rPr lang="en-US" altLang="ko-KR" sz="1550" dirty="0">
                    <a:solidFill>
                      <a:srgbClr val="504C49"/>
                    </a:solidFill>
                    <a:latin typeface="Source Serif Pro" pitchFamily="34" charset="0"/>
                    <a:ea typeface="Source Serif Pro" pitchFamily="34" charset="-122"/>
                    <a:sym typeface="Wingdings" panose="05000000000000000000" pitchFamily="2" charset="2"/>
                  </a:rPr>
                  <a:t> </a:t>
                </a:r>
                <a14:m>
                  <m:oMath xmlns:m="http://schemas.openxmlformats.org/officeDocument/2006/math">
                    <m:sSub>
                      <m:sSubPr>
                        <m:ctrlPr>
                          <a:rPr lang="en-US" altLang="ko-KR" sz="1550" b="0" i="1" smtClean="0">
                            <a:solidFill>
                              <a:srgbClr val="504C49"/>
                            </a:solidFill>
                            <a:latin typeface="Cambria Math" panose="02040503050406030204" pitchFamily="18" charset="0"/>
                            <a:ea typeface="Source Serif Pro" pitchFamily="34" charset="-122"/>
                            <a:sym typeface="Wingdings" panose="05000000000000000000" pitchFamily="2" charset="2"/>
                          </a:rPr>
                        </m:ctrlPr>
                      </m:sSubPr>
                      <m:e>
                        <m:r>
                          <a:rPr lang="en-US" altLang="ko-KR" sz="1550" b="0" i="1" smtClean="0">
                            <a:solidFill>
                              <a:srgbClr val="504C49"/>
                            </a:solidFill>
                            <a:latin typeface="Cambria Math" panose="02040503050406030204" pitchFamily="18" charset="0"/>
                            <a:ea typeface="Source Serif Pro" pitchFamily="34" charset="-122"/>
                            <a:sym typeface="Wingdings" panose="05000000000000000000" pitchFamily="2" charset="2"/>
                          </a:rPr>
                          <m:t>𝑎</m:t>
                        </m:r>
                      </m:e>
                      <m:sub>
                        <m:r>
                          <a:rPr lang="en-US" altLang="ko-KR" sz="1550" b="0" i="1" smtClean="0">
                            <a:solidFill>
                              <a:srgbClr val="504C49"/>
                            </a:solidFill>
                            <a:latin typeface="Cambria Math" panose="02040503050406030204" pitchFamily="18" charset="0"/>
                            <a:ea typeface="Source Serif Pro" pitchFamily="34" charset="-122"/>
                            <a:sym typeface="Wingdings" panose="05000000000000000000" pitchFamily="2" charset="2"/>
                          </a:rPr>
                          <m:t>𝑣𝑚</m:t>
                        </m:r>
                        <m:r>
                          <a:rPr lang="en-US" altLang="ko-KR" sz="1550" b="0" i="1" smtClean="0">
                            <a:solidFill>
                              <a:srgbClr val="504C49"/>
                            </a:solidFill>
                            <a:latin typeface="Cambria Math" panose="02040503050406030204" pitchFamily="18" charset="0"/>
                            <a:ea typeface="Source Serif Pro" pitchFamily="34" charset="-122"/>
                            <a:sym typeface="Wingdings" panose="05000000000000000000" pitchFamily="2" charset="2"/>
                          </a:rPr>
                          <m:t>,</m:t>
                        </m:r>
                        <m:r>
                          <a:rPr lang="en-US" altLang="ko-KR" sz="1550" b="0" i="1" smtClean="0">
                            <a:solidFill>
                              <a:srgbClr val="504C49"/>
                            </a:solidFill>
                            <a:latin typeface="Cambria Math" panose="02040503050406030204" pitchFamily="18" charset="0"/>
                            <a:ea typeface="Source Serif Pro" pitchFamily="34" charset="-122"/>
                            <a:sym typeface="Wingdings" panose="05000000000000000000" pitchFamily="2" charset="2"/>
                          </a:rPr>
                          <m:t>𝑡</m:t>
                        </m:r>
                      </m:sub>
                    </m:sSub>
                    <m:r>
                      <a:rPr lang="en-US" altLang="ko-KR" sz="1550" b="0" i="1" smtClean="0">
                        <a:solidFill>
                          <a:srgbClr val="504C49"/>
                        </a:solidFill>
                        <a:latin typeface="Cambria Math" panose="02040503050406030204" pitchFamily="18" charset="0"/>
                        <a:ea typeface="Source Serif Pro" pitchFamily="34" charset="-122"/>
                        <a:sym typeface="Wingdings" panose="05000000000000000000" pitchFamily="2" charset="2"/>
                      </a:rPr>
                      <m:t>=</m:t>
                    </m:r>
                    <m:sSub>
                      <m:sSubPr>
                        <m:ctrlPr>
                          <a:rPr lang="en-US" altLang="ko-KR" sz="1550" b="0" i="1" smtClean="0">
                            <a:solidFill>
                              <a:srgbClr val="504C49"/>
                            </a:solidFill>
                            <a:latin typeface="Cambria Math" panose="02040503050406030204" pitchFamily="18" charset="0"/>
                            <a:ea typeface="Source Serif Pro" pitchFamily="34" charset="-122"/>
                            <a:sym typeface="Wingdings" panose="05000000000000000000" pitchFamily="2" charset="2"/>
                          </a:rPr>
                        </m:ctrlPr>
                      </m:sSubPr>
                      <m:e>
                        <m:r>
                          <a:rPr lang="en-US" altLang="ko-KR" sz="1550" b="0" i="1" smtClean="0">
                            <a:solidFill>
                              <a:srgbClr val="504C49"/>
                            </a:solidFill>
                            <a:latin typeface="Cambria Math" panose="02040503050406030204" pitchFamily="18" charset="0"/>
                            <a:ea typeface="Source Serif Pro" pitchFamily="34" charset="-122"/>
                            <a:sym typeface="Wingdings" panose="05000000000000000000" pitchFamily="2" charset="2"/>
                          </a:rPr>
                          <m:t>𝑎</m:t>
                        </m:r>
                      </m:e>
                      <m:sub>
                        <m:r>
                          <a:rPr lang="en-US" altLang="ko-KR" sz="1550" b="0" i="1" smtClean="0">
                            <a:solidFill>
                              <a:srgbClr val="504C49"/>
                            </a:solidFill>
                            <a:latin typeface="Cambria Math" panose="02040503050406030204" pitchFamily="18" charset="0"/>
                            <a:ea typeface="Source Serif Pro" pitchFamily="34" charset="-122"/>
                            <a:sym typeface="Wingdings" panose="05000000000000000000" pitchFamily="2" charset="2"/>
                          </a:rPr>
                          <m:t>𝑣𝑚</m:t>
                        </m:r>
                        <m:r>
                          <a:rPr lang="en-US" altLang="ko-KR" sz="1550" b="0" i="1" smtClean="0">
                            <a:solidFill>
                              <a:srgbClr val="504C49"/>
                            </a:solidFill>
                            <a:latin typeface="Cambria Math" panose="02040503050406030204" pitchFamily="18" charset="0"/>
                            <a:ea typeface="Source Serif Pro" pitchFamily="34" charset="-122"/>
                            <a:sym typeface="Wingdings" panose="05000000000000000000" pitchFamily="2" charset="2"/>
                          </a:rPr>
                          <m:t>,</m:t>
                        </m:r>
                        <m:r>
                          <a:rPr lang="en-US" altLang="ko-KR" sz="1550" b="0" i="1" smtClean="0">
                            <a:solidFill>
                              <a:srgbClr val="504C49"/>
                            </a:solidFill>
                            <a:latin typeface="Cambria Math" panose="02040503050406030204" pitchFamily="18" charset="0"/>
                            <a:ea typeface="Source Serif Pro" pitchFamily="34" charset="-122"/>
                            <a:sym typeface="Wingdings" panose="05000000000000000000" pitchFamily="2" charset="2"/>
                          </a:rPr>
                          <m:t>𝑡</m:t>
                        </m:r>
                        <m:r>
                          <a:rPr lang="en-US" altLang="ko-KR" sz="1550" b="0" i="1" smtClean="0">
                            <a:solidFill>
                              <a:srgbClr val="504C49"/>
                            </a:solidFill>
                            <a:latin typeface="Cambria Math" panose="02040503050406030204" pitchFamily="18" charset="0"/>
                            <a:ea typeface="Source Serif Pro" pitchFamily="34" charset="-122"/>
                            <a:sym typeface="Wingdings" panose="05000000000000000000" pitchFamily="2" charset="2"/>
                          </a:rPr>
                          <m:t>−1</m:t>
                        </m:r>
                      </m:sub>
                    </m:sSub>
                    <m:r>
                      <a:rPr lang="en-US" altLang="ko-KR" sz="1550" b="0" i="1" smtClean="0">
                        <a:solidFill>
                          <a:srgbClr val="504C49"/>
                        </a:solidFill>
                        <a:latin typeface="Cambria Math" panose="02040503050406030204" pitchFamily="18" charset="0"/>
                        <a:ea typeface="Source Serif Pro" pitchFamily="34" charset="-122"/>
                        <a:sym typeface="Wingdings" panose="05000000000000000000" pitchFamily="2" charset="2"/>
                      </a:rPr>
                      <m:t>+</m:t>
                    </m:r>
                    <m:sSub>
                      <m:sSubPr>
                        <m:ctrlPr>
                          <a:rPr lang="en-US" altLang="ko-KR" sz="1550" b="0" i="1" smtClean="0">
                            <a:solidFill>
                              <a:srgbClr val="504C49"/>
                            </a:solidFill>
                            <a:latin typeface="Cambria Math" panose="02040503050406030204" pitchFamily="18" charset="0"/>
                            <a:ea typeface="Source Serif Pro" pitchFamily="34" charset="-122"/>
                            <a:sym typeface="Wingdings" panose="05000000000000000000" pitchFamily="2" charset="2"/>
                          </a:rPr>
                        </m:ctrlPr>
                      </m:sSubPr>
                      <m:e>
                        <m:r>
                          <a:rPr lang="en-US" altLang="ko-KR" sz="1550" b="0" i="1" smtClean="0">
                            <a:solidFill>
                              <a:srgbClr val="504C49"/>
                            </a:solidFill>
                            <a:latin typeface="Cambria Math" panose="02040503050406030204" pitchFamily="18" charset="0"/>
                            <a:ea typeface="Source Serif Pro" pitchFamily="34" charset="-122"/>
                            <a:sym typeface="Wingdings" panose="05000000000000000000" pitchFamily="2" charset="2"/>
                          </a:rPr>
                          <m:t>𝜉</m:t>
                        </m:r>
                      </m:e>
                      <m:sub>
                        <m:r>
                          <a:rPr lang="en-US" altLang="ko-KR" sz="1550" b="0" i="1" smtClean="0">
                            <a:solidFill>
                              <a:srgbClr val="504C49"/>
                            </a:solidFill>
                            <a:latin typeface="Cambria Math" panose="02040503050406030204" pitchFamily="18" charset="0"/>
                            <a:ea typeface="Source Serif Pro" pitchFamily="34" charset="-122"/>
                            <a:sym typeface="Wingdings" panose="05000000000000000000" pitchFamily="2" charset="2"/>
                          </a:rPr>
                          <m:t>𝑡</m:t>
                        </m:r>
                      </m:sub>
                    </m:sSub>
                  </m:oMath>
                </a14:m>
                <a:r>
                  <a:rPr lang="en-US" altLang="ko-KR" sz="1550" dirty="0">
                    <a:solidFill>
                      <a:srgbClr val="504C49"/>
                    </a:solidFill>
                    <a:latin typeface="Source Serif Pro" pitchFamily="34" charset="0"/>
                    <a:ea typeface="Source Serif Pro" pitchFamily="34" charset="-122"/>
                    <a:sym typeface="Wingdings" panose="05000000000000000000" pitchFamily="2" charset="2"/>
                  </a:rPr>
                  <a:t>, </a:t>
                </a:r>
                <a14:m>
                  <m:oMath xmlns:m="http://schemas.openxmlformats.org/officeDocument/2006/math">
                    <m:sSub>
                      <m:sSubPr>
                        <m:ctrlPr>
                          <a:rPr lang="en-US" altLang="ko-KR" sz="1550" b="0" i="1" smtClean="0">
                            <a:solidFill>
                              <a:srgbClr val="504C49"/>
                            </a:solidFill>
                            <a:latin typeface="Cambria Math" panose="02040503050406030204" pitchFamily="18" charset="0"/>
                            <a:ea typeface="Source Serif Pro" pitchFamily="34" charset="-122"/>
                            <a:sym typeface="Wingdings" panose="05000000000000000000" pitchFamily="2" charset="2"/>
                          </a:rPr>
                        </m:ctrlPr>
                      </m:sSubPr>
                      <m:e>
                        <m:r>
                          <a:rPr lang="en-US" altLang="ko-KR" sz="1550" b="0" i="1" smtClean="0">
                            <a:solidFill>
                              <a:srgbClr val="504C49"/>
                            </a:solidFill>
                            <a:latin typeface="Cambria Math" panose="02040503050406030204" pitchFamily="18" charset="0"/>
                            <a:ea typeface="Source Serif Pro" pitchFamily="34" charset="-122"/>
                            <a:sym typeface="Wingdings" panose="05000000000000000000" pitchFamily="2" charset="2"/>
                          </a:rPr>
                          <m:t>𝜉</m:t>
                        </m:r>
                      </m:e>
                      <m:sub>
                        <m:r>
                          <a:rPr lang="en-US" altLang="ko-KR" sz="1550" b="0" i="1" smtClean="0">
                            <a:solidFill>
                              <a:srgbClr val="504C49"/>
                            </a:solidFill>
                            <a:latin typeface="Cambria Math" panose="02040503050406030204" pitchFamily="18" charset="0"/>
                            <a:ea typeface="Source Serif Pro" pitchFamily="34" charset="-122"/>
                            <a:sym typeface="Wingdings" panose="05000000000000000000" pitchFamily="2" charset="2"/>
                          </a:rPr>
                          <m:t>𝑡</m:t>
                        </m:r>
                      </m:sub>
                    </m:sSub>
                    <m:r>
                      <a:rPr lang="en-US" altLang="ko-KR" sz="1550" b="0" i="1" smtClean="0">
                        <a:solidFill>
                          <a:srgbClr val="504C49"/>
                        </a:solidFill>
                        <a:latin typeface="Cambria Math" panose="02040503050406030204" pitchFamily="18" charset="0"/>
                        <a:ea typeface="Source Serif Pro" pitchFamily="34" charset="-122"/>
                        <a:sym typeface="Wingdings" panose="05000000000000000000" pitchFamily="2" charset="2"/>
                      </a:rPr>
                      <m:t>∼</m:t>
                    </m:r>
                    <m:r>
                      <a:rPr lang="en-US" altLang="ko-KR" sz="1550" b="0" i="1" smtClean="0">
                        <a:solidFill>
                          <a:srgbClr val="504C49"/>
                        </a:solidFill>
                        <a:latin typeface="Cambria Math" panose="02040503050406030204" pitchFamily="18" charset="0"/>
                        <a:ea typeface="Source Serif Pro" pitchFamily="34" charset="-122"/>
                        <a:sym typeface="Wingdings" panose="05000000000000000000" pitchFamily="2" charset="2"/>
                      </a:rPr>
                      <m:t>𝑁</m:t>
                    </m:r>
                    <m:r>
                      <a:rPr lang="en-US" altLang="ko-KR" sz="1550" b="0" i="1" smtClean="0">
                        <a:solidFill>
                          <a:srgbClr val="504C49"/>
                        </a:solidFill>
                        <a:latin typeface="Cambria Math" panose="02040503050406030204" pitchFamily="18" charset="0"/>
                        <a:ea typeface="Source Serif Pro" pitchFamily="34" charset="-122"/>
                        <a:sym typeface="Wingdings" panose="05000000000000000000" pitchFamily="2" charset="2"/>
                      </a:rPr>
                      <m:t>(0,</m:t>
                    </m:r>
                    <m:sSubSup>
                      <m:sSubSupPr>
                        <m:ctrlPr>
                          <a:rPr lang="en-US" altLang="ko-KR" sz="1550" b="0" i="1" smtClean="0">
                            <a:solidFill>
                              <a:srgbClr val="504C49"/>
                            </a:solidFill>
                            <a:latin typeface="Cambria Math" panose="02040503050406030204" pitchFamily="18" charset="0"/>
                            <a:ea typeface="Source Serif Pro" pitchFamily="34" charset="-122"/>
                            <a:sym typeface="Wingdings" panose="05000000000000000000" pitchFamily="2" charset="2"/>
                          </a:rPr>
                        </m:ctrlPr>
                      </m:sSubSupPr>
                      <m:e>
                        <m:r>
                          <a:rPr lang="en-US" altLang="ko-KR" sz="1550" b="0" i="1" smtClean="0">
                            <a:solidFill>
                              <a:srgbClr val="504C49"/>
                            </a:solidFill>
                            <a:latin typeface="Cambria Math" panose="02040503050406030204" pitchFamily="18" charset="0"/>
                            <a:ea typeface="Source Serif Pro" pitchFamily="34" charset="-122"/>
                            <a:sym typeface="Wingdings" panose="05000000000000000000" pitchFamily="2" charset="2"/>
                          </a:rPr>
                          <m:t>𝜎</m:t>
                        </m:r>
                      </m:e>
                      <m:sub>
                        <m:r>
                          <a:rPr lang="en-US" altLang="ko-KR" sz="1550" b="0" i="1" smtClean="0">
                            <a:solidFill>
                              <a:srgbClr val="504C49"/>
                            </a:solidFill>
                            <a:latin typeface="Cambria Math" panose="02040503050406030204" pitchFamily="18" charset="0"/>
                            <a:ea typeface="Source Serif Pro" pitchFamily="34" charset="-122"/>
                            <a:sym typeface="Wingdings" panose="05000000000000000000" pitchFamily="2" charset="2"/>
                          </a:rPr>
                          <m:t>𝑎</m:t>
                        </m:r>
                      </m:sub>
                      <m:sup>
                        <m:r>
                          <a:rPr lang="en-US" altLang="ko-KR" sz="1550" b="0" i="1" smtClean="0">
                            <a:solidFill>
                              <a:srgbClr val="504C49"/>
                            </a:solidFill>
                            <a:latin typeface="Cambria Math" panose="02040503050406030204" pitchFamily="18" charset="0"/>
                            <a:ea typeface="Source Serif Pro" pitchFamily="34" charset="-122"/>
                            <a:sym typeface="Wingdings" panose="05000000000000000000" pitchFamily="2" charset="2"/>
                          </a:rPr>
                          <m:t>2</m:t>
                        </m:r>
                      </m:sup>
                    </m:sSubSup>
                    <m:r>
                      <a:rPr lang="en-US" altLang="ko-KR" sz="1550" b="0" i="1" smtClean="0">
                        <a:solidFill>
                          <a:srgbClr val="504C49"/>
                        </a:solidFill>
                        <a:latin typeface="Cambria Math" panose="02040503050406030204" pitchFamily="18" charset="0"/>
                        <a:ea typeface="Source Serif Pro" pitchFamily="34" charset="-122"/>
                        <a:sym typeface="Wingdings" panose="05000000000000000000" pitchFamily="2" charset="2"/>
                      </a:rPr>
                      <m:t>)</m:t>
                    </m:r>
                  </m:oMath>
                </a14:m>
                <a:endParaRPr lang="en-US" altLang="ko-KR" sz="1550" dirty="0">
                  <a:solidFill>
                    <a:srgbClr val="504C49"/>
                  </a:solidFill>
                  <a:latin typeface="Source Serif Pro" pitchFamily="34" charset="0"/>
                  <a:ea typeface="Source Serif Pro" pitchFamily="34" charset="-122"/>
                  <a:sym typeface="Wingdings" panose="05000000000000000000" pitchFamily="2" charset="2"/>
                </a:endParaRPr>
              </a:p>
              <a:p>
                <a:pPr marL="0" indent="0" algn="l">
                  <a:lnSpc>
                    <a:spcPts val="2500"/>
                  </a:lnSpc>
                  <a:buNone/>
                </a:pPr>
                <a:r>
                  <a:rPr lang="en-US" altLang="ko-KR" sz="1550" dirty="0">
                    <a:solidFill>
                      <a:srgbClr val="504C49"/>
                    </a:solidFill>
                    <a:latin typeface="Source Serif Pro" pitchFamily="34" charset="0"/>
                    <a:ea typeface="Source Serif Pro" pitchFamily="34" charset="-122"/>
                    <a:sym typeface="Wingdings" panose="05000000000000000000" pitchFamily="2" charset="2"/>
                  </a:rPr>
                  <a:t>	 </a:t>
                </a:r>
                <a14:m>
                  <m:oMath xmlns:m="http://schemas.openxmlformats.org/officeDocument/2006/math">
                    <m:func>
                      <m:funcPr>
                        <m:ctrlPr>
                          <a:rPr lang="en-US" altLang="ko-KR" sz="1550" b="0" i="1" smtClean="0">
                            <a:solidFill>
                              <a:srgbClr val="504C49"/>
                            </a:solidFill>
                            <a:latin typeface="Cambria Math" panose="02040503050406030204" pitchFamily="18" charset="0"/>
                            <a:ea typeface="Source Serif Pro" pitchFamily="34" charset="-122"/>
                            <a:sym typeface="Wingdings" panose="05000000000000000000" pitchFamily="2" charset="2"/>
                          </a:rPr>
                        </m:ctrlPr>
                      </m:funcPr>
                      <m:fName>
                        <m:r>
                          <m:rPr>
                            <m:sty m:val="p"/>
                          </m:rPr>
                          <a:rPr lang="en-US" altLang="ko-KR" sz="1550" b="0" i="0" smtClean="0">
                            <a:solidFill>
                              <a:srgbClr val="504C49"/>
                            </a:solidFill>
                            <a:latin typeface="Cambria Math" panose="02040503050406030204" pitchFamily="18" charset="0"/>
                            <a:ea typeface="Source Serif Pro" pitchFamily="34" charset="-122"/>
                            <a:sym typeface="Wingdings" panose="05000000000000000000" pitchFamily="2" charset="2"/>
                          </a:rPr>
                          <m:t>log</m:t>
                        </m:r>
                      </m:fName>
                      <m:e>
                        <m:d>
                          <m:dPr>
                            <m:ctrlPr>
                              <a:rPr lang="en-US" altLang="ko-KR" sz="1550" b="0" i="1" smtClean="0">
                                <a:solidFill>
                                  <a:srgbClr val="504C49"/>
                                </a:solidFill>
                                <a:latin typeface="Cambria Math" panose="02040503050406030204" pitchFamily="18" charset="0"/>
                                <a:ea typeface="Source Serif Pro" pitchFamily="34" charset="-122"/>
                                <a:sym typeface="Wingdings" panose="05000000000000000000" pitchFamily="2" charset="2"/>
                              </a:rPr>
                            </m:ctrlPr>
                          </m:dPr>
                          <m:e>
                            <m:sSub>
                              <m:sSubPr>
                                <m:ctrlPr>
                                  <a:rPr lang="en-US" altLang="ko-KR" sz="1550" b="0" i="1" smtClean="0">
                                    <a:solidFill>
                                      <a:srgbClr val="504C49"/>
                                    </a:solidFill>
                                    <a:latin typeface="Cambria Math" panose="02040503050406030204" pitchFamily="18" charset="0"/>
                                    <a:ea typeface="Source Serif Pro" pitchFamily="34" charset="-122"/>
                                    <a:sym typeface="Wingdings" panose="05000000000000000000" pitchFamily="2" charset="2"/>
                                  </a:rPr>
                                </m:ctrlPr>
                              </m:sSubPr>
                              <m:e>
                                <m:r>
                                  <a:rPr lang="en-US" altLang="ko-KR" sz="1550" b="0" i="1" smtClean="0">
                                    <a:solidFill>
                                      <a:srgbClr val="504C49"/>
                                    </a:solidFill>
                                    <a:latin typeface="Cambria Math" panose="02040503050406030204" pitchFamily="18" charset="0"/>
                                    <a:ea typeface="Source Serif Pro" pitchFamily="34" charset="-122"/>
                                    <a:sym typeface="Wingdings" panose="05000000000000000000" pitchFamily="2" charset="2"/>
                                  </a:rPr>
                                  <m:t>h</m:t>
                                </m:r>
                              </m:e>
                              <m:sub>
                                <m:r>
                                  <a:rPr lang="en-US" altLang="ko-KR" sz="1550" b="0" i="1" smtClean="0">
                                    <a:solidFill>
                                      <a:srgbClr val="504C49"/>
                                    </a:solidFill>
                                    <a:latin typeface="Cambria Math" panose="02040503050406030204" pitchFamily="18" charset="0"/>
                                    <a:ea typeface="Source Serif Pro" pitchFamily="34" charset="-122"/>
                                    <a:sym typeface="Wingdings" panose="05000000000000000000" pitchFamily="2" charset="2"/>
                                  </a:rPr>
                                  <m:t>𝑗𝑡</m:t>
                                </m:r>
                              </m:sub>
                            </m:sSub>
                          </m:e>
                        </m:d>
                      </m:e>
                    </m:func>
                    <m:r>
                      <a:rPr lang="en-US" altLang="ko-KR" sz="1550" b="0" i="1" smtClean="0">
                        <a:solidFill>
                          <a:srgbClr val="504C49"/>
                        </a:solidFill>
                        <a:latin typeface="Cambria Math" panose="02040503050406030204" pitchFamily="18" charset="0"/>
                        <a:ea typeface="Source Serif Pro" pitchFamily="34" charset="-122"/>
                        <a:sym typeface="Wingdings" panose="05000000000000000000" pitchFamily="2" charset="2"/>
                      </a:rPr>
                      <m:t>=</m:t>
                    </m:r>
                    <m:func>
                      <m:funcPr>
                        <m:ctrlPr>
                          <a:rPr lang="en-US" altLang="ko-KR" sz="1550" b="0" i="1" smtClean="0">
                            <a:solidFill>
                              <a:srgbClr val="504C49"/>
                            </a:solidFill>
                            <a:latin typeface="Cambria Math" panose="02040503050406030204" pitchFamily="18" charset="0"/>
                            <a:ea typeface="Source Serif Pro" pitchFamily="34" charset="-122"/>
                            <a:sym typeface="Wingdings" panose="05000000000000000000" pitchFamily="2" charset="2"/>
                          </a:rPr>
                        </m:ctrlPr>
                      </m:funcPr>
                      <m:fName>
                        <m:r>
                          <m:rPr>
                            <m:sty m:val="p"/>
                          </m:rPr>
                          <a:rPr lang="en-US" altLang="ko-KR" sz="1550" b="0" i="0" smtClean="0">
                            <a:solidFill>
                              <a:srgbClr val="504C49"/>
                            </a:solidFill>
                            <a:latin typeface="Cambria Math" panose="02040503050406030204" pitchFamily="18" charset="0"/>
                            <a:ea typeface="Source Serif Pro" pitchFamily="34" charset="-122"/>
                            <a:sym typeface="Wingdings" panose="05000000000000000000" pitchFamily="2" charset="2"/>
                          </a:rPr>
                          <m:t>log</m:t>
                        </m:r>
                      </m:fName>
                      <m:e>
                        <m:d>
                          <m:dPr>
                            <m:ctrlPr>
                              <a:rPr lang="en-US" altLang="ko-KR" sz="1550" b="0" i="1" smtClean="0">
                                <a:solidFill>
                                  <a:srgbClr val="504C49"/>
                                </a:solidFill>
                                <a:latin typeface="Cambria Math" panose="02040503050406030204" pitchFamily="18" charset="0"/>
                                <a:ea typeface="Source Serif Pro" pitchFamily="34" charset="-122"/>
                                <a:sym typeface="Wingdings" panose="05000000000000000000" pitchFamily="2" charset="2"/>
                              </a:rPr>
                            </m:ctrlPr>
                          </m:dPr>
                          <m:e>
                            <m:sSub>
                              <m:sSubPr>
                                <m:ctrlPr>
                                  <a:rPr lang="en-US" altLang="ko-KR" sz="1550" b="0" i="1" smtClean="0">
                                    <a:solidFill>
                                      <a:srgbClr val="504C49"/>
                                    </a:solidFill>
                                    <a:latin typeface="Cambria Math" panose="02040503050406030204" pitchFamily="18" charset="0"/>
                                    <a:ea typeface="Source Serif Pro" pitchFamily="34" charset="-122"/>
                                    <a:sym typeface="Wingdings" panose="05000000000000000000" pitchFamily="2" charset="2"/>
                                  </a:rPr>
                                </m:ctrlPr>
                              </m:sSubPr>
                              <m:e>
                                <m:r>
                                  <a:rPr lang="en-US" altLang="ko-KR" sz="1550" b="0" i="1" smtClean="0">
                                    <a:solidFill>
                                      <a:srgbClr val="504C49"/>
                                    </a:solidFill>
                                    <a:latin typeface="Cambria Math" panose="02040503050406030204" pitchFamily="18" charset="0"/>
                                    <a:ea typeface="Source Serif Pro" pitchFamily="34" charset="-122"/>
                                    <a:sym typeface="Wingdings" panose="05000000000000000000" pitchFamily="2" charset="2"/>
                                  </a:rPr>
                                  <m:t>h</m:t>
                                </m:r>
                              </m:e>
                              <m:sub>
                                <m:r>
                                  <a:rPr lang="en-US" altLang="ko-KR" sz="1550" b="0" i="1" smtClean="0">
                                    <a:solidFill>
                                      <a:srgbClr val="504C49"/>
                                    </a:solidFill>
                                    <a:latin typeface="Cambria Math" panose="02040503050406030204" pitchFamily="18" charset="0"/>
                                    <a:ea typeface="Source Serif Pro" pitchFamily="34" charset="-122"/>
                                    <a:sym typeface="Wingdings" panose="05000000000000000000" pitchFamily="2" charset="2"/>
                                  </a:rPr>
                                  <m:t>𝑗</m:t>
                                </m:r>
                                <m:r>
                                  <a:rPr lang="en-US" altLang="ko-KR" sz="1550" b="0" i="1" smtClean="0">
                                    <a:solidFill>
                                      <a:srgbClr val="504C49"/>
                                    </a:solidFill>
                                    <a:latin typeface="Cambria Math" panose="02040503050406030204" pitchFamily="18" charset="0"/>
                                    <a:ea typeface="Source Serif Pro" pitchFamily="34" charset="-122"/>
                                    <a:sym typeface="Wingdings" panose="05000000000000000000" pitchFamily="2" charset="2"/>
                                  </a:rPr>
                                  <m:t>,</m:t>
                                </m:r>
                                <m:r>
                                  <a:rPr lang="en-US" altLang="ko-KR" sz="1550" b="0" i="1" smtClean="0">
                                    <a:solidFill>
                                      <a:srgbClr val="504C49"/>
                                    </a:solidFill>
                                    <a:latin typeface="Cambria Math" panose="02040503050406030204" pitchFamily="18" charset="0"/>
                                    <a:ea typeface="Source Serif Pro" pitchFamily="34" charset="-122"/>
                                    <a:sym typeface="Wingdings" panose="05000000000000000000" pitchFamily="2" charset="2"/>
                                  </a:rPr>
                                  <m:t>𝑡</m:t>
                                </m:r>
                                <m:r>
                                  <a:rPr lang="en-US" altLang="ko-KR" sz="1550" b="0" i="1" smtClean="0">
                                    <a:solidFill>
                                      <a:srgbClr val="504C49"/>
                                    </a:solidFill>
                                    <a:latin typeface="Cambria Math" panose="02040503050406030204" pitchFamily="18" charset="0"/>
                                    <a:ea typeface="Source Serif Pro" pitchFamily="34" charset="-122"/>
                                    <a:sym typeface="Wingdings" panose="05000000000000000000" pitchFamily="2" charset="2"/>
                                  </a:rPr>
                                  <m:t>−1</m:t>
                                </m:r>
                              </m:sub>
                            </m:sSub>
                          </m:e>
                        </m:d>
                      </m:e>
                    </m:func>
                    <m:r>
                      <a:rPr lang="en-US" altLang="ko-KR" sz="1550" b="0" i="1" smtClean="0">
                        <a:solidFill>
                          <a:srgbClr val="504C49"/>
                        </a:solidFill>
                        <a:latin typeface="Cambria Math" panose="02040503050406030204" pitchFamily="18" charset="0"/>
                        <a:ea typeface="Source Serif Pro" pitchFamily="34" charset="-122"/>
                        <a:sym typeface="Wingdings" panose="05000000000000000000" pitchFamily="2" charset="2"/>
                      </a:rPr>
                      <m:t>+</m:t>
                    </m:r>
                    <m:sSub>
                      <m:sSubPr>
                        <m:ctrlPr>
                          <a:rPr lang="en-US" altLang="ko-KR" sz="1550" b="0" i="1" smtClean="0">
                            <a:solidFill>
                              <a:srgbClr val="504C49"/>
                            </a:solidFill>
                            <a:latin typeface="Cambria Math" panose="02040503050406030204" pitchFamily="18" charset="0"/>
                            <a:ea typeface="Source Serif Pro" pitchFamily="34" charset="-122"/>
                            <a:sym typeface="Wingdings" panose="05000000000000000000" pitchFamily="2" charset="2"/>
                          </a:rPr>
                        </m:ctrlPr>
                      </m:sSubPr>
                      <m:e>
                        <m:r>
                          <a:rPr lang="en-US" altLang="ko-KR" sz="1550" b="0" i="1" smtClean="0">
                            <a:solidFill>
                              <a:srgbClr val="504C49"/>
                            </a:solidFill>
                            <a:latin typeface="Cambria Math" panose="02040503050406030204" pitchFamily="18" charset="0"/>
                            <a:ea typeface="Source Serif Pro" pitchFamily="34" charset="-122"/>
                            <a:sym typeface="Wingdings" panose="05000000000000000000" pitchFamily="2" charset="2"/>
                          </a:rPr>
                          <m:t>𝜁</m:t>
                        </m:r>
                      </m:e>
                      <m:sub>
                        <m:r>
                          <a:rPr lang="en-US" altLang="ko-KR" sz="1550" b="0" i="1" smtClean="0">
                            <a:solidFill>
                              <a:srgbClr val="504C49"/>
                            </a:solidFill>
                            <a:latin typeface="Cambria Math" panose="02040503050406030204" pitchFamily="18" charset="0"/>
                            <a:ea typeface="Source Serif Pro" pitchFamily="34" charset="-122"/>
                            <a:sym typeface="Wingdings" panose="05000000000000000000" pitchFamily="2" charset="2"/>
                          </a:rPr>
                          <m:t>𝑡</m:t>
                        </m:r>
                      </m:sub>
                    </m:sSub>
                  </m:oMath>
                </a14:m>
                <a:r>
                  <a:rPr lang="en-US" altLang="ko-KR" sz="1550" dirty="0">
                    <a:solidFill>
                      <a:srgbClr val="504C49"/>
                    </a:solidFill>
                    <a:latin typeface="Source Serif Pro" pitchFamily="34" charset="0"/>
                    <a:ea typeface="Source Serif Pro" pitchFamily="34" charset="-122"/>
                  </a:rPr>
                  <a:t>, </a:t>
                </a:r>
                <a14:m>
                  <m:oMath xmlns:m="http://schemas.openxmlformats.org/officeDocument/2006/math">
                    <m:sSub>
                      <m:sSubPr>
                        <m:ctrlPr>
                          <a:rPr lang="en-US" altLang="ko-KR" sz="1550" b="0" i="1" smtClean="0">
                            <a:solidFill>
                              <a:srgbClr val="504C49"/>
                            </a:solidFill>
                            <a:latin typeface="Cambria Math" panose="02040503050406030204" pitchFamily="18" charset="0"/>
                            <a:ea typeface="Source Serif Pro" pitchFamily="34" charset="-122"/>
                          </a:rPr>
                        </m:ctrlPr>
                      </m:sSubPr>
                      <m:e>
                        <m:r>
                          <a:rPr lang="en-US" altLang="ko-KR" sz="1550" b="0" i="1" smtClean="0">
                            <a:solidFill>
                              <a:srgbClr val="504C49"/>
                            </a:solidFill>
                            <a:latin typeface="Cambria Math" panose="02040503050406030204" pitchFamily="18" charset="0"/>
                            <a:ea typeface="Source Serif Pro" pitchFamily="34" charset="-122"/>
                          </a:rPr>
                          <m:t>𝜁</m:t>
                        </m:r>
                      </m:e>
                      <m:sub>
                        <m:r>
                          <a:rPr lang="en-US" altLang="ko-KR" sz="1550" b="0" i="1" smtClean="0">
                            <a:solidFill>
                              <a:srgbClr val="504C49"/>
                            </a:solidFill>
                            <a:latin typeface="Cambria Math" panose="02040503050406030204" pitchFamily="18" charset="0"/>
                            <a:ea typeface="Source Serif Pro" pitchFamily="34" charset="-122"/>
                          </a:rPr>
                          <m:t>𝑡</m:t>
                        </m:r>
                      </m:sub>
                    </m:sSub>
                    <m:r>
                      <a:rPr lang="en-US" altLang="ko-KR" sz="1550" b="0" i="1" smtClean="0">
                        <a:solidFill>
                          <a:srgbClr val="504C49"/>
                        </a:solidFill>
                        <a:latin typeface="Cambria Math" panose="02040503050406030204" pitchFamily="18" charset="0"/>
                        <a:ea typeface="Source Serif Pro" pitchFamily="34" charset="-122"/>
                      </a:rPr>
                      <m:t>∼</m:t>
                    </m:r>
                    <m:r>
                      <a:rPr lang="en-US" altLang="ko-KR" sz="1550" b="0" i="1" smtClean="0">
                        <a:solidFill>
                          <a:srgbClr val="504C49"/>
                        </a:solidFill>
                        <a:latin typeface="Cambria Math" panose="02040503050406030204" pitchFamily="18" charset="0"/>
                        <a:ea typeface="Source Serif Pro" pitchFamily="34" charset="-122"/>
                      </a:rPr>
                      <m:t>𝑁</m:t>
                    </m:r>
                    <m:r>
                      <a:rPr lang="en-US" altLang="ko-KR" sz="1550" b="0" i="1" smtClean="0">
                        <a:solidFill>
                          <a:srgbClr val="504C49"/>
                        </a:solidFill>
                        <a:latin typeface="Cambria Math" panose="02040503050406030204" pitchFamily="18" charset="0"/>
                        <a:ea typeface="Source Serif Pro" pitchFamily="34" charset="-122"/>
                      </a:rPr>
                      <m:t>(0,</m:t>
                    </m:r>
                    <m:sSubSup>
                      <m:sSubSupPr>
                        <m:ctrlPr>
                          <a:rPr lang="en-US" altLang="ko-KR" sz="1550" b="0" i="1" smtClean="0">
                            <a:solidFill>
                              <a:srgbClr val="504C49"/>
                            </a:solidFill>
                            <a:latin typeface="Cambria Math" panose="02040503050406030204" pitchFamily="18" charset="0"/>
                            <a:ea typeface="Source Serif Pro" pitchFamily="34" charset="-122"/>
                          </a:rPr>
                        </m:ctrlPr>
                      </m:sSubSupPr>
                      <m:e>
                        <m:r>
                          <a:rPr lang="en-US" altLang="ko-KR" sz="1550" b="0" i="1" smtClean="0">
                            <a:solidFill>
                              <a:srgbClr val="504C49"/>
                            </a:solidFill>
                            <a:latin typeface="Cambria Math" panose="02040503050406030204" pitchFamily="18" charset="0"/>
                            <a:ea typeface="Source Serif Pro" pitchFamily="34" charset="-122"/>
                          </a:rPr>
                          <m:t>𝜎</m:t>
                        </m:r>
                      </m:e>
                      <m:sub>
                        <m:r>
                          <a:rPr lang="en-US" altLang="ko-KR" sz="1550" b="0" i="1" smtClean="0">
                            <a:solidFill>
                              <a:srgbClr val="504C49"/>
                            </a:solidFill>
                            <a:latin typeface="Cambria Math" panose="02040503050406030204" pitchFamily="18" charset="0"/>
                            <a:ea typeface="Source Serif Pro" pitchFamily="34" charset="-122"/>
                          </a:rPr>
                          <m:t>h</m:t>
                        </m:r>
                      </m:sub>
                      <m:sup>
                        <m:r>
                          <a:rPr lang="en-US" altLang="ko-KR" sz="1550" b="0" i="1" smtClean="0">
                            <a:solidFill>
                              <a:srgbClr val="504C49"/>
                            </a:solidFill>
                            <a:latin typeface="Cambria Math" panose="02040503050406030204" pitchFamily="18" charset="0"/>
                            <a:ea typeface="Source Serif Pro" pitchFamily="34" charset="-122"/>
                          </a:rPr>
                          <m:t>2</m:t>
                        </m:r>
                      </m:sup>
                    </m:sSubSup>
                    <m:r>
                      <a:rPr lang="en-US" altLang="ko-KR" sz="1550" b="0" i="1" smtClean="0">
                        <a:solidFill>
                          <a:srgbClr val="504C49"/>
                        </a:solidFill>
                        <a:latin typeface="Cambria Math" panose="02040503050406030204" pitchFamily="18" charset="0"/>
                        <a:ea typeface="Source Serif Pro" pitchFamily="34" charset="-122"/>
                      </a:rPr>
                      <m:t>)</m:t>
                    </m:r>
                  </m:oMath>
                </a14:m>
                <a:endParaRPr lang="en-US" altLang="ko-KR" sz="1550" dirty="0">
                  <a:solidFill>
                    <a:srgbClr val="504C49"/>
                  </a:solidFill>
                  <a:latin typeface="Source Serif Pro" pitchFamily="34" charset="0"/>
                  <a:ea typeface="Source Serif Pro" pitchFamily="34" charset="-122"/>
                </a:endParaRPr>
              </a:p>
              <a:p>
                <a:pPr marL="0" indent="0" algn="l">
                  <a:lnSpc>
                    <a:spcPts val="2500"/>
                  </a:lnSpc>
                  <a:buNone/>
                </a:pPr>
                <a:r>
                  <a:rPr lang="en-US" altLang="ko-KR" sz="1550" dirty="0">
                    <a:solidFill>
                      <a:srgbClr val="504C49"/>
                    </a:solidFill>
                    <a:latin typeface="Source Serif Pro" pitchFamily="34" charset="0"/>
                    <a:ea typeface="Source Serif Pro" pitchFamily="34" charset="-122"/>
                  </a:rPr>
                  <a:t>Also, for each variance parameter, we set </a:t>
                </a:r>
                <a14:m>
                  <m:oMath xmlns:m="http://schemas.openxmlformats.org/officeDocument/2006/math">
                    <m:sSubSup>
                      <m:sSubSupPr>
                        <m:ctrlPr>
                          <a:rPr lang="en-US" altLang="ko-KR" sz="1550" b="0" i="1" smtClean="0">
                            <a:solidFill>
                              <a:srgbClr val="504C49"/>
                            </a:solidFill>
                            <a:latin typeface="Cambria Math" panose="02040503050406030204" pitchFamily="18" charset="0"/>
                            <a:ea typeface="Source Serif Pro" pitchFamily="34" charset="-122"/>
                          </a:rPr>
                        </m:ctrlPr>
                      </m:sSubSupPr>
                      <m:e>
                        <m:r>
                          <a:rPr lang="en-US" altLang="ko-KR" sz="1550" b="0" i="1" smtClean="0">
                            <a:solidFill>
                              <a:srgbClr val="504C49"/>
                            </a:solidFill>
                            <a:latin typeface="Cambria Math" panose="02040503050406030204" pitchFamily="18" charset="0"/>
                            <a:ea typeface="Source Serif Pro" pitchFamily="34" charset="-122"/>
                          </a:rPr>
                          <m:t>𝜎</m:t>
                        </m:r>
                      </m:e>
                      <m:sub>
                        <m:r>
                          <a:rPr lang="en-US" altLang="ko-KR" sz="1550" b="0" i="1" smtClean="0">
                            <a:solidFill>
                              <a:srgbClr val="504C49"/>
                            </a:solidFill>
                            <a:latin typeface="Cambria Math" panose="02040503050406030204" pitchFamily="18" charset="0"/>
                            <a:ea typeface="Source Serif Pro" pitchFamily="34" charset="-122"/>
                          </a:rPr>
                          <m:t>𝑎</m:t>
                        </m:r>
                      </m:sub>
                      <m:sup>
                        <m:r>
                          <a:rPr lang="en-US" altLang="ko-KR" sz="1550" b="0" i="1" smtClean="0">
                            <a:solidFill>
                              <a:srgbClr val="504C49"/>
                            </a:solidFill>
                            <a:latin typeface="Cambria Math" panose="02040503050406030204" pitchFamily="18" charset="0"/>
                            <a:ea typeface="Source Serif Pro" pitchFamily="34" charset="-122"/>
                          </a:rPr>
                          <m:t>2</m:t>
                        </m:r>
                      </m:sup>
                    </m:sSubSup>
                    <m:r>
                      <a:rPr lang="en-US" altLang="ko-KR" sz="1550" b="0" i="1" smtClean="0">
                        <a:solidFill>
                          <a:srgbClr val="504C49"/>
                        </a:solidFill>
                        <a:latin typeface="Cambria Math" panose="02040503050406030204" pitchFamily="18" charset="0"/>
                        <a:ea typeface="Source Serif Pro" pitchFamily="34" charset="-122"/>
                      </a:rPr>
                      <m:t>∼</m:t>
                    </m:r>
                    <m:r>
                      <a:rPr lang="en-US" altLang="ko-KR" sz="1550" b="0" i="1" smtClean="0">
                        <a:solidFill>
                          <a:srgbClr val="504C49"/>
                        </a:solidFill>
                        <a:latin typeface="Cambria Math" panose="02040503050406030204" pitchFamily="18" charset="0"/>
                        <a:ea typeface="Source Serif Pro" pitchFamily="34" charset="-122"/>
                      </a:rPr>
                      <m:t>𝑖𝑛𝑣𝑒𝑟𝑠𝑒</m:t>
                    </m:r>
                    <m:r>
                      <a:rPr lang="en-US" altLang="ko-KR" sz="1550" b="0" i="1" smtClean="0">
                        <a:solidFill>
                          <a:srgbClr val="504C49"/>
                        </a:solidFill>
                        <a:latin typeface="Cambria Math" panose="02040503050406030204" pitchFamily="18" charset="0"/>
                        <a:ea typeface="Source Serif Pro" pitchFamily="34" charset="-122"/>
                      </a:rPr>
                      <m:t>−</m:t>
                    </m:r>
                    <m:r>
                      <a:rPr lang="en-US" altLang="ko-KR" sz="1550" b="0" i="1" smtClean="0">
                        <a:solidFill>
                          <a:srgbClr val="504C49"/>
                        </a:solidFill>
                        <a:latin typeface="Cambria Math" panose="02040503050406030204" pitchFamily="18" charset="0"/>
                        <a:ea typeface="Source Serif Pro" pitchFamily="34" charset="-122"/>
                      </a:rPr>
                      <m:t>𝑔𝑎𝑚𝑚𝑎</m:t>
                    </m:r>
                    <m:d>
                      <m:dPr>
                        <m:ctrlPr>
                          <a:rPr lang="en-US" altLang="ko-KR" sz="1550" b="0" i="1" smtClean="0">
                            <a:solidFill>
                              <a:srgbClr val="504C49"/>
                            </a:solidFill>
                            <a:latin typeface="Cambria Math" panose="02040503050406030204" pitchFamily="18" charset="0"/>
                            <a:ea typeface="Source Serif Pro" pitchFamily="34" charset="-122"/>
                          </a:rPr>
                        </m:ctrlPr>
                      </m:dPr>
                      <m:e>
                        <m:sSub>
                          <m:sSubPr>
                            <m:ctrlPr>
                              <a:rPr lang="en-US" altLang="ko-KR" sz="1550" b="0" i="1" smtClean="0">
                                <a:solidFill>
                                  <a:srgbClr val="504C49"/>
                                </a:solidFill>
                                <a:latin typeface="Cambria Math" panose="02040503050406030204" pitchFamily="18" charset="0"/>
                                <a:ea typeface="Source Serif Pro" pitchFamily="34" charset="-122"/>
                              </a:rPr>
                            </m:ctrlPr>
                          </m:sSubPr>
                          <m:e>
                            <m:r>
                              <a:rPr lang="en-US" altLang="ko-KR" sz="1550" b="0" i="1" smtClean="0">
                                <a:solidFill>
                                  <a:srgbClr val="504C49"/>
                                </a:solidFill>
                                <a:latin typeface="Cambria Math" panose="02040503050406030204" pitchFamily="18" charset="0"/>
                                <a:ea typeface="Source Serif Pro" pitchFamily="34" charset="-122"/>
                              </a:rPr>
                              <m:t>𝑑</m:t>
                            </m:r>
                          </m:e>
                          <m:sub>
                            <m:r>
                              <a:rPr lang="en-US" altLang="ko-KR" sz="1550" b="0" i="1" smtClean="0">
                                <a:solidFill>
                                  <a:srgbClr val="504C49"/>
                                </a:solidFill>
                                <a:latin typeface="Cambria Math" panose="02040503050406030204" pitchFamily="18" charset="0"/>
                                <a:ea typeface="Source Serif Pro" pitchFamily="34" charset="-122"/>
                              </a:rPr>
                              <m:t>𝑎</m:t>
                            </m:r>
                            <m:r>
                              <a:rPr lang="en-US" altLang="ko-KR" sz="1550" b="0" i="1" smtClean="0">
                                <a:solidFill>
                                  <a:srgbClr val="504C49"/>
                                </a:solidFill>
                                <a:latin typeface="Cambria Math" panose="02040503050406030204" pitchFamily="18" charset="0"/>
                                <a:ea typeface="Source Serif Pro" pitchFamily="34" charset="-122"/>
                              </a:rPr>
                              <m:t>0</m:t>
                            </m:r>
                          </m:sub>
                        </m:sSub>
                        <m:r>
                          <a:rPr lang="en-US" altLang="ko-KR" sz="1550" b="0" i="1" smtClean="0">
                            <a:solidFill>
                              <a:srgbClr val="504C49"/>
                            </a:solidFill>
                            <a:latin typeface="Cambria Math" panose="02040503050406030204" pitchFamily="18" charset="0"/>
                            <a:ea typeface="Source Serif Pro" pitchFamily="34" charset="-122"/>
                          </a:rPr>
                          <m:t>=0.01,</m:t>
                        </m:r>
                        <m:sSub>
                          <m:sSubPr>
                            <m:ctrlPr>
                              <a:rPr lang="en-US" altLang="ko-KR" sz="1550" b="0" i="1" smtClean="0">
                                <a:solidFill>
                                  <a:srgbClr val="504C49"/>
                                </a:solidFill>
                                <a:latin typeface="Cambria Math" panose="02040503050406030204" pitchFamily="18" charset="0"/>
                                <a:ea typeface="Source Serif Pro" pitchFamily="34" charset="-122"/>
                              </a:rPr>
                            </m:ctrlPr>
                          </m:sSubPr>
                          <m:e>
                            <m:r>
                              <a:rPr lang="en-US" altLang="ko-KR" sz="1550" b="0" i="1" smtClean="0">
                                <a:solidFill>
                                  <a:srgbClr val="504C49"/>
                                </a:solidFill>
                                <a:latin typeface="Cambria Math" panose="02040503050406030204" pitchFamily="18" charset="0"/>
                                <a:ea typeface="Source Serif Pro" pitchFamily="34" charset="-122"/>
                              </a:rPr>
                              <m:t>𝑑</m:t>
                            </m:r>
                          </m:e>
                          <m:sub>
                            <m:r>
                              <a:rPr lang="en-US" altLang="ko-KR" sz="1550" b="0" i="1" smtClean="0">
                                <a:solidFill>
                                  <a:srgbClr val="504C49"/>
                                </a:solidFill>
                                <a:latin typeface="Cambria Math" panose="02040503050406030204" pitchFamily="18" charset="0"/>
                                <a:ea typeface="Source Serif Pro" pitchFamily="34" charset="-122"/>
                              </a:rPr>
                              <m:t>𝑎</m:t>
                            </m:r>
                            <m:r>
                              <a:rPr lang="en-US" altLang="ko-KR" sz="1550" b="0" i="1" smtClean="0">
                                <a:solidFill>
                                  <a:srgbClr val="504C49"/>
                                </a:solidFill>
                                <a:latin typeface="Cambria Math" panose="02040503050406030204" pitchFamily="18" charset="0"/>
                                <a:ea typeface="Source Serif Pro" pitchFamily="34" charset="-122"/>
                              </a:rPr>
                              <m:t>1</m:t>
                            </m:r>
                          </m:sub>
                        </m:sSub>
                        <m:r>
                          <a:rPr lang="en-US" altLang="ko-KR" sz="1550" b="0" i="1" smtClean="0">
                            <a:solidFill>
                              <a:srgbClr val="504C49"/>
                            </a:solidFill>
                            <a:latin typeface="Cambria Math" panose="02040503050406030204" pitchFamily="18" charset="0"/>
                            <a:ea typeface="Source Serif Pro" pitchFamily="34" charset="-122"/>
                          </a:rPr>
                          <m:t>=0.01</m:t>
                        </m:r>
                      </m:e>
                    </m:d>
                  </m:oMath>
                </a14:m>
                <a:r>
                  <a:rPr lang="en-US" altLang="ko-KR" sz="1550" dirty="0">
                    <a:solidFill>
                      <a:srgbClr val="504C49"/>
                    </a:solidFill>
                    <a:latin typeface="Source Serif Pro" pitchFamily="34" charset="0"/>
                    <a:ea typeface="Source Serif Pro" pitchFamily="34" charset="-122"/>
                  </a:rPr>
                  <a:t>, </a:t>
                </a:r>
                <a14:m>
                  <m:oMath xmlns:m="http://schemas.openxmlformats.org/officeDocument/2006/math">
                    <m:sSubSup>
                      <m:sSubSupPr>
                        <m:ctrlPr>
                          <a:rPr lang="en-US" altLang="ko-KR" sz="1550" b="0" i="1" smtClean="0">
                            <a:solidFill>
                              <a:srgbClr val="504C49"/>
                            </a:solidFill>
                            <a:latin typeface="Cambria Math" panose="02040503050406030204" pitchFamily="18" charset="0"/>
                            <a:ea typeface="Source Serif Pro" pitchFamily="34" charset="-122"/>
                          </a:rPr>
                        </m:ctrlPr>
                      </m:sSubSupPr>
                      <m:e>
                        <m:r>
                          <a:rPr lang="en-US" altLang="ko-KR" sz="1550" b="0" i="1" smtClean="0">
                            <a:solidFill>
                              <a:srgbClr val="504C49"/>
                            </a:solidFill>
                            <a:latin typeface="Cambria Math" panose="02040503050406030204" pitchFamily="18" charset="0"/>
                            <a:ea typeface="Source Serif Pro" pitchFamily="34" charset="-122"/>
                          </a:rPr>
                          <m:t>𝜎</m:t>
                        </m:r>
                      </m:e>
                      <m:sub>
                        <m:r>
                          <a:rPr lang="en-US" altLang="ko-KR" sz="1550" b="0" i="1" smtClean="0">
                            <a:solidFill>
                              <a:srgbClr val="504C49"/>
                            </a:solidFill>
                            <a:latin typeface="Cambria Math" panose="02040503050406030204" pitchFamily="18" charset="0"/>
                            <a:ea typeface="Source Serif Pro" pitchFamily="34" charset="-122"/>
                          </a:rPr>
                          <m:t>h</m:t>
                        </m:r>
                      </m:sub>
                      <m:sup>
                        <m:r>
                          <a:rPr lang="en-US" altLang="ko-KR" sz="1550" b="0" i="1" smtClean="0">
                            <a:solidFill>
                              <a:srgbClr val="504C49"/>
                            </a:solidFill>
                            <a:latin typeface="Cambria Math" panose="02040503050406030204" pitchFamily="18" charset="0"/>
                            <a:ea typeface="Source Serif Pro" pitchFamily="34" charset="-122"/>
                          </a:rPr>
                          <m:t>2</m:t>
                        </m:r>
                      </m:sup>
                    </m:sSubSup>
                    <m:r>
                      <a:rPr lang="en-US" altLang="ko-KR" sz="1550" b="0" i="1" smtClean="0">
                        <a:solidFill>
                          <a:srgbClr val="504C49"/>
                        </a:solidFill>
                        <a:latin typeface="Cambria Math" panose="02040503050406030204" pitchFamily="18" charset="0"/>
                        <a:ea typeface="Source Serif Pro" pitchFamily="34" charset="-122"/>
                      </a:rPr>
                      <m:t>∼</m:t>
                    </m:r>
                    <m:r>
                      <a:rPr lang="en-US" altLang="ko-KR" sz="1550" b="0" i="1" smtClean="0">
                        <a:solidFill>
                          <a:srgbClr val="504C49"/>
                        </a:solidFill>
                        <a:latin typeface="Cambria Math" panose="02040503050406030204" pitchFamily="18" charset="0"/>
                        <a:ea typeface="Source Serif Pro" pitchFamily="34" charset="-122"/>
                      </a:rPr>
                      <m:t>𝑖𝑛𝑣𝑒𝑟𝑠𝑒</m:t>
                    </m:r>
                    <m:r>
                      <a:rPr lang="en-US" altLang="ko-KR" sz="1550" b="0" i="1" smtClean="0">
                        <a:solidFill>
                          <a:srgbClr val="504C49"/>
                        </a:solidFill>
                        <a:latin typeface="Cambria Math" panose="02040503050406030204" pitchFamily="18" charset="0"/>
                        <a:ea typeface="Source Serif Pro" pitchFamily="34" charset="-122"/>
                      </a:rPr>
                      <m:t>−</m:t>
                    </m:r>
                    <m:r>
                      <a:rPr lang="en-US" altLang="ko-KR" sz="1550" b="0" i="1" smtClean="0">
                        <a:solidFill>
                          <a:srgbClr val="504C49"/>
                        </a:solidFill>
                        <a:latin typeface="Cambria Math" panose="02040503050406030204" pitchFamily="18" charset="0"/>
                        <a:ea typeface="Source Serif Pro" pitchFamily="34" charset="-122"/>
                      </a:rPr>
                      <m:t>𝑔𝑎𝑚𝑚𝑎</m:t>
                    </m:r>
                    <m:d>
                      <m:dPr>
                        <m:ctrlPr>
                          <a:rPr lang="en-US" altLang="ko-KR" sz="1550" b="0" i="1" smtClean="0">
                            <a:solidFill>
                              <a:srgbClr val="504C49"/>
                            </a:solidFill>
                            <a:latin typeface="Cambria Math" panose="02040503050406030204" pitchFamily="18" charset="0"/>
                            <a:ea typeface="Source Serif Pro" pitchFamily="34" charset="-122"/>
                          </a:rPr>
                        </m:ctrlPr>
                      </m:dPr>
                      <m:e>
                        <m:sSub>
                          <m:sSubPr>
                            <m:ctrlPr>
                              <a:rPr lang="en-US" altLang="ko-KR" sz="1550" b="0" i="1" smtClean="0">
                                <a:solidFill>
                                  <a:srgbClr val="504C49"/>
                                </a:solidFill>
                                <a:latin typeface="Cambria Math" panose="02040503050406030204" pitchFamily="18" charset="0"/>
                                <a:ea typeface="Source Serif Pro" pitchFamily="34" charset="-122"/>
                              </a:rPr>
                            </m:ctrlPr>
                          </m:sSubPr>
                          <m:e>
                            <m:r>
                              <a:rPr lang="en-US" altLang="ko-KR" sz="1550" b="0" i="1" smtClean="0">
                                <a:solidFill>
                                  <a:srgbClr val="504C49"/>
                                </a:solidFill>
                                <a:latin typeface="Cambria Math" panose="02040503050406030204" pitchFamily="18" charset="0"/>
                                <a:ea typeface="Source Serif Pro" pitchFamily="34" charset="-122"/>
                              </a:rPr>
                              <m:t>𝑑</m:t>
                            </m:r>
                          </m:e>
                          <m:sub>
                            <m:r>
                              <a:rPr lang="en-US" altLang="ko-KR" sz="1550" b="0" i="1" smtClean="0">
                                <a:solidFill>
                                  <a:srgbClr val="504C49"/>
                                </a:solidFill>
                                <a:latin typeface="Cambria Math" panose="02040503050406030204" pitchFamily="18" charset="0"/>
                                <a:ea typeface="Source Serif Pro" pitchFamily="34" charset="-122"/>
                              </a:rPr>
                              <m:t>h</m:t>
                            </m:r>
                            <m:r>
                              <a:rPr lang="en-US" altLang="ko-KR" sz="1550" b="0" i="1" smtClean="0">
                                <a:solidFill>
                                  <a:srgbClr val="504C49"/>
                                </a:solidFill>
                                <a:latin typeface="Cambria Math" panose="02040503050406030204" pitchFamily="18" charset="0"/>
                                <a:ea typeface="Source Serif Pro" pitchFamily="34" charset="-122"/>
                              </a:rPr>
                              <m:t>0</m:t>
                            </m:r>
                          </m:sub>
                        </m:sSub>
                        <m:r>
                          <a:rPr lang="en-US" altLang="ko-KR" sz="1550" b="0" i="1" smtClean="0">
                            <a:solidFill>
                              <a:srgbClr val="504C49"/>
                            </a:solidFill>
                            <a:latin typeface="Cambria Math" panose="02040503050406030204" pitchFamily="18" charset="0"/>
                            <a:ea typeface="Source Serif Pro" pitchFamily="34" charset="-122"/>
                          </a:rPr>
                          <m:t>=0.01,</m:t>
                        </m:r>
                        <m:sSub>
                          <m:sSubPr>
                            <m:ctrlPr>
                              <a:rPr lang="en-US" altLang="ko-KR" sz="1550" b="0" i="1" smtClean="0">
                                <a:solidFill>
                                  <a:srgbClr val="504C49"/>
                                </a:solidFill>
                                <a:latin typeface="Cambria Math" panose="02040503050406030204" pitchFamily="18" charset="0"/>
                                <a:ea typeface="Source Serif Pro" pitchFamily="34" charset="-122"/>
                              </a:rPr>
                            </m:ctrlPr>
                          </m:sSubPr>
                          <m:e>
                            <m:r>
                              <a:rPr lang="en-US" altLang="ko-KR" sz="1550" b="0" i="1" smtClean="0">
                                <a:solidFill>
                                  <a:srgbClr val="504C49"/>
                                </a:solidFill>
                                <a:latin typeface="Cambria Math" panose="02040503050406030204" pitchFamily="18" charset="0"/>
                                <a:ea typeface="Source Serif Pro" pitchFamily="34" charset="-122"/>
                              </a:rPr>
                              <m:t>𝑑</m:t>
                            </m:r>
                          </m:e>
                          <m:sub>
                            <m:r>
                              <a:rPr lang="en-US" altLang="ko-KR" sz="1550" b="0" i="1" smtClean="0">
                                <a:solidFill>
                                  <a:srgbClr val="504C49"/>
                                </a:solidFill>
                                <a:latin typeface="Cambria Math" panose="02040503050406030204" pitchFamily="18" charset="0"/>
                                <a:ea typeface="Source Serif Pro" pitchFamily="34" charset="-122"/>
                              </a:rPr>
                              <m:t>h</m:t>
                            </m:r>
                            <m:r>
                              <a:rPr lang="en-US" altLang="ko-KR" sz="1550" b="0" i="1" smtClean="0">
                                <a:solidFill>
                                  <a:srgbClr val="504C49"/>
                                </a:solidFill>
                                <a:latin typeface="Cambria Math" panose="02040503050406030204" pitchFamily="18" charset="0"/>
                                <a:ea typeface="Source Serif Pro" pitchFamily="34" charset="-122"/>
                              </a:rPr>
                              <m:t>1</m:t>
                            </m:r>
                          </m:sub>
                        </m:sSub>
                        <m:r>
                          <a:rPr lang="en-US" altLang="ko-KR" sz="1550" b="0" i="1" smtClean="0">
                            <a:solidFill>
                              <a:srgbClr val="504C49"/>
                            </a:solidFill>
                            <a:latin typeface="Cambria Math" panose="02040503050406030204" pitchFamily="18" charset="0"/>
                            <a:ea typeface="Source Serif Pro" pitchFamily="34" charset="-122"/>
                          </a:rPr>
                          <m:t>=0.01</m:t>
                        </m:r>
                      </m:e>
                    </m:d>
                  </m:oMath>
                </a14:m>
                <a:br>
                  <a:rPr lang="en-US" altLang="ko-KR" sz="1550" dirty="0">
                    <a:solidFill>
                      <a:srgbClr val="504C49"/>
                    </a:solidFill>
                    <a:latin typeface="Source Serif Pro" pitchFamily="34" charset="0"/>
                    <a:ea typeface="Source Serif Pro" pitchFamily="34" charset="-122"/>
                  </a:rPr>
                </a:br>
                <a:r>
                  <a:rPr lang="en-US" altLang="ko-KR" sz="1550" dirty="0">
                    <a:solidFill>
                      <a:srgbClr val="504C49"/>
                    </a:solidFill>
                    <a:latin typeface="Source Serif Pro" pitchFamily="34" charset="0"/>
                    <a:ea typeface="Source Serif Pro" pitchFamily="34" charset="-122"/>
                  </a:rPr>
                  <a:t>Set the Initial value as  </a:t>
                </a:r>
                <a14:m>
                  <m:oMath xmlns:m="http://schemas.openxmlformats.org/officeDocument/2006/math">
                    <m:sSub>
                      <m:sSubPr>
                        <m:ctrlPr>
                          <a:rPr lang="en-US" altLang="ko-KR" sz="1550" b="0" i="1" smtClean="0">
                            <a:solidFill>
                              <a:srgbClr val="504C49"/>
                            </a:solidFill>
                            <a:latin typeface="Cambria Math" panose="02040503050406030204" pitchFamily="18" charset="0"/>
                            <a:ea typeface="Source Serif Pro" pitchFamily="34" charset="-122"/>
                          </a:rPr>
                        </m:ctrlPr>
                      </m:sSubPr>
                      <m:e>
                        <m:r>
                          <a:rPr lang="en-US" altLang="ko-KR" sz="1550" b="0" i="1" smtClean="0">
                            <a:solidFill>
                              <a:srgbClr val="504C49"/>
                            </a:solidFill>
                            <a:latin typeface="Cambria Math" panose="02040503050406030204" pitchFamily="18" charset="0"/>
                            <a:ea typeface="Source Serif Pro" pitchFamily="34" charset="-122"/>
                          </a:rPr>
                          <m:t>𝑎</m:t>
                        </m:r>
                      </m:e>
                      <m:sub>
                        <m:r>
                          <a:rPr lang="en-US" altLang="ko-KR" sz="1550" b="0" i="1" smtClean="0">
                            <a:solidFill>
                              <a:srgbClr val="504C49"/>
                            </a:solidFill>
                            <a:latin typeface="Cambria Math" panose="02040503050406030204" pitchFamily="18" charset="0"/>
                            <a:ea typeface="Source Serif Pro" pitchFamily="34" charset="-122"/>
                          </a:rPr>
                          <m:t>𝑣𝑚</m:t>
                        </m:r>
                        <m:r>
                          <a:rPr lang="en-US" altLang="ko-KR" sz="1550" b="0" i="1" smtClean="0">
                            <a:solidFill>
                              <a:srgbClr val="504C49"/>
                            </a:solidFill>
                            <a:latin typeface="Cambria Math" panose="02040503050406030204" pitchFamily="18" charset="0"/>
                            <a:ea typeface="Source Serif Pro" pitchFamily="34" charset="-122"/>
                          </a:rPr>
                          <m:t>,0</m:t>
                        </m:r>
                      </m:sub>
                    </m:sSub>
                    <m:r>
                      <a:rPr lang="en-US" altLang="ko-KR" sz="1550" b="0" i="1" smtClean="0">
                        <a:solidFill>
                          <a:srgbClr val="504C49"/>
                        </a:solidFill>
                        <a:latin typeface="Cambria Math" panose="02040503050406030204" pitchFamily="18" charset="0"/>
                        <a:ea typeface="Source Serif Pro" pitchFamily="34" charset="-122"/>
                      </a:rPr>
                      <m:t>∼</m:t>
                    </m:r>
                    <m:r>
                      <a:rPr lang="en-US" altLang="ko-KR" sz="1550" b="0" i="1" smtClean="0">
                        <a:solidFill>
                          <a:srgbClr val="504C49"/>
                        </a:solidFill>
                        <a:latin typeface="Cambria Math" panose="02040503050406030204" pitchFamily="18" charset="0"/>
                        <a:ea typeface="Source Serif Pro" pitchFamily="34" charset="-122"/>
                      </a:rPr>
                      <m:t>𝑁</m:t>
                    </m:r>
                    <m:r>
                      <a:rPr lang="en-US" altLang="ko-KR" sz="1550" b="0" i="1" smtClean="0">
                        <a:solidFill>
                          <a:srgbClr val="504C49"/>
                        </a:solidFill>
                        <a:latin typeface="Cambria Math" panose="02040503050406030204" pitchFamily="18" charset="0"/>
                        <a:ea typeface="Source Serif Pro" pitchFamily="34" charset="-122"/>
                      </a:rPr>
                      <m:t>(0,10)</m:t>
                    </m:r>
                  </m:oMath>
                </a14:m>
                <a:r>
                  <a:rPr lang="en-US" altLang="ko-KR" sz="1550" dirty="0">
                    <a:solidFill>
                      <a:srgbClr val="504C49"/>
                    </a:solidFill>
                    <a:latin typeface="Source Serif Pro" pitchFamily="34" charset="0"/>
                    <a:ea typeface="Source Serif Pro" pitchFamily="34" charset="-122"/>
                  </a:rPr>
                  <a:t>, </a:t>
                </a:r>
                <a14:m>
                  <m:oMath xmlns:m="http://schemas.openxmlformats.org/officeDocument/2006/math">
                    <m:func>
                      <m:funcPr>
                        <m:ctrlPr>
                          <a:rPr lang="en-US" altLang="ko-KR" sz="1550" b="0" i="1" dirty="0" smtClean="0">
                            <a:solidFill>
                              <a:srgbClr val="504C49"/>
                            </a:solidFill>
                            <a:latin typeface="Cambria Math" panose="02040503050406030204" pitchFamily="18" charset="0"/>
                            <a:ea typeface="Source Serif Pro" pitchFamily="34" charset="-122"/>
                          </a:rPr>
                        </m:ctrlPr>
                      </m:funcPr>
                      <m:fName>
                        <m:r>
                          <m:rPr>
                            <m:sty m:val="p"/>
                          </m:rPr>
                          <a:rPr lang="en-US" altLang="ko-KR" sz="1550" b="0" i="0" dirty="0" smtClean="0">
                            <a:solidFill>
                              <a:srgbClr val="504C49"/>
                            </a:solidFill>
                            <a:latin typeface="Cambria Math" panose="02040503050406030204" pitchFamily="18" charset="0"/>
                            <a:ea typeface="Source Serif Pro" pitchFamily="34" charset="-122"/>
                          </a:rPr>
                          <m:t>log</m:t>
                        </m:r>
                      </m:fName>
                      <m:e>
                        <m:d>
                          <m:dPr>
                            <m:ctrlPr>
                              <a:rPr lang="en-US" altLang="ko-KR" sz="1550" b="0" i="1" dirty="0" smtClean="0">
                                <a:solidFill>
                                  <a:srgbClr val="504C49"/>
                                </a:solidFill>
                                <a:latin typeface="Cambria Math" panose="02040503050406030204" pitchFamily="18" charset="0"/>
                                <a:ea typeface="Source Serif Pro" pitchFamily="34" charset="-122"/>
                              </a:rPr>
                            </m:ctrlPr>
                          </m:dPr>
                          <m:e>
                            <m:sSub>
                              <m:sSubPr>
                                <m:ctrlPr>
                                  <a:rPr lang="en-US" altLang="ko-KR" sz="1550" b="0" i="1" dirty="0" smtClean="0">
                                    <a:solidFill>
                                      <a:srgbClr val="504C49"/>
                                    </a:solidFill>
                                    <a:latin typeface="Cambria Math" panose="02040503050406030204" pitchFamily="18" charset="0"/>
                                    <a:ea typeface="Source Serif Pro" pitchFamily="34" charset="-122"/>
                                  </a:rPr>
                                </m:ctrlPr>
                              </m:sSubPr>
                              <m:e>
                                <m:r>
                                  <a:rPr lang="en-US" altLang="ko-KR" sz="1550" b="0" i="1" dirty="0" smtClean="0">
                                    <a:solidFill>
                                      <a:srgbClr val="504C49"/>
                                    </a:solidFill>
                                    <a:latin typeface="Cambria Math" panose="02040503050406030204" pitchFamily="18" charset="0"/>
                                    <a:ea typeface="Source Serif Pro" pitchFamily="34" charset="-122"/>
                                  </a:rPr>
                                  <m:t>h</m:t>
                                </m:r>
                              </m:e>
                              <m:sub>
                                <m:r>
                                  <a:rPr lang="en-US" altLang="ko-KR" sz="1550" b="0" i="1" dirty="0" smtClean="0">
                                    <a:solidFill>
                                      <a:srgbClr val="504C49"/>
                                    </a:solidFill>
                                    <a:latin typeface="Cambria Math" panose="02040503050406030204" pitchFamily="18" charset="0"/>
                                    <a:ea typeface="Source Serif Pro" pitchFamily="34" charset="-122"/>
                                  </a:rPr>
                                  <m:t>𝑗</m:t>
                                </m:r>
                                <m:r>
                                  <a:rPr lang="en-US" altLang="ko-KR" sz="1550" b="0" i="1" dirty="0" smtClean="0">
                                    <a:solidFill>
                                      <a:srgbClr val="504C49"/>
                                    </a:solidFill>
                                    <a:latin typeface="Cambria Math" panose="02040503050406030204" pitchFamily="18" charset="0"/>
                                    <a:ea typeface="Source Serif Pro" pitchFamily="34" charset="-122"/>
                                  </a:rPr>
                                  <m:t>0</m:t>
                                </m:r>
                              </m:sub>
                            </m:sSub>
                          </m:e>
                        </m:d>
                        <m:r>
                          <a:rPr lang="en-US" altLang="ko-KR" sz="1550" b="0" i="1" dirty="0" smtClean="0">
                            <a:solidFill>
                              <a:srgbClr val="504C49"/>
                            </a:solidFill>
                            <a:latin typeface="Cambria Math" panose="02040503050406030204" pitchFamily="18" charset="0"/>
                            <a:ea typeface="Source Serif Pro" pitchFamily="34" charset="-122"/>
                          </a:rPr>
                          <m:t>∼</m:t>
                        </m:r>
                        <m:r>
                          <a:rPr lang="en-US" altLang="ko-KR" sz="1550" b="0" i="1" dirty="0" smtClean="0">
                            <a:solidFill>
                              <a:srgbClr val="504C49"/>
                            </a:solidFill>
                            <a:latin typeface="Cambria Math" panose="02040503050406030204" pitchFamily="18" charset="0"/>
                            <a:ea typeface="Source Serif Pro" pitchFamily="34" charset="-122"/>
                          </a:rPr>
                          <m:t>𝑁</m:t>
                        </m:r>
                        <m:r>
                          <a:rPr lang="en-US" altLang="ko-KR" sz="1550" b="0" i="1" dirty="0" smtClean="0">
                            <a:solidFill>
                              <a:srgbClr val="504C49"/>
                            </a:solidFill>
                            <a:latin typeface="Cambria Math" panose="02040503050406030204" pitchFamily="18" charset="0"/>
                            <a:ea typeface="Source Serif Pro" pitchFamily="34" charset="-122"/>
                          </a:rPr>
                          <m:t>(0,10)</m:t>
                        </m:r>
                      </m:e>
                    </m:func>
                  </m:oMath>
                </a14:m>
                <a:endParaRPr lang="en-US" altLang="ko-KR" sz="1550" dirty="0">
                  <a:solidFill>
                    <a:srgbClr val="504C49"/>
                  </a:solidFill>
                  <a:latin typeface="Source Serif Pro" pitchFamily="34" charset="0"/>
                  <a:ea typeface="Source Serif Pro" pitchFamily="34" charset="-122"/>
                </a:endParaRPr>
              </a:p>
            </p:txBody>
          </p:sp>
        </mc:Choice>
        <mc:Fallback xmlns="">
          <p:sp>
            <p:nvSpPr>
              <p:cNvPr id="2" name="Text 4">
                <a:extLst>
                  <a:ext uri="{FF2B5EF4-FFF2-40B4-BE49-F238E27FC236}">
                    <a16:creationId xmlns:a16="http://schemas.microsoft.com/office/drawing/2014/main" id="{46CAA036-4DD7-E459-184E-A0A91DB15BFF}"/>
                  </a:ext>
                </a:extLst>
              </p:cNvPr>
              <p:cNvSpPr>
                <a:spLocks noRot="1" noChangeAspect="1" noMove="1" noResize="1" noEditPoints="1" noAdjustHandles="1" noChangeArrowheads="1" noChangeShapeType="1" noTextEdit="1"/>
              </p:cNvSpPr>
              <p:nvPr/>
            </p:nvSpPr>
            <p:spPr>
              <a:xfrm>
                <a:off x="749319" y="1639804"/>
                <a:ext cx="13725526" cy="6408583"/>
              </a:xfrm>
              <a:prstGeom prst="rect">
                <a:avLst/>
              </a:prstGeom>
              <a:blipFill>
                <a:blip r:embed="rId3"/>
                <a:stretch>
                  <a:fillRect l="-888" b="-666"/>
                </a:stretch>
              </a:blipFill>
              <a:ln/>
            </p:spPr>
            <p:txBody>
              <a:bodyPr/>
              <a:lstStyle/>
              <a:p>
                <a:r>
                  <a:rPr lang="ko-KR" altLang="en-US">
                    <a:noFill/>
                  </a:rPr>
                  <a:t> </a:t>
                </a:r>
              </a:p>
            </p:txBody>
          </p:sp>
        </mc:Fallback>
      </mc:AlternateContent>
    </p:spTree>
    <p:extLst>
      <p:ext uri="{BB962C8B-B14F-4D97-AF65-F5344CB8AC3E}">
        <p14:creationId xmlns:p14="http://schemas.microsoft.com/office/powerpoint/2010/main" val="39139556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C3DFA9-C9DE-84FE-CE2A-20DA718FFFA3}"/>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0566DF07-8FC7-EB56-EBDC-FB53C0B87316}"/>
              </a:ext>
            </a:extLst>
          </p:cNvPr>
          <p:cNvSpPr/>
          <p:nvPr/>
        </p:nvSpPr>
        <p:spPr>
          <a:xfrm>
            <a:off x="749319" y="361950"/>
            <a:ext cx="13131761" cy="1240155"/>
          </a:xfrm>
          <a:prstGeom prst="rect">
            <a:avLst/>
          </a:prstGeom>
          <a:noFill/>
          <a:ln/>
        </p:spPr>
        <p:txBody>
          <a:bodyPr wrap="square" lIns="0" tIns="0" rIns="0" bIns="0" rtlCol="0" anchor="t"/>
          <a:lstStyle/>
          <a:p>
            <a:pPr marL="0" indent="0" algn="l">
              <a:lnSpc>
                <a:spcPts val="4850"/>
              </a:lnSpc>
              <a:buNone/>
            </a:pPr>
            <a:r>
              <a:rPr lang="en-US" sz="3900" dirty="0">
                <a:solidFill>
                  <a:srgbClr val="201B18"/>
                </a:solidFill>
                <a:latin typeface="Platypi Medium" pitchFamily="34" charset="0"/>
                <a:ea typeface="Platypi Medium" pitchFamily="34" charset="-122"/>
                <a:cs typeface="Platypi Medium" pitchFamily="34" charset="-120"/>
              </a:rPr>
              <a:t>Exercise: </a:t>
            </a:r>
          </a:p>
          <a:p>
            <a:pPr marL="0" indent="0" algn="l">
              <a:lnSpc>
                <a:spcPts val="4850"/>
              </a:lnSpc>
              <a:buNone/>
            </a:pPr>
            <a:r>
              <a:rPr lang="en-US" sz="3900" dirty="0">
                <a:solidFill>
                  <a:srgbClr val="201B18"/>
                </a:solidFill>
                <a:latin typeface="Platypi Medium" pitchFamily="34" charset="0"/>
                <a:ea typeface="Platypi Medium" pitchFamily="34" charset="-122"/>
                <a:cs typeface="Platypi Medium" pitchFamily="34" charset="-120"/>
              </a:rPr>
              <a:t>4. Prior Settings for the TVP-VAR Model</a:t>
            </a:r>
            <a:endParaRPr lang="en-US" sz="3900" dirty="0"/>
          </a:p>
        </p:txBody>
      </p:sp>
      <p:sp>
        <p:nvSpPr>
          <p:cNvPr id="13" name="직사각형 12">
            <a:extLst>
              <a:ext uri="{FF2B5EF4-FFF2-40B4-BE49-F238E27FC236}">
                <a16:creationId xmlns:a16="http://schemas.microsoft.com/office/drawing/2014/main" id="{7E32851A-B887-CD19-D064-ED580B885354}"/>
              </a:ext>
            </a:extLst>
          </p:cNvPr>
          <p:cNvSpPr/>
          <p:nvPr/>
        </p:nvSpPr>
        <p:spPr>
          <a:xfrm>
            <a:off x="12849225" y="7790974"/>
            <a:ext cx="1781175" cy="51482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altLang="ko-KR" dirty="0">
                <a:solidFill>
                  <a:schemeClr val="tx1"/>
                </a:solidFill>
                <a:latin typeface="Platypi Medium" panose="020B0600000101010101" charset="0"/>
                <a:cs typeface="Platypi Medium" panose="020B0600000101010101" charset="0"/>
              </a:rPr>
              <a:t>KFAC</a:t>
            </a:r>
            <a:endParaRPr lang="ko-KR" altLang="en-US" dirty="0">
              <a:solidFill>
                <a:schemeClr val="tx1"/>
              </a:solidFill>
              <a:latin typeface="Platypi Medium" panose="020B0600000101010101" charset="0"/>
              <a:cs typeface="Platypi Medium" panose="020B0600000101010101" charset="0"/>
            </a:endParaRPr>
          </a:p>
        </p:txBody>
      </p:sp>
      <p:sp>
        <p:nvSpPr>
          <p:cNvPr id="6" name="Text 2">
            <a:extLst>
              <a:ext uri="{FF2B5EF4-FFF2-40B4-BE49-F238E27FC236}">
                <a16:creationId xmlns:a16="http://schemas.microsoft.com/office/drawing/2014/main" id="{74439215-86D2-FF83-9811-B899525929B9}"/>
              </a:ext>
            </a:extLst>
          </p:cNvPr>
          <p:cNvSpPr/>
          <p:nvPr/>
        </p:nvSpPr>
        <p:spPr>
          <a:xfrm>
            <a:off x="749319" y="5917776"/>
            <a:ext cx="12388810" cy="2888248"/>
          </a:xfrm>
          <a:prstGeom prst="rect">
            <a:avLst/>
          </a:prstGeom>
          <a:noFill/>
          <a:ln/>
        </p:spPr>
        <p:txBody>
          <a:bodyPr wrap="square" lIns="0" tIns="0" rIns="0" bIns="0" rtlCol="0" anchor="t"/>
          <a:lstStyle/>
          <a:p>
            <a:r>
              <a:rPr lang="en-US" altLang="ko-KR" sz="1600" dirty="0">
                <a:latin typeface="Source Serif Pro" panose="02040603050405020204" pitchFamily="18" charset="0"/>
                <a:ea typeface="Source Serif Pro" panose="02040603050405020204" pitchFamily="18" charset="0"/>
              </a:rPr>
              <a:t>This visual pattern clearly shows the difficulty that the sampler has when exploring the 'funnel' shaped posterior distribution. </a:t>
            </a:r>
          </a:p>
          <a:p>
            <a:endParaRPr lang="en-US" altLang="ko-KR" sz="1600" dirty="0">
              <a:latin typeface="Source Serif Pro" panose="02040603050405020204" pitchFamily="18" charset="0"/>
              <a:ea typeface="Source Serif Pro" panose="02040603050405020204" pitchFamily="18" charset="0"/>
            </a:endParaRPr>
          </a:p>
          <a:p>
            <a:r>
              <a:rPr lang="en-US" altLang="ko-KR" sz="1600" dirty="0">
                <a:latin typeface="Source Serif Pro" panose="02040603050405020204" pitchFamily="18" charset="0"/>
                <a:ea typeface="Source Serif Pro" panose="02040603050405020204" pitchFamily="18" charset="0"/>
              </a:rPr>
              <a:t>The sampler easily gets stuck in the 'neck of the funnel' region (where the variance is close to zero) which has a high probability density but is very narrow. </a:t>
            </a:r>
          </a:p>
          <a:p>
            <a:endParaRPr lang="en-US" altLang="ko-KR" sz="1600" dirty="0">
              <a:latin typeface="Source Serif Pro" panose="02040603050405020204" pitchFamily="18" charset="0"/>
              <a:ea typeface="Source Serif Pro" panose="02040603050405020204" pitchFamily="18" charset="0"/>
            </a:endParaRPr>
          </a:p>
          <a:p>
            <a:r>
              <a:rPr lang="en-US" altLang="ko-KR" sz="1600" dirty="0">
                <a:latin typeface="Source Serif Pro" panose="02040603050405020204" pitchFamily="18" charset="0"/>
                <a:ea typeface="Source Serif Pro" panose="02040603050405020204" pitchFamily="18" charset="0"/>
              </a:rPr>
              <a:t>Attempts to escape this narrow space and move to the wide 'mouth of the funnel' region (where the variance is high) often result in uncontrollable jumps, causing divergence. </a:t>
            </a:r>
          </a:p>
          <a:p>
            <a:endParaRPr lang="en-US" altLang="ko-KR" sz="1600" dirty="0">
              <a:latin typeface="Source Serif Pro" panose="02040603050405020204" pitchFamily="18" charset="0"/>
              <a:ea typeface="Source Serif Pro" panose="02040603050405020204" pitchFamily="18" charset="0"/>
            </a:endParaRPr>
          </a:p>
          <a:p>
            <a:r>
              <a:rPr lang="en-US" altLang="ko-KR" sz="1600" dirty="0">
                <a:latin typeface="Source Serif Pro" panose="02040603050405020204" pitchFamily="18" charset="0"/>
                <a:ea typeface="Source Serif Pro" panose="02040603050405020204" pitchFamily="18" charset="0"/>
              </a:rPr>
              <a:t>This provides a direct visual indication of the low ESS and divergence.</a:t>
            </a:r>
          </a:p>
        </p:txBody>
      </p:sp>
      <p:pic>
        <p:nvPicPr>
          <p:cNvPr id="8" name="그림 7">
            <a:extLst>
              <a:ext uri="{FF2B5EF4-FFF2-40B4-BE49-F238E27FC236}">
                <a16:creationId xmlns:a16="http://schemas.microsoft.com/office/drawing/2014/main" id="{B2DC5ACD-9BF5-867F-590B-6FDD2D5B2B63}"/>
              </a:ext>
            </a:extLst>
          </p:cNvPr>
          <p:cNvPicPr>
            <a:picLocks noChangeAspect="1"/>
          </p:cNvPicPr>
          <p:nvPr/>
        </p:nvPicPr>
        <p:blipFill>
          <a:blip r:embed="rId3"/>
          <a:stretch>
            <a:fillRect/>
          </a:stretch>
        </p:blipFill>
        <p:spPr>
          <a:xfrm>
            <a:off x="3825556" y="1602105"/>
            <a:ext cx="6458268" cy="4305512"/>
          </a:xfrm>
          <a:prstGeom prst="rect">
            <a:avLst/>
          </a:prstGeom>
        </p:spPr>
      </p:pic>
    </p:spTree>
    <p:extLst>
      <p:ext uri="{BB962C8B-B14F-4D97-AF65-F5344CB8AC3E}">
        <p14:creationId xmlns:p14="http://schemas.microsoft.com/office/powerpoint/2010/main" val="6376233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ED0BA1-7535-4FE5-076D-484FE20B56A3}"/>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8548F217-B5A2-BA45-2C15-3DAE3FB5B77C}"/>
              </a:ext>
            </a:extLst>
          </p:cNvPr>
          <p:cNvSpPr/>
          <p:nvPr/>
        </p:nvSpPr>
        <p:spPr>
          <a:xfrm>
            <a:off x="749319" y="361950"/>
            <a:ext cx="13131761" cy="1240155"/>
          </a:xfrm>
          <a:prstGeom prst="rect">
            <a:avLst/>
          </a:prstGeom>
          <a:noFill/>
          <a:ln/>
        </p:spPr>
        <p:txBody>
          <a:bodyPr wrap="square" lIns="0" tIns="0" rIns="0" bIns="0" rtlCol="0" anchor="t"/>
          <a:lstStyle/>
          <a:p>
            <a:pPr marL="0" indent="0" algn="l">
              <a:lnSpc>
                <a:spcPts val="4850"/>
              </a:lnSpc>
              <a:buNone/>
            </a:pPr>
            <a:r>
              <a:rPr lang="en-US" sz="3900" dirty="0">
                <a:solidFill>
                  <a:srgbClr val="201B18"/>
                </a:solidFill>
                <a:latin typeface="Platypi Medium" pitchFamily="34" charset="0"/>
                <a:ea typeface="Platypi Medium" pitchFamily="34" charset="-122"/>
                <a:cs typeface="Platypi Medium" pitchFamily="34" charset="-120"/>
              </a:rPr>
              <a:t>Exercise: </a:t>
            </a:r>
          </a:p>
          <a:p>
            <a:pPr marL="0" indent="0" algn="l">
              <a:lnSpc>
                <a:spcPts val="4850"/>
              </a:lnSpc>
              <a:buNone/>
            </a:pPr>
            <a:r>
              <a:rPr lang="en-US" sz="3900" dirty="0">
                <a:solidFill>
                  <a:srgbClr val="201B18"/>
                </a:solidFill>
                <a:latin typeface="Platypi Medium" pitchFamily="34" charset="0"/>
                <a:ea typeface="Platypi Medium" pitchFamily="34" charset="-122"/>
                <a:cs typeface="Platypi Medium" pitchFamily="34" charset="-120"/>
              </a:rPr>
              <a:t>4. Prior Settings for the TVP-VAR Model</a:t>
            </a:r>
            <a:endParaRPr lang="en-US" sz="3900" dirty="0"/>
          </a:p>
        </p:txBody>
      </p:sp>
      <p:sp>
        <p:nvSpPr>
          <p:cNvPr id="13" name="직사각형 12">
            <a:extLst>
              <a:ext uri="{FF2B5EF4-FFF2-40B4-BE49-F238E27FC236}">
                <a16:creationId xmlns:a16="http://schemas.microsoft.com/office/drawing/2014/main" id="{D18399E2-BFAC-6B75-ECA2-ABF87127F3C4}"/>
              </a:ext>
            </a:extLst>
          </p:cNvPr>
          <p:cNvSpPr/>
          <p:nvPr/>
        </p:nvSpPr>
        <p:spPr>
          <a:xfrm>
            <a:off x="12849225" y="7790974"/>
            <a:ext cx="1781175" cy="51482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altLang="ko-KR" dirty="0">
                <a:solidFill>
                  <a:schemeClr val="tx1"/>
                </a:solidFill>
                <a:latin typeface="Platypi Medium" panose="020B0600000101010101" charset="0"/>
                <a:cs typeface="Platypi Medium" panose="020B0600000101010101" charset="0"/>
              </a:rPr>
              <a:t>KFAC</a:t>
            </a:r>
            <a:endParaRPr lang="ko-KR" altLang="en-US" dirty="0">
              <a:solidFill>
                <a:schemeClr val="tx1"/>
              </a:solidFill>
              <a:latin typeface="Platypi Medium" panose="020B0600000101010101" charset="0"/>
              <a:cs typeface="Platypi Medium" panose="020B0600000101010101" charset="0"/>
            </a:endParaRPr>
          </a:p>
        </p:txBody>
      </p:sp>
      <p:pic>
        <p:nvPicPr>
          <p:cNvPr id="4" name="그림 3">
            <a:extLst>
              <a:ext uri="{FF2B5EF4-FFF2-40B4-BE49-F238E27FC236}">
                <a16:creationId xmlns:a16="http://schemas.microsoft.com/office/drawing/2014/main" id="{47F22AFD-6FE4-B687-A9D2-2A8FB91D1AFE}"/>
              </a:ext>
            </a:extLst>
          </p:cNvPr>
          <p:cNvPicPr>
            <a:picLocks noChangeAspect="1"/>
          </p:cNvPicPr>
          <p:nvPr/>
        </p:nvPicPr>
        <p:blipFill>
          <a:blip r:embed="rId3"/>
          <a:stretch>
            <a:fillRect/>
          </a:stretch>
        </p:blipFill>
        <p:spPr>
          <a:xfrm>
            <a:off x="531835" y="2206581"/>
            <a:ext cx="13349245" cy="4979916"/>
          </a:xfrm>
          <a:prstGeom prst="rect">
            <a:avLst/>
          </a:prstGeom>
        </p:spPr>
      </p:pic>
    </p:spTree>
    <p:extLst>
      <p:ext uri="{BB962C8B-B14F-4D97-AF65-F5344CB8AC3E}">
        <p14:creationId xmlns:p14="http://schemas.microsoft.com/office/powerpoint/2010/main" val="29859245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508D6C-6A79-6E4E-78A3-CA06DC465BB3}"/>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EDD7D36E-85D4-2052-9041-1530967564E7}"/>
              </a:ext>
            </a:extLst>
          </p:cNvPr>
          <p:cNvSpPr/>
          <p:nvPr/>
        </p:nvSpPr>
        <p:spPr>
          <a:xfrm>
            <a:off x="749319" y="361950"/>
            <a:ext cx="13131761" cy="1240155"/>
          </a:xfrm>
          <a:prstGeom prst="rect">
            <a:avLst/>
          </a:prstGeom>
          <a:noFill/>
          <a:ln/>
        </p:spPr>
        <p:txBody>
          <a:bodyPr wrap="square" lIns="0" tIns="0" rIns="0" bIns="0" rtlCol="0" anchor="t"/>
          <a:lstStyle/>
          <a:p>
            <a:pPr marL="0" indent="0" algn="l">
              <a:lnSpc>
                <a:spcPts val="4850"/>
              </a:lnSpc>
              <a:buNone/>
            </a:pPr>
            <a:r>
              <a:rPr lang="en-US" sz="3900" dirty="0">
                <a:solidFill>
                  <a:srgbClr val="201B18"/>
                </a:solidFill>
                <a:latin typeface="Platypi Medium" pitchFamily="34" charset="0"/>
                <a:ea typeface="Platypi Medium" pitchFamily="34" charset="-122"/>
                <a:cs typeface="Platypi Medium" pitchFamily="34" charset="-120"/>
              </a:rPr>
              <a:t>Exercise: </a:t>
            </a:r>
          </a:p>
          <a:p>
            <a:pPr marL="0" indent="0" algn="l">
              <a:lnSpc>
                <a:spcPts val="4850"/>
              </a:lnSpc>
              <a:buNone/>
            </a:pPr>
            <a:r>
              <a:rPr lang="en-US" sz="3900" dirty="0">
                <a:solidFill>
                  <a:srgbClr val="201B18"/>
                </a:solidFill>
                <a:latin typeface="Platypi Medium" pitchFamily="34" charset="0"/>
                <a:ea typeface="Platypi Medium" pitchFamily="34" charset="-122"/>
                <a:cs typeface="Platypi Medium" pitchFamily="34" charset="-120"/>
              </a:rPr>
              <a:t>5. MCMC Sampling Results</a:t>
            </a:r>
            <a:endParaRPr lang="en-US" sz="3900" dirty="0"/>
          </a:p>
        </p:txBody>
      </p:sp>
      <p:sp>
        <p:nvSpPr>
          <p:cNvPr id="13" name="직사각형 12">
            <a:extLst>
              <a:ext uri="{FF2B5EF4-FFF2-40B4-BE49-F238E27FC236}">
                <a16:creationId xmlns:a16="http://schemas.microsoft.com/office/drawing/2014/main" id="{2195CD39-3603-937A-8092-742D8BF8DA1A}"/>
              </a:ext>
            </a:extLst>
          </p:cNvPr>
          <p:cNvSpPr/>
          <p:nvPr/>
        </p:nvSpPr>
        <p:spPr>
          <a:xfrm>
            <a:off x="12849225" y="7790974"/>
            <a:ext cx="1781175" cy="51482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altLang="ko-KR" dirty="0">
                <a:solidFill>
                  <a:schemeClr val="tx1"/>
                </a:solidFill>
                <a:latin typeface="Platypi Medium" panose="020B0600000101010101" charset="0"/>
                <a:cs typeface="Platypi Medium" panose="020B0600000101010101" charset="0"/>
              </a:rPr>
              <a:t>KFAC</a:t>
            </a:r>
            <a:endParaRPr lang="ko-KR" altLang="en-US" dirty="0">
              <a:solidFill>
                <a:schemeClr val="tx1"/>
              </a:solidFill>
              <a:latin typeface="Platypi Medium" panose="020B0600000101010101" charset="0"/>
              <a:cs typeface="Platypi Medium" panose="020B0600000101010101" charset="0"/>
            </a:endParaRPr>
          </a:p>
        </p:txBody>
      </p:sp>
      <p:pic>
        <p:nvPicPr>
          <p:cNvPr id="4" name="그림 3">
            <a:extLst>
              <a:ext uri="{FF2B5EF4-FFF2-40B4-BE49-F238E27FC236}">
                <a16:creationId xmlns:a16="http://schemas.microsoft.com/office/drawing/2014/main" id="{959075B8-6107-0875-EF4B-FE1FA5880217}"/>
              </a:ext>
            </a:extLst>
          </p:cNvPr>
          <p:cNvPicPr>
            <a:picLocks noChangeAspect="1"/>
          </p:cNvPicPr>
          <p:nvPr/>
        </p:nvPicPr>
        <p:blipFill>
          <a:blip r:embed="rId3"/>
          <a:stretch>
            <a:fillRect/>
          </a:stretch>
        </p:blipFill>
        <p:spPr>
          <a:xfrm>
            <a:off x="749319" y="1804847"/>
            <a:ext cx="5783385" cy="5783385"/>
          </a:xfrm>
          <a:prstGeom prst="rect">
            <a:avLst/>
          </a:prstGeom>
        </p:spPr>
      </p:pic>
      <p:sp>
        <p:nvSpPr>
          <p:cNvPr id="8" name="Text 2">
            <a:extLst>
              <a:ext uri="{FF2B5EF4-FFF2-40B4-BE49-F238E27FC236}">
                <a16:creationId xmlns:a16="http://schemas.microsoft.com/office/drawing/2014/main" id="{04D9B2F1-1171-01C6-BA5A-D0CF0025C3D7}"/>
              </a:ext>
            </a:extLst>
          </p:cNvPr>
          <p:cNvSpPr/>
          <p:nvPr/>
        </p:nvSpPr>
        <p:spPr>
          <a:xfrm>
            <a:off x="6943724" y="1804847"/>
            <a:ext cx="7477126" cy="2888248"/>
          </a:xfrm>
          <a:prstGeom prst="rect">
            <a:avLst/>
          </a:prstGeom>
          <a:noFill/>
          <a:ln/>
        </p:spPr>
        <p:txBody>
          <a:bodyPr wrap="square" lIns="0" tIns="0" rIns="0" bIns="0" rtlCol="0" anchor="t"/>
          <a:lstStyle/>
          <a:p>
            <a:endParaRPr lang="en-US" altLang="ko-KR" sz="1600" dirty="0">
              <a:latin typeface="Source Serif Pro" panose="02040603050405020204" pitchFamily="18" charset="0"/>
              <a:ea typeface="Source Serif Pro" panose="02040603050405020204" pitchFamily="18" charset="0"/>
            </a:endParaRPr>
          </a:p>
        </p:txBody>
      </p:sp>
      <p:sp>
        <p:nvSpPr>
          <p:cNvPr id="9" name="Rectangle 1">
            <a:extLst>
              <a:ext uri="{FF2B5EF4-FFF2-40B4-BE49-F238E27FC236}">
                <a16:creationId xmlns:a16="http://schemas.microsoft.com/office/drawing/2014/main" id="{7EE880A7-F0CD-3942-CCFE-759031EF15F1}"/>
              </a:ext>
            </a:extLst>
          </p:cNvPr>
          <p:cNvSpPr>
            <a:spLocks noChangeArrowheads="1"/>
          </p:cNvSpPr>
          <p:nvPr/>
        </p:nvSpPr>
        <p:spPr bwMode="auto">
          <a:xfrm>
            <a:off x="6943723" y="2597289"/>
            <a:ext cx="7219951"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800" b="1" i="0" u="none" strike="noStrike" cap="none" normalizeH="0" baseline="0" dirty="0">
                <a:ln>
                  <a:noFill/>
                </a:ln>
                <a:solidFill>
                  <a:schemeClr val="tx1"/>
                </a:solidFill>
                <a:effectLst/>
                <a:latin typeface="Source Serif Pro" panose="02040603050405020204" pitchFamily="18" charset="0"/>
              </a:rPr>
              <a:t>MCMC </a:t>
            </a:r>
            <a:r>
              <a:rPr kumimoji="0" lang="ko-KR" altLang="ko-KR" sz="1800" b="1" i="0" u="none" strike="noStrike" cap="none" normalizeH="0" baseline="0" dirty="0" err="1">
                <a:ln>
                  <a:noFill/>
                </a:ln>
                <a:solidFill>
                  <a:schemeClr val="tx1"/>
                </a:solidFill>
                <a:effectLst/>
                <a:latin typeface="Source Serif Pro" panose="02040603050405020204" pitchFamily="18" charset="0"/>
              </a:rPr>
              <a:t>Convergence</a:t>
            </a:r>
            <a:r>
              <a:rPr kumimoji="0" lang="ko-KR" altLang="ko-KR" sz="1800" b="1" i="0" u="none" strike="noStrike" cap="none" normalizeH="0" baseline="0" dirty="0">
                <a:ln>
                  <a:noFill/>
                </a:ln>
                <a:solidFill>
                  <a:schemeClr val="tx1"/>
                </a:solidFill>
                <a:effectLst/>
                <a:latin typeface="Source Serif Pro" panose="02040603050405020204" pitchFamily="18" charset="0"/>
              </a:rPr>
              <a:t> Diagnostics: </a:t>
            </a:r>
            <a:r>
              <a:rPr kumimoji="0" lang="ko-KR" altLang="ko-KR" sz="1800" b="1" i="0" u="none" strike="noStrike" cap="none" normalizeH="0" baseline="0" dirty="0" err="1">
                <a:ln>
                  <a:noFill/>
                </a:ln>
                <a:solidFill>
                  <a:schemeClr val="tx1"/>
                </a:solidFill>
                <a:effectLst/>
                <a:latin typeface="Source Serif Pro" panose="02040603050405020204" pitchFamily="18" charset="0"/>
              </a:rPr>
              <a:t>Excellent</a:t>
            </a:r>
            <a:endParaRPr kumimoji="0" lang="ko-KR" altLang="ko-KR" sz="1800" b="0" i="0" u="none" strike="noStrike" cap="none" normalizeH="0" baseline="0" dirty="0">
              <a:ln>
                <a:noFill/>
              </a:ln>
              <a:solidFill>
                <a:schemeClr val="tx1"/>
              </a:solidFill>
              <a:effectLst/>
              <a:latin typeface="Source Serif Pro" panose="020406030504050202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ko-KR" altLang="ko-KR" sz="1800" b="1" i="0" u="none" strike="noStrike" cap="none" normalizeH="0" baseline="0" dirty="0" err="1">
                <a:ln>
                  <a:noFill/>
                </a:ln>
                <a:solidFill>
                  <a:schemeClr val="tx1"/>
                </a:solidFill>
                <a:effectLst/>
                <a:latin typeface="Source Serif Pro" panose="02040603050405020204" pitchFamily="18" charset="0"/>
              </a:rPr>
              <a:t>Successful</a:t>
            </a:r>
            <a:r>
              <a:rPr kumimoji="0" lang="ko-KR" altLang="ko-KR" sz="1800" b="1" i="0" u="none" strike="noStrike" cap="none" normalizeH="0" baseline="0" dirty="0">
                <a:ln>
                  <a:noFill/>
                </a:ln>
                <a:solidFill>
                  <a:schemeClr val="tx1"/>
                </a:solidFill>
                <a:effectLst/>
                <a:latin typeface="Source Serif Pro" panose="02040603050405020204" pitchFamily="18" charset="0"/>
              </a:rPr>
              <a:t> </a:t>
            </a:r>
            <a:r>
              <a:rPr kumimoji="0" lang="ko-KR" altLang="ko-KR" sz="1800" b="1" i="0" u="none" strike="noStrike" cap="none" normalizeH="0" baseline="0" dirty="0" err="1">
                <a:ln>
                  <a:noFill/>
                </a:ln>
                <a:solidFill>
                  <a:schemeClr val="tx1"/>
                </a:solidFill>
                <a:effectLst/>
                <a:latin typeface="Source Serif Pro" panose="02040603050405020204" pitchFamily="18" charset="0"/>
              </a:rPr>
              <a:t>Convergence</a:t>
            </a:r>
            <a:r>
              <a:rPr kumimoji="0" lang="ko-KR" altLang="ko-KR" sz="1800" b="1" i="0" u="none" strike="noStrike" cap="none" normalizeH="0" baseline="0" dirty="0">
                <a:ln>
                  <a:noFill/>
                </a:ln>
                <a:solidFill>
                  <a:schemeClr val="tx1"/>
                </a:solidFill>
                <a:effectLst/>
                <a:latin typeface="Source Serif Pro" panose="02040603050405020204" pitchFamily="18" charset="0"/>
              </a:rPr>
              <a:t> </a:t>
            </a:r>
            <a:r>
              <a:rPr kumimoji="0" lang="ko-KR" altLang="ko-KR" sz="1800" b="1" i="0" u="none" strike="noStrike" cap="none" normalizeH="0" baseline="0" dirty="0" err="1">
                <a:ln>
                  <a:noFill/>
                </a:ln>
                <a:solidFill>
                  <a:schemeClr val="tx1"/>
                </a:solidFill>
                <a:effectLst/>
                <a:latin typeface="Source Serif Pro" panose="02040603050405020204" pitchFamily="18" charset="0"/>
              </a:rPr>
              <a:t>Achieved</a:t>
            </a:r>
            <a:endParaRPr kumimoji="0" lang="ko-KR" altLang="ko-KR" sz="1800" b="0" i="0" u="none" strike="noStrike" cap="none" normalizeH="0" baseline="0" dirty="0">
              <a:ln>
                <a:noFill/>
              </a:ln>
              <a:solidFill>
                <a:schemeClr val="tx1"/>
              </a:solidFill>
              <a:effectLst/>
              <a:latin typeface="Source Serif Pro" panose="02040603050405020204" pitchFamily="18"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ko-KR" altLang="ko-KR" sz="1800" b="0" i="0" u="none" strike="noStrike" cap="none" normalizeH="0" baseline="0" dirty="0">
                <a:ln>
                  <a:noFill/>
                </a:ln>
                <a:solidFill>
                  <a:schemeClr val="tx1"/>
                </a:solidFill>
                <a:effectLst/>
                <a:latin typeface="Source Serif Pro" panose="02040603050405020204" pitchFamily="18" charset="0"/>
              </a:rPr>
              <a:t>The MCMC </a:t>
            </a:r>
            <a:r>
              <a:rPr kumimoji="0" lang="ko-KR" altLang="ko-KR" sz="1800" b="0" i="0" u="none" strike="noStrike" cap="none" normalizeH="0" baseline="0" dirty="0" err="1">
                <a:ln>
                  <a:noFill/>
                </a:ln>
                <a:solidFill>
                  <a:schemeClr val="tx1"/>
                </a:solidFill>
                <a:effectLst/>
                <a:latin typeface="Source Serif Pro" panose="02040603050405020204" pitchFamily="18" charset="0"/>
              </a:rPr>
              <a:t>simulation</a:t>
            </a:r>
            <a:r>
              <a:rPr kumimoji="0" lang="ko-KR" altLang="ko-KR" sz="1800" b="0" i="0" u="none" strike="noStrike" cap="none" normalizeH="0" baseline="0" dirty="0">
                <a:ln>
                  <a:noFill/>
                </a:ln>
                <a:solidFill>
                  <a:schemeClr val="tx1"/>
                </a:solidFill>
                <a:effectLst/>
                <a:latin typeface="Source Serif Pro" panose="02040603050405020204" pitchFamily="18" charset="0"/>
              </a:rPr>
              <a:t> </a:t>
            </a:r>
            <a:r>
              <a:rPr kumimoji="0" lang="ko-KR" altLang="ko-KR" sz="1800" b="0" i="0" u="none" strike="noStrike" cap="none" normalizeH="0" baseline="0" dirty="0" err="1">
                <a:ln>
                  <a:noFill/>
                </a:ln>
                <a:solidFill>
                  <a:schemeClr val="tx1"/>
                </a:solidFill>
                <a:effectLst/>
                <a:latin typeface="Source Serif Pro" panose="02040603050405020204" pitchFamily="18" charset="0"/>
              </a:rPr>
              <a:t>converged</a:t>
            </a:r>
            <a:r>
              <a:rPr kumimoji="0" lang="ko-KR" altLang="ko-KR" sz="1800" b="0" i="0" u="none" strike="noStrike" cap="none" normalizeH="0" baseline="0" dirty="0">
                <a:ln>
                  <a:noFill/>
                </a:ln>
                <a:solidFill>
                  <a:schemeClr val="tx1"/>
                </a:solidFill>
                <a:effectLst/>
                <a:latin typeface="Source Serif Pro" panose="02040603050405020204" pitchFamily="18" charset="0"/>
              </a:rPr>
              <a:t> </a:t>
            </a:r>
            <a:r>
              <a:rPr kumimoji="0" lang="ko-KR" altLang="ko-KR" sz="1800" b="0" i="0" u="none" strike="noStrike" cap="none" normalizeH="0" baseline="0" dirty="0" err="1">
                <a:ln>
                  <a:noFill/>
                </a:ln>
                <a:solidFill>
                  <a:schemeClr val="tx1"/>
                </a:solidFill>
                <a:effectLst/>
                <a:latin typeface="Source Serif Pro" panose="02040603050405020204" pitchFamily="18" charset="0"/>
              </a:rPr>
              <a:t>successfully</a:t>
            </a:r>
            <a:r>
              <a:rPr kumimoji="0" lang="ko-KR" altLang="ko-KR" sz="1800" b="0" i="0" u="none" strike="noStrike" cap="none" normalizeH="0" baseline="0" dirty="0">
                <a:ln>
                  <a:noFill/>
                </a:ln>
                <a:solidFill>
                  <a:schemeClr val="tx1"/>
                </a:solidFill>
                <a:effectLst/>
                <a:latin typeface="Source Serif Pro" panose="02040603050405020204" pitchFamily="18" charset="0"/>
              </a:rPr>
              <a:t>, </a:t>
            </a:r>
            <a:r>
              <a:rPr kumimoji="0" lang="ko-KR" altLang="ko-KR" sz="1800" b="0" i="0" u="none" strike="noStrike" cap="none" normalizeH="0" baseline="0" dirty="0" err="1">
                <a:ln>
                  <a:noFill/>
                </a:ln>
                <a:solidFill>
                  <a:schemeClr val="tx1"/>
                </a:solidFill>
                <a:effectLst/>
                <a:latin typeface="Source Serif Pro" panose="02040603050405020204" pitchFamily="18" charset="0"/>
              </a:rPr>
              <a:t>indicating</a:t>
            </a:r>
            <a:r>
              <a:rPr kumimoji="0" lang="ko-KR" altLang="ko-KR" sz="1800" b="0" i="0" u="none" strike="noStrike" cap="none" normalizeH="0" baseline="0" dirty="0">
                <a:ln>
                  <a:noFill/>
                </a:ln>
                <a:solidFill>
                  <a:schemeClr val="tx1"/>
                </a:solidFill>
                <a:effectLst/>
                <a:latin typeface="Source Serif Pro" panose="02040603050405020204" pitchFamily="18" charset="0"/>
              </a:rPr>
              <a:t> </a:t>
            </a:r>
            <a:r>
              <a:rPr kumimoji="0" lang="ko-KR" altLang="ko-KR" sz="1800" b="0" i="0" u="none" strike="noStrike" cap="none" normalizeH="0" baseline="0" dirty="0" err="1">
                <a:ln>
                  <a:noFill/>
                </a:ln>
                <a:solidFill>
                  <a:schemeClr val="tx1"/>
                </a:solidFill>
                <a:effectLst/>
                <a:latin typeface="Source Serif Pro" panose="02040603050405020204" pitchFamily="18" charset="0"/>
              </a:rPr>
              <a:t>that</a:t>
            </a:r>
            <a:r>
              <a:rPr kumimoji="0" lang="ko-KR" altLang="ko-KR" sz="1800" b="0" i="0" u="none" strike="noStrike" cap="none" normalizeH="0" baseline="0" dirty="0">
                <a:ln>
                  <a:noFill/>
                </a:ln>
                <a:solidFill>
                  <a:schemeClr val="tx1"/>
                </a:solidFill>
                <a:effectLst/>
                <a:latin typeface="Source Serif Pro" panose="02040603050405020204" pitchFamily="18" charset="0"/>
              </a:rPr>
              <a:t> </a:t>
            </a:r>
            <a:r>
              <a:rPr kumimoji="0" lang="ko-KR" altLang="ko-KR" sz="1800" b="0" i="0" u="none" strike="noStrike" cap="none" normalizeH="0" baseline="0" dirty="0" err="1">
                <a:ln>
                  <a:noFill/>
                </a:ln>
                <a:solidFill>
                  <a:schemeClr val="tx1"/>
                </a:solidFill>
                <a:effectLst/>
                <a:latin typeface="Source Serif Pro" panose="02040603050405020204" pitchFamily="18" charset="0"/>
              </a:rPr>
              <a:t>the</a:t>
            </a:r>
            <a:r>
              <a:rPr kumimoji="0" lang="ko-KR" altLang="ko-KR" sz="1800" b="0" i="0" u="none" strike="noStrike" cap="none" normalizeH="0" baseline="0" dirty="0">
                <a:ln>
                  <a:noFill/>
                </a:ln>
                <a:solidFill>
                  <a:schemeClr val="tx1"/>
                </a:solidFill>
                <a:effectLst/>
                <a:latin typeface="Source Serif Pro" panose="02040603050405020204" pitchFamily="18" charset="0"/>
              </a:rPr>
              <a:t> </a:t>
            </a:r>
            <a:r>
              <a:rPr kumimoji="0" lang="ko-KR" altLang="ko-KR" sz="1800" b="0" i="0" u="none" strike="noStrike" cap="none" normalizeH="0" baseline="0" dirty="0" err="1">
                <a:ln>
                  <a:noFill/>
                </a:ln>
                <a:solidFill>
                  <a:schemeClr val="tx1"/>
                </a:solidFill>
                <a:effectLst/>
                <a:latin typeface="Source Serif Pro" panose="02040603050405020204" pitchFamily="18" charset="0"/>
              </a:rPr>
              <a:t>numerical</a:t>
            </a:r>
            <a:r>
              <a:rPr kumimoji="0" lang="ko-KR" altLang="ko-KR" sz="1800" b="0" i="0" u="none" strike="noStrike" cap="none" normalizeH="0" baseline="0" dirty="0">
                <a:ln>
                  <a:noFill/>
                </a:ln>
                <a:solidFill>
                  <a:schemeClr val="tx1"/>
                </a:solidFill>
                <a:effectLst/>
                <a:latin typeface="Source Serif Pro" panose="02040603050405020204" pitchFamily="18" charset="0"/>
              </a:rPr>
              <a:t> </a:t>
            </a:r>
            <a:r>
              <a:rPr kumimoji="0" lang="ko-KR" altLang="ko-KR" sz="1800" b="0" i="0" u="none" strike="noStrike" cap="none" normalizeH="0" baseline="0" dirty="0" err="1">
                <a:ln>
                  <a:noFill/>
                </a:ln>
                <a:solidFill>
                  <a:schemeClr val="tx1"/>
                </a:solidFill>
                <a:effectLst/>
                <a:latin typeface="Source Serif Pro" panose="02040603050405020204" pitchFamily="18" charset="0"/>
              </a:rPr>
              <a:t>estimation</a:t>
            </a:r>
            <a:r>
              <a:rPr kumimoji="0" lang="ko-KR" altLang="ko-KR" sz="1800" b="0" i="0" u="none" strike="noStrike" cap="none" normalizeH="0" baseline="0" dirty="0">
                <a:ln>
                  <a:noFill/>
                </a:ln>
                <a:solidFill>
                  <a:schemeClr val="tx1"/>
                </a:solidFill>
                <a:effectLst/>
                <a:latin typeface="Source Serif Pro" panose="02040603050405020204" pitchFamily="18" charset="0"/>
              </a:rPr>
              <a:t> </a:t>
            </a:r>
            <a:r>
              <a:rPr kumimoji="0" lang="ko-KR" altLang="ko-KR" sz="1800" b="0" i="0" u="none" strike="noStrike" cap="none" normalizeH="0" baseline="0" dirty="0" err="1">
                <a:ln>
                  <a:noFill/>
                </a:ln>
                <a:solidFill>
                  <a:schemeClr val="tx1"/>
                </a:solidFill>
                <a:effectLst/>
                <a:latin typeface="Source Serif Pro" panose="02040603050405020204" pitchFamily="18" charset="0"/>
              </a:rPr>
              <a:t>process</a:t>
            </a:r>
            <a:r>
              <a:rPr kumimoji="0" lang="ko-KR" altLang="ko-KR" sz="1800" b="0" i="0" u="none" strike="noStrike" cap="none" normalizeH="0" baseline="0" dirty="0">
                <a:ln>
                  <a:noFill/>
                </a:ln>
                <a:solidFill>
                  <a:schemeClr val="tx1"/>
                </a:solidFill>
                <a:effectLst/>
                <a:latin typeface="Source Serif Pro" panose="02040603050405020204" pitchFamily="18" charset="0"/>
              </a:rPr>
              <a:t> </a:t>
            </a:r>
            <a:r>
              <a:rPr kumimoji="0" lang="ko-KR" altLang="ko-KR" sz="1800" b="0" i="0" u="none" strike="noStrike" cap="none" normalizeH="0" baseline="0" dirty="0" err="1">
                <a:ln>
                  <a:noFill/>
                </a:ln>
                <a:solidFill>
                  <a:schemeClr val="tx1"/>
                </a:solidFill>
                <a:effectLst/>
                <a:latin typeface="Source Serif Pro" panose="02040603050405020204" pitchFamily="18" charset="0"/>
              </a:rPr>
              <a:t>was</a:t>
            </a:r>
            <a:r>
              <a:rPr kumimoji="0" lang="ko-KR" altLang="ko-KR" sz="1800" b="0" i="0" u="none" strike="noStrike" cap="none" normalizeH="0" baseline="0" dirty="0">
                <a:ln>
                  <a:noFill/>
                </a:ln>
                <a:solidFill>
                  <a:schemeClr val="tx1"/>
                </a:solidFill>
                <a:effectLst/>
                <a:latin typeface="Source Serif Pro" panose="02040603050405020204" pitchFamily="18" charset="0"/>
              </a:rPr>
              <a:t> </a:t>
            </a:r>
            <a:r>
              <a:rPr kumimoji="0" lang="ko-KR" altLang="ko-KR" sz="1800" b="0" i="0" u="none" strike="noStrike" cap="none" normalizeH="0" baseline="0" dirty="0" err="1">
                <a:ln>
                  <a:noFill/>
                </a:ln>
                <a:solidFill>
                  <a:schemeClr val="tx1"/>
                </a:solidFill>
                <a:effectLst/>
                <a:latin typeface="Source Serif Pro" panose="02040603050405020204" pitchFamily="18" charset="0"/>
              </a:rPr>
              <a:t>stable</a:t>
            </a:r>
            <a:r>
              <a:rPr kumimoji="0" lang="ko-KR" altLang="ko-KR" sz="1800" b="0" i="0" u="none" strike="noStrike" cap="none" normalizeH="0" baseline="0" dirty="0">
                <a:ln>
                  <a:noFill/>
                </a:ln>
                <a:solidFill>
                  <a:schemeClr val="tx1"/>
                </a:solidFill>
                <a:effectLst/>
                <a:latin typeface="Source Serif Pro" panose="02040603050405020204" pitchFamily="18" charset="0"/>
              </a:rPr>
              <a:t> and </a:t>
            </a:r>
            <a:r>
              <a:rPr kumimoji="0" lang="ko-KR" altLang="ko-KR" sz="1800" b="0" i="0" u="none" strike="noStrike" cap="none" normalizeH="0" baseline="0" dirty="0" err="1">
                <a:ln>
                  <a:noFill/>
                </a:ln>
                <a:solidFill>
                  <a:schemeClr val="tx1"/>
                </a:solidFill>
                <a:effectLst/>
                <a:latin typeface="Source Serif Pro" panose="02040603050405020204" pitchFamily="18" charset="0"/>
              </a:rPr>
              <a:t>reliable</a:t>
            </a:r>
            <a:r>
              <a:rPr kumimoji="0" lang="ko-KR" altLang="ko-KR" sz="1800" b="0" i="0" u="none" strike="noStrike" cap="none" normalizeH="0" baseline="0" dirty="0">
                <a:ln>
                  <a:noFill/>
                </a:ln>
                <a:solidFill>
                  <a:schemeClr val="tx1"/>
                </a:solidFill>
                <a:effectLst/>
                <a:latin typeface="Source Serif Pro" panose="02040603050405020204" pitchFamily="18"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ko-KR" altLang="ko-KR" sz="1800" b="1" i="0" u="none" strike="noStrike" cap="none" normalizeH="0" baseline="0" dirty="0" err="1">
                <a:ln>
                  <a:noFill/>
                </a:ln>
                <a:solidFill>
                  <a:schemeClr val="tx1"/>
                </a:solidFill>
                <a:effectLst/>
                <a:latin typeface="Source Serif Pro" panose="02040603050405020204" pitchFamily="18" charset="0"/>
              </a:rPr>
              <a:t>Well-Mixed</a:t>
            </a:r>
            <a:r>
              <a:rPr kumimoji="0" lang="ko-KR" altLang="ko-KR" sz="1800" b="1" i="0" u="none" strike="noStrike" cap="none" normalizeH="0" baseline="0" dirty="0">
                <a:ln>
                  <a:noFill/>
                </a:ln>
                <a:solidFill>
                  <a:schemeClr val="tx1"/>
                </a:solidFill>
                <a:effectLst/>
                <a:latin typeface="Source Serif Pro" panose="02040603050405020204" pitchFamily="18" charset="0"/>
              </a:rPr>
              <a:t> </a:t>
            </a:r>
            <a:r>
              <a:rPr kumimoji="0" lang="ko-KR" altLang="ko-KR" sz="1800" b="1" i="0" u="none" strike="noStrike" cap="none" normalizeH="0" baseline="0" dirty="0" err="1">
                <a:ln>
                  <a:noFill/>
                </a:ln>
                <a:solidFill>
                  <a:schemeClr val="tx1"/>
                </a:solidFill>
                <a:effectLst/>
                <a:latin typeface="Source Serif Pro" panose="02040603050405020204" pitchFamily="18" charset="0"/>
              </a:rPr>
              <a:t>Chains</a:t>
            </a:r>
            <a:r>
              <a:rPr kumimoji="0" lang="ko-KR" altLang="ko-KR" sz="1800" b="1" i="0" u="none" strike="noStrike" cap="none" normalizeH="0" baseline="0" dirty="0">
                <a:ln>
                  <a:noFill/>
                </a:ln>
                <a:solidFill>
                  <a:schemeClr val="tx1"/>
                </a:solidFill>
                <a:effectLst/>
                <a:latin typeface="Source Serif Pro" panose="02040603050405020204" pitchFamily="18" charset="0"/>
              </a:rPr>
              <a:t> (</a:t>
            </a:r>
            <a:r>
              <a:rPr kumimoji="0" lang="ko-KR" altLang="ko-KR" sz="1800" b="1" i="0" u="none" strike="noStrike" cap="none" normalizeH="0" baseline="0" dirty="0" err="1">
                <a:ln>
                  <a:noFill/>
                </a:ln>
                <a:solidFill>
                  <a:schemeClr val="tx1"/>
                </a:solidFill>
                <a:effectLst/>
                <a:latin typeface="Source Serif Pro" panose="02040603050405020204" pitchFamily="18" charset="0"/>
              </a:rPr>
              <a:t>R</a:t>
            </a:r>
            <a:r>
              <a:rPr kumimoji="0" lang="ko-KR" altLang="ko-KR" sz="1800" b="1" i="0" u="none" strike="noStrike" cap="none" normalizeH="0" baseline="0" dirty="0">
                <a:ln>
                  <a:noFill/>
                </a:ln>
                <a:solidFill>
                  <a:schemeClr val="tx1"/>
                </a:solidFill>
                <a:effectLst/>
                <a:latin typeface="Source Serif Pro" panose="02040603050405020204" pitchFamily="18" charset="0"/>
              </a:rPr>
              <a:t>^≈1.0)</a:t>
            </a:r>
            <a:endParaRPr kumimoji="0" lang="ko-KR" altLang="ko-KR" sz="1800" b="0" i="0" u="none" strike="noStrike" cap="none" normalizeH="0" baseline="0" dirty="0">
              <a:ln>
                <a:noFill/>
              </a:ln>
              <a:solidFill>
                <a:schemeClr val="tx1"/>
              </a:solidFill>
              <a:effectLst/>
              <a:latin typeface="Source Serif Pro" panose="02040603050405020204" pitchFamily="18"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ko-KR" altLang="ko-KR" sz="1800" b="0" i="0" u="none" strike="noStrike" cap="none" normalizeH="0" baseline="0" dirty="0">
                <a:ln>
                  <a:noFill/>
                </a:ln>
                <a:solidFill>
                  <a:schemeClr val="tx1"/>
                </a:solidFill>
                <a:effectLst/>
                <a:latin typeface="Source Serif Pro" panose="02040603050405020204" pitchFamily="18" charset="0"/>
              </a:rPr>
              <a:t>The </a:t>
            </a:r>
            <a:r>
              <a:rPr kumimoji="0" lang="ko-KR" altLang="ko-KR" sz="1800" b="0" i="0" u="none" strike="noStrike" cap="none" normalizeH="0" baseline="0" dirty="0" err="1">
                <a:ln>
                  <a:noFill/>
                </a:ln>
                <a:solidFill>
                  <a:schemeClr val="tx1"/>
                </a:solidFill>
                <a:effectLst/>
                <a:latin typeface="Source Serif Pro" panose="02040603050405020204" pitchFamily="18" charset="0"/>
              </a:rPr>
              <a:t>trace</a:t>
            </a:r>
            <a:r>
              <a:rPr kumimoji="0" lang="ko-KR" altLang="ko-KR" sz="1800" b="0" i="0" u="none" strike="noStrike" cap="none" normalizeH="0" baseline="0" dirty="0">
                <a:ln>
                  <a:noFill/>
                </a:ln>
                <a:solidFill>
                  <a:schemeClr val="tx1"/>
                </a:solidFill>
                <a:effectLst/>
                <a:latin typeface="Source Serif Pro" panose="02040603050405020204" pitchFamily="18" charset="0"/>
              </a:rPr>
              <a:t> </a:t>
            </a:r>
            <a:r>
              <a:rPr kumimoji="0" lang="ko-KR" altLang="ko-KR" sz="1800" b="0" i="0" u="none" strike="noStrike" cap="none" normalizeH="0" baseline="0" dirty="0" err="1">
                <a:ln>
                  <a:noFill/>
                </a:ln>
                <a:solidFill>
                  <a:schemeClr val="tx1"/>
                </a:solidFill>
                <a:effectLst/>
                <a:latin typeface="Source Serif Pro" panose="02040603050405020204" pitchFamily="18" charset="0"/>
              </a:rPr>
              <a:t>plots</a:t>
            </a:r>
            <a:r>
              <a:rPr kumimoji="0" lang="ko-KR" altLang="ko-KR" sz="1800" b="0" i="0" u="none" strike="noStrike" cap="none" normalizeH="0" baseline="0" dirty="0">
                <a:ln>
                  <a:noFill/>
                </a:ln>
                <a:solidFill>
                  <a:schemeClr val="tx1"/>
                </a:solidFill>
                <a:effectLst/>
                <a:latin typeface="Source Serif Pro" panose="02040603050405020204" pitchFamily="18" charset="0"/>
              </a:rPr>
              <a:t> (</a:t>
            </a:r>
            <a:r>
              <a:rPr kumimoji="0" lang="ko-KR" altLang="ko-KR" sz="1800" b="0" i="0" u="none" strike="noStrike" cap="none" normalizeH="0" baseline="0" dirty="0" err="1">
                <a:ln>
                  <a:noFill/>
                </a:ln>
                <a:solidFill>
                  <a:schemeClr val="tx1"/>
                </a:solidFill>
                <a:effectLst/>
                <a:latin typeface="Source Serif Pro" panose="02040603050405020204" pitchFamily="18" charset="0"/>
              </a:rPr>
              <a:t>right</a:t>
            </a:r>
            <a:r>
              <a:rPr kumimoji="0" lang="ko-KR" altLang="ko-KR" sz="1800" b="0" i="0" u="none" strike="noStrike" cap="none" normalizeH="0" baseline="0" dirty="0">
                <a:ln>
                  <a:noFill/>
                </a:ln>
                <a:solidFill>
                  <a:schemeClr val="tx1"/>
                </a:solidFill>
                <a:effectLst/>
                <a:latin typeface="Source Serif Pro" panose="02040603050405020204" pitchFamily="18" charset="0"/>
              </a:rPr>
              <a:t> </a:t>
            </a:r>
            <a:r>
              <a:rPr kumimoji="0" lang="ko-KR" altLang="ko-KR" sz="1800" b="0" i="0" u="none" strike="noStrike" cap="none" normalizeH="0" baseline="0" dirty="0" err="1">
                <a:ln>
                  <a:noFill/>
                </a:ln>
                <a:solidFill>
                  <a:schemeClr val="tx1"/>
                </a:solidFill>
                <a:effectLst/>
                <a:latin typeface="Source Serif Pro" panose="02040603050405020204" pitchFamily="18" charset="0"/>
              </a:rPr>
              <a:t>column</a:t>
            </a:r>
            <a:r>
              <a:rPr kumimoji="0" lang="ko-KR" altLang="ko-KR" sz="1800" b="0" i="0" u="none" strike="noStrike" cap="none" normalizeH="0" baseline="0" dirty="0">
                <a:ln>
                  <a:noFill/>
                </a:ln>
                <a:solidFill>
                  <a:schemeClr val="tx1"/>
                </a:solidFill>
                <a:effectLst/>
                <a:latin typeface="Source Serif Pro" panose="02040603050405020204" pitchFamily="18" charset="0"/>
              </a:rPr>
              <a:t>) </a:t>
            </a:r>
            <a:r>
              <a:rPr kumimoji="0" lang="ko-KR" altLang="ko-KR" sz="1800" b="0" i="0" u="none" strike="noStrike" cap="none" normalizeH="0" baseline="0" dirty="0" err="1">
                <a:ln>
                  <a:noFill/>
                </a:ln>
                <a:solidFill>
                  <a:schemeClr val="tx1"/>
                </a:solidFill>
                <a:effectLst/>
                <a:latin typeface="Source Serif Pro" panose="02040603050405020204" pitchFamily="18" charset="0"/>
              </a:rPr>
              <a:t>show</a:t>
            </a:r>
            <a:r>
              <a:rPr kumimoji="0" lang="ko-KR" altLang="ko-KR" sz="1800" b="0" i="0" u="none" strike="noStrike" cap="none" normalizeH="0" baseline="0" dirty="0">
                <a:ln>
                  <a:noFill/>
                </a:ln>
                <a:solidFill>
                  <a:schemeClr val="tx1"/>
                </a:solidFill>
                <a:effectLst/>
                <a:latin typeface="Source Serif Pro" panose="02040603050405020204" pitchFamily="18" charset="0"/>
              </a:rPr>
              <a:t> </a:t>
            </a:r>
            <a:r>
              <a:rPr kumimoji="0" lang="ko-KR" altLang="ko-KR" sz="1800" b="0" i="0" u="none" strike="noStrike" cap="none" normalizeH="0" baseline="0" dirty="0" err="1">
                <a:ln>
                  <a:noFill/>
                </a:ln>
                <a:solidFill>
                  <a:schemeClr val="tx1"/>
                </a:solidFill>
                <a:effectLst/>
                <a:latin typeface="Source Serif Pro" panose="02040603050405020204" pitchFamily="18" charset="0"/>
              </a:rPr>
              <a:t>excellent</a:t>
            </a:r>
            <a:r>
              <a:rPr kumimoji="0" lang="ko-KR" altLang="ko-KR" sz="1800" b="0" i="0" u="none" strike="noStrike" cap="none" normalizeH="0" baseline="0" dirty="0">
                <a:ln>
                  <a:noFill/>
                </a:ln>
                <a:solidFill>
                  <a:schemeClr val="tx1"/>
                </a:solidFill>
                <a:effectLst/>
                <a:latin typeface="Source Serif Pro" panose="02040603050405020204" pitchFamily="18" charset="0"/>
              </a:rPr>
              <a:t> </a:t>
            </a:r>
            <a:r>
              <a:rPr kumimoji="0" lang="ko-KR" altLang="ko-KR" sz="1800" b="0" i="0" u="none" strike="noStrike" cap="none" normalizeH="0" baseline="0" dirty="0" err="1">
                <a:ln>
                  <a:noFill/>
                </a:ln>
                <a:solidFill>
                  <a:schemeClr val="tx1"/>
                </a:solidFill>
                <a:effectLst/>
                <a:latin typeface="Source Serif Pro" panose="02040603050405020204" pitchFamily="18" charset="0"/>
              </a:rPr>
              <a:t>mixing</a:t>
            </a:r>
            <a:r>
              <a:rPr kumimoji="0" lang="ko-KR" altLang="ko-KR" sz="1800" b="0" i="0" u="none" strike="noStrike" cap="none" normalizeH="0" baseline="0" dirty="0">
                <a:ln>
                  <a:noFill/>
                </a:ln>
                <a:solidFill>
                  <a:schemeClr val="tx1"/>
                </a:solidFill>
                <a:effectLst/>
                <a:latin typeface="Source Serif Pro" panose="02040603050405020204" pitchFamily="18" charset="0"/>
              </a:rPr>
              <a:t> </a:t>
            </a:r>
            <a:r>
              <a:rPr kumimoji="0" lang="ko-KR" altLang="ko-KR" sz="1800" b="0" i="0" u="none" strike="noStrike" cap="none" normalizeH="0" baseline="0" dirty="0" err="1">
                <a:ln>
                  <a:noFill/>
                </a:ln>
                <a:solidFill>
                  <a:schemeClr val="tx1"/>
                </a:solidFill>
                <a:effectLst/>
                <a:latin typeface="Source Serif Pro" panose="02040603050405020204" pitchFamily="18" charset="0"/>
              </a:rPr>
              <a:t>for</a:t>
            </a:r>
            <a:r>
              <a:rPr kumimoji="0" lang="ko-KR" altLang="ko-KR" sz="1800" b="0" i="0" u="none" strike="noStrike" cap="none" normalizeH="0" baseline="0" dirty="0">
                <a:ln>
                  <a:noFill/>
                </a:ln>
                <a:solidFill>
                  <a:schemeClr val="tx1"/>
                </a:solidFill>
                <a:effectLst/>
                <a:latin typeface="Source Serif Pro" panose="02040603050405020204" pitchFamily="18" charset="0"/>
              </a:rPr>
              <a:t> </a:t>
            </a:r>
            <a:r>
              <a:rPr kumimoji="0" lang="ko-KR" altLang="ko-KR" sz="1800" b="0" i="0" u="none" strike="noStrike" cap="none" normalizeH="0" baseline="0" dirty="0" err="1">
                <a:ln>
                  <a:noFill/>
                </a:ln>
                <a:solidFill>
                  <a:schemeClr val="tx1"/>
                </a:solidFill>
                <a:effectLst/>
                <a:latin typeface="Source Serif Pro" panose="02040603050405020204" pitchFamily="18" charset="0"/>
              </a:rPr>
              <a:t>all</a:t>
            </a:r>
            <a:r>
              <a:rPr kumimoji="0" lang="ko-KR" altLang="ko-KR" sz="1800" b="0" i="0" u="none" strike="noStrike" cap="none" normalizeH="0" baseline="0" dirty="0">
                <a:ln>
                  <a:noFill/>
                </a:ln>
                <a:solidFill>
                  <a:schemeClr val="tx1"/>
                </a:solidFill>
                <a:effectLst/>
                <a:latin typeface="Source Serif Pro" panose="02040603050405020204" pitchFamily="18" charset="0"/>
              </a:rPr>
              <a:t> </a:t>
            </a:r>
            <a:r>
              <a:rPr kumimoji="0" lang="ko-KR" altLang="ko-KR" sz="1800" b="0" i="0" u="none" strike="noStrike" cap="none" normalizeH="0" baseline="0" dirty="0" err="1">
                <a:ln>
                  <a:noFill/>
                </a:ln>
                <a:solidFill>
                  <a:schemeClr val="tx1"/>
                </a:solidFill>
                <a:effectLst/>
                <a:latin typeface="Source Serif Pro" panose="02040603050405020204" pitchFamily="18" charset="0"/>
              </a:rPr>
              <a:t>parameters</a:t>
            </a:r>
            <a:r>
              <a:rPr kumimoji="0" lang="ko-KR" altLang="ko-KR" sz="1800" b="0" i="0" u="none" strike="noStrike" cap="none" normalizeH="0" baseline="0" dirty="0">
                <a:ln>
                  <a:noFill/>
                </a:ln>
                <a:solidFill>
                  <a:schemeClr val="tx1"/>
                </a:solidFill>
                <a:effectLst/>
                <a:latin typeface="Source Serif Pro" panose="02040603050405020204" pitchFamily="18" charset="0"/>
              </a:rPr>
              <a:t> (</a:t>
            </a:r>
            <a:r>
              <a:rPr kumimoji="0" lang="ko-KR" altLang="ko-KR" sz="1800" b="0" i="0" u="none" strike="noStrike" cap="none" normalizeH="0" baseline="0" dirty="0" err="1">
                <a:ln>
                  <a:noFill/>
                </a:ln>
                <a:solidFill>
                  <a:schemeClr val="tx1"/>
                </a:solidFill>
                <a:effectLst/>
                <a:latin typeface="Source Serif Pro" panose="02040603050405020204" pitchFamily="18" charset="0"/>
              </a:rPr>
              <a:t>e.g</a:t>
            </a:r>
            <a:r>
              <a:rPr kumimoji="0" lang="ko-KR" altLang="ko-KR" sz="1800" b="0" i="0" u="none" strike="noStrike" cap="none" normalizeH="0" baseline="0" dirty="0">
                <a:ln>
                  <a:noFill/>
                </a:ln>
                <a:solidFill>
                  <a:schemeClr val="tx1"/>
                </a:solidFill>
                <a:effectLst/>
                <a:latin typeface="Source Serif Pro" panose="02040603050405020204" pitchFamily="18" charset="0"/>
              </a:rPr>
              <a:t>., </a:t>
            </a:r>
            <a:r>
              <a:rPr kumimoji="0" lang="ko-KR" altLang="ko-KR" sz="1000" b="0" i="0" u="none" strike="noStrike" cap="none" normalizeH="0" baseline="0" dirty="0" err="1">
                <a:ln>
                  <a:noFill/>
                </a:ln>
                <a:solidFill>
                  <a:schemeClr val="tx1"/>
                </a:solidFill>
                <a:effectLst/>
                <a:latin typeface="Source Serif Pro" panose="02040603050405020204" pitchFamily="18" charset="0"/>
              </a:rPr>
              <a:t>sigma_a</a:t>
            </a:r>
            <a:r>
              <a:rPr kumimoji="0" lang="ko-KR" altLang="ko-KR" sz="700" b="0" i="0" u="none" strike="noStrike" cap="none" normalizeH="0" baseline="0" dirty="0">
                <a:ln>
                  <a:noFill/>
                </a:ln>
                <a:solidFill>
                  <a:schemeClr val="tx1"/>
                </a:solidFill>
                <a:effectLst/>
                <a:latin typeface="Source Serif Pro" panose="02040603050405020204" pitchFamily="18" charset="0"/>
              </a:rPr>
              <a:t>, </a:t>
            </a:r>
            <a:r>
              <a:rPr kumimoji="0" lang="ko-KR" altLang="ko-KR" sz="1000" b="0" i="0" u="none" strike="noStrike" cap="none" normalizeH="0" baseline="0" dirty="0">
                <a:ln>
                  <a:noFill/>
                </a:ln>
                <a:solidFill>
                  <a:schemeClr val="tx1"/>
                </a:solidFill>
                <a:effectLst/>
                <a:latin typeface="Source Serif Pro" panose="02040603050405020204" pitchFamily="18" charset="0"/>
              </a:rPr>
              <a:t>beta_0</a:t>
            </a:r>
            <a:r>
              <a:rPr kumimoji="0" lang="ko-KR" altLang="ko-KR" sz="700" b="0" i="0" u="none" strike="noStrike" cap="none" normalizeH="0" baseline="0" dirty="0">
                <a:ln>
                  <a:noFill/>
                </a:ln>
                <a:solidFill>
                  <a:schemeClr val="tx1"/>
                </a:solidFill>
                <a:effectLst/>
                <a:latin typeface="Source Serif Pro" panose="02040603050405020204" pitchFamily="18" charset="0"/>
              </a:rPr>
              <a:t>).</a:t>
            </a:r>
            <a:r>
              <a:rPr kumimoji="0" lang="ko-KR" altLang="ko-KR" sz="1800" b="0" i="0" u="none" strike="noStrike" cap="none" normalizeH="0" baseline="0" dirty="0">
                <a:ln>
                  <a:noFill/>
                </a:ln>
                <a:solidFill>
                  <a:schemeClr val="tx1"/>
                </a:solidFill>
                <a:effectLst/>
                <a:latin typeface="Source Serif Pro" panose="02040603050405020204" pitchFamily="18" charset="0"/>
              </a:rPr>
              <a:t>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ko-KR" altLang="ko-KR" sz="1800" b="0" i="0" u="none" strike="noStrike" cap="none" normalizeH="0" baseline="0" dirty="0">
                <a:ln>
                  <a:noFill/>
                </a:ln>
                <a:solidFill>
                  <a:schemeClr val="tx1"/>
                </a:solidFill>
                <a:effectLst/>
                <a:latin typeface="Source Serif Pro" panose="02040603050405020204" pitchFamily="18" charset="0"/>
              </a:rPr>
              <a:t>The </a:t>
            </a:r>
            <a:r>
              <a:rPr kumimoji="0" lang="ko-KR" altLang="ko-KR" sz="1800" b="0" i="0" u="none" strike="noStrike" cap="none" normalizeH="0" baseline="0" dirty="0" err="1">
                <a:ln>
                  <a:noFill/>
                </a:ln>
                <a:solidFill>
                  <a:schemeClr val="tx1"/>
                </a:solidFill>
                <a:effectLst/>
                <a:latin typeface="Source Serif Pro" panose="02040603050405020204" pitchFamily="18" charset="0"/>
              </a:rPr>
              <a:t>different</a:t>
            </a:r>
            <a:r>
              <a:rPr kumimoji="0" lang="ko-KR" altLang="ko-KR" sz="1800" b="0" i="0" u="none" strike="noStrike" cap="none" normalizeH="0" baseline="0" dirty="0">
                <a:ln>
                  <a:noFill/>
                </a:ln>
                <a:solidFill>
                  <a:schemeClr val="tx1"/>
                </a:solidFill>
                <a:effectLst/>
                <a:latin typeface="Source Serif Pro" panose="02040603050405020204" pitchFamily="18" charset="0"/>
              </a:rPr>
              <a:t> </a:t>
            </a:r>
            <a:r>
              <a:rPr kumimoji="0" lang="ko-KR" altLang="ko-KR" sz="1800" b="0" i="0" u="none" strike="noStrike" cap="none" normalizeH="0" baseline="0" dirty="0" err="1">
                <a:ln>
                  <a:noFill/>
                </a:ln>
                <a:solidFill>
                  <a:schemeClr val="tx1"/>
                </a:solidFill>
                <a:effectLst/>
                <a:latin typeface="Source Serif Pro" panose="02040603050405020204" pitchFamily="18" charset="0"/>
              </a:rPr>
              <a:t>colored</a:t>
            </a:r>
            <a:r>
              <a:rPr kumimoji="0" lang="ko-KR" altLang="ko-KR" sz="1800" b="0" i="0" u="none" strike="noStrike" cap="none" normalizeH="0" baseline="0" dirty="0">
                <a:ln>
                  <a:noFill/>
                </a:ln>
                <a:solidFill>
                  <a:schemeClr val="tx1"/>
                </a:solidFill>
                <a:effectLst/>
                <a:latin typeface="Source Serif Pro" panose="02040603050405020204" pitchFamily="18" charset="0"/>
              </a:rPr>
              <a:t> </a:t>
            </a:r>
            <a:r>
              <a:rPr kumimoji="0" lang="ko-KR" altLang="ko-KR" sz="1800" b="0" i="0" u="none" strike="noStrike" cap="none" normalizeH="0" baseline="0" dirty="0" err="1">
                <a:ln>
                  <a:noFill/>
                </a:ln>
                <a:solidFill>
                  <a:schemeClr val="tx1"/>
                </a:solidFill>
                <a:effectLst/>
                <a:latin typeface="Source Serif Pro" panose="02040603050405020204" pitchFamily="18" charset="0"/>
              </a:rPr>
              <a:t>chains</a:t>
            </a:r>
            <a:r>
              <a:rPr kumimoji="0" lang="ko-KR" altLang="ko-KR" sz="1800" b="0" i="0" u="none" strike="noStrike" cap="none" normalizeH="0" baseline="0" dirty="0">
                <a:ln>
                  <a:noFill/>
                </a:ln>
                <a:solidFill>
                  <a:schemeClr val="tx1"/>
                </a:solidFill>
                <a:effectLst/>
                <a:latin typeface="Source Serif Pro" panose="02040603050405020204" pitchFamily="18" charset="0"/>
              </a:rPr>
              <a:t> </a:t>
            </a:r>
            <a:r>
              <a:rPr kumimoji="0" lang="ko-KR" altLang="ko-KR" sz="1800" b="0" i="0" u="none" strike="noStrike" cap="none" normalizeH="0" baseline="0" dirty="0" err="1">
                <a:ln>
                  <a:noFill/>
                </a:ln>
                <a:solidFill>
                  <a:schemeClr val="tx1"/>
                </a:solidFill>
                <a:effectLst/>
                <a:latin typeface="Source Serif Pro" panose="02040603050405020204" pitchFamily="18" charset="0"/>
              </a:rPr>
              <a:t>are</a:t>
            </a:r>
            <a:r>
              <a:rPr kumimoji="0" lang="ko-KR" altLang="ko-KR" sz="1800" b="0" i="0" u="none" strike="noStrike" cap="none" normalizeH="0" baseline="0" dirty="0">
                <a:ln>
                  <a:noFill/>
                </a:ln>
                <a:solidFill>
                  <a:schemeClr val="tx1"/>
                </a:solidFill>
                <a:effectLst/>
                <a:latin typeface="Source Serif Pro" panose="02040603050405020204" pitchFamily="18" charset="0"/>
              </a:rPr>
              <a:t> </a:t>
            </a:r>
            <a:r>
              <a:rPr kumimoji="0" lang="ko-KR" altLang="ko-KR" sz="1800" b="0" i="0" u="none" strike="noStrike" cap="none" normalizeH="0" baseline="0" dirty="0" err="1">
                <a:ln>
                  <a:noFill/>
                </a:ln>
                <a:solidFill>
                  <a:schemeClr val="tx1"/>
                </a:solidFill>
                <a:effectLst/>
                <a:latin typeface="Source Serif Pro" panose="02040603050405020204" pitchFamily="18" charset="0"/>
              </a:rPr>
              <a:t>indistinguishable</a:t>
            </a:r>
            <a:r>
              <a:rPr kumimoji="0" lang="ko-KR" altLang="ko-KR" sz="1800" b="0" i="0" u="none" strike="noStrike" cap="none" normalizeH="0" baseline="0" dirty="0">
                <a:ln>
                  <a:noFill/>
                </a:ln>
                <a:solidFill>
                  <a:schemeClr val="tx1"/>
                </a:solidFill>
                <a:effectLst/>
                <a:latin typeface="Source Serif Pro" panose="02040603050405020204" pitchFamily="18" charset="0"/>
              </a:rPr>
              <a:t>, </a:t>
            </a:r>
            <a:r>
              <a:rPr kumimoji="0" lang="ko-KR" altLang="ko-KR" sz="1800" b="0" i="0" u="none" strike="noStrike" cap="none" normalizeH="0" baseline="0" dirty="0" err="1">
                <a:ln>
                  <a:noFill/>
                </a:ln>
                <a:solidFill>
                  <a:schemeClr val="tx1"/>
                </a:solidFill>
                <a:effectLst/>
                <a:latin typeface="Source Serif Pro" panose="02040603050405020204" pitchFamily="18" charset="0"/>
              </a:rPr>
              <a:t>resembling</a:t>
            </a:r>
            <a:r>
              <a:rPr kumimoji="0" lang="ko-KR" altLang="ko-KR" sz="1800" b="0" i="0" u="none" strike="noStrike" cap="none" normalizeH="0" baseline="0" dirty="0">
                <a:ln>
                  <a:noFill/>
                </a:ln>
                <a:solidFill>
                  <a:schemeClr val="tx1"/>
                </a:solidFill>
                <a:effectLst/>
                <a:latin typeface="Source Serif Pro" panose="02040603050405020204" pitchFamily="18" charset="0"/>
              </a:rPr>
              <a:t> "</a:t>
            </a:r>
            <a:r>
              <a:rPr kumimoji="0" lang="ko-KR" altLang="ko-KR" sz="1800" b="0" i="0" u="none" strike="noStrike" cap="none" normalizeH="0" baseline="0" dirty="0" err="1">
                <a:ln>
                  <a:noFill/>
                </a:ln>
                <a:solidFill>
                  <a:schemeClr val="tx1"/>
                </a:solidFill>
                <a:effectLst/>
                <a:latin typeface="Source Serif Pro" panose="02040603050405020204" pitchFamily="18" charset="0"/>
              </a:rPr>
              <a:t>fuzzy</a:t>
            </a:r>
            <a:r>
              <a:rPr kumimoji="0" lang="ko-KR" altLang="ko-KR" sz="1800" b="0" i="0" u="none" strike="noStrike" cap="none" normalizeH="0" baseline="0" dirty="0">
                <a:ln>
                  <a:noFill/>
                </a:ln>
                <a:solidFill>
                  <a:schemeClr val="tx1"/>
                </a:solidFill>
                <a:effectLst/>
                <a:latin typeface="Source Serif Pro" panose="02040603050405020204" pitchFamily="18" charset="0"/>
              </a:rPr>
              <a:t> </a:t>
            </a:r>
            <a:r>
              <a:rPr kumimoji="0" lang="ko-KR" altLang="ko-KR" sz="1800" b="0" i="0" u="none" strike="noStrike" cap="none" normalizeH="0" baseline="0" dirty="0" err="1">
                <a:ln>
                  <a:noFill/>
                </a:ln>
                <a:solidFill>
                  <a:schemeClr val="tx1"/>
                </a:solidFill>
                <a:effectLst/>
                <a:latin typeface="Source Serif Pro" panose="02040603050405020204" pitchFamily="18" charset="0"/>
              </a:rPr>
              <a:t>caterpillars</a:t>
            </a:r>
            <a:r>
              <a:rPr kumimoji="0" lang="ko-KR" altLang="ko-KR" sz="1800" b="0" i="0" u="none" strike="noStrike" cap="none" normalizeH="0" baseline="0" dirty="0">
                <a:ln>
                  <a:noFill/>
                </a:ln>
                <a:solidFill>
                  <a:schemeClr val="tx1"/>
                </a:solidFill>
                <a:effectLst/>
                <a:latin typeface="Source Serif Pro" panose="02040603050405020204" pitchFamily="18" charset="0"/>
              </a:rPr>
              <a:t>," </a:t>
            </a:r>
            <a:r>
              <a:rPr kumimoji="0" lang="ko-KR" altLang="ko-KR" sz="1800" b="0" i="0" u="none" strike="noStrike" cap="none" normalizeH="0" baseline="0" dirty="0" err="1">
                <a:ln>
                  <a:noFill/>
                </a:ln>
                <a:solidFill>
                  <a:schemeClr val="tx1"/>
                </a:solidFill>
                <a:effectLst/>
                <a:latin typeface="Source Serif Pro" panose="02040603050405020204" pitchFamily="18" charset="0"/>
              </a:rPr>
              <a:t>which</a:t>
            </a:r>
            <a:r>
              <a:rPr kumimoji="0" lang="ko-KR" altLang="ko-KR" sz="1800" b="0" i="0" u="none" strike="noStrike" cap="none" normalizeH="0" baseline="0" dirty="0">
                <a:ln>
                  <a:noFill/>
                </a:ln>
                <a:solidFill>
                  <a:schemeClr val="tx1"/>
                </a:solidFill>
                <a:effectLst/>
                <a:latin typeface="Source Serif Pro" panose="02040603050405020204" pitchFamily="18" charset="0"/>
              </a:rPr>
              <a:t> </a:t>
            </a:r>
            <a:r>
              <a:rPr kumimoji="0" lang="ko-KR" altLang="ko-KR" sz="1800" b="0" i="0" u="none" strike="noStrike" cap="none" normalizeH="0" baseline="0" dirty="0" err="1">
                <a:ln>
                  <a:noFill/>
                </a:ln>
                <a:solidFill>
                  <a:schemeClr val="tx1"/>
                </a:solidFill>
                <a:effectLst/>
                <a:latin typeface="Source Serif Pro" panose="02040603050405020204" pitchFamily="18" charset="0"/>
              </a:rPr>
              <a:t>confirms</a:t>
            </a:r>
            <a:r>
              <a:rPr kumimoji="0" lang="ko-KR" altLang="ko-KR" sz="1800" b="0" i="0" u="none" strike="noStrike" cap="none" normalizeH="0" baseline="0" dirty="0">
                <a:ln>
                  <a:noFill/>
                </a:ln>
                <a:solidFill>
                  <a:schemeClr val="tx1"/>
                </a:solidFill>
                <a:effectLst/>
                <a:latin typeface="Source Serif Pro" panose="02040603050405020204" pitchFamily="18" charset="0"/>
              </a:rPr>
              <a:t> </a:t>
            </a:r>
            <a:r>
              <a:rPr kumimoji="0" lang="ko-KR" altLang="ko-KR" sz="1800" b="0" i="0" u="none" strike="noStrike" cap="none" normalizeH="0" baseline="0" dirty="0" err="1">
                <a:ln>
                  <a:noFill/>
                </a:ln>
                <a:solidFill>
                  <a:schemeClr val="tx1"/>
                </a:solidFill>
                <a:effectLst/>
                <a:latin typeface="Source Serif Pro" panose="02040603050405020204" pitchFamily="18" charset="0"/>
              </a:rPr>
              <a:t>they</a:t>
            </a:r>
            <a:r>
              <a:rPr kumimoji="0" lang="ko-KR" altLang="ko-KR" sz="1800" b="0" i="0" u="none" strike="noStrike" cap="none" normalizeH="0" baseline="0" dirty="0">
                <a:ln>
                  <a:noFill/>
                </a:ln>
                <a:solidFill>
                  <a:schemeClr val="tx1"/>
                </a:solidFill>
                <a:effectLst/>
                <a:latin typeface="Source Serif Pro" panose="02040603050405020204" pitchFamily="18" charset="0"/>
              </a:rPr>
              <a:t> </a:t>
            </a:r>
            <a:r>
              <a:rPr kumimoji="0" lang="ko-KR" altLang="ko-KR" sz="1800" b="0" i="0" u="none" strike="noStrike" cap="none" normalizeH="0" baseline="0" dirty="0" err="1">
                <a:ln>
                  <a:noFill/>
                </a:ln>
                <a:solidFill>
                  <a:schemeClr val="tx1"/>
                </a:solidFill>
                <a:effectLst/>
                <a:latin typeface="Source Serif Pro" panose="02040603050405020204" pitchFamily="18" charset="0"/>
              </a:rPr>
              <a:t>all</a:t>
            </a:r>
            <a:r>
              <a:rPr kumimoji="0" lang="ko-KR" altLang="ko-KR" sz="1800" b="0" i="0" u="none" strike="noStrike" cap="none" normalizeH="0" baseline="0" dirty="0">
                <a:ln>
                  <a:noFill/>
                </a:ln>
                <a:solidFill>
                  <a:schemeClr val="tx1"/>
                </a:solidFill>
                <a:effectLst/>
                <a:latin typeface="Source Serif Pro" panose="02040603050405020204" pitchFamily="18" charset="0"/>
              </a:rPr>
              <a:t> </a:t>
            </a:r>
            <a:r>
              <a:rPr kumimoji="0" lang="ko-KR" altLang="ko-KR" sz="1800" b="0" i="0" u="none" strike="noStrike" cap="none" normalizeH="0" baseline="0" dirty="0" err="1">
                <a:ln>
                  <a:noFill/>
                </a:ln>
                <a:solidFill>
                  <a:schemeClr val="tx1"/>
                </a:solidFill>
                <a:effectLst/>
                <a:latin typeface="Source Serif Pro" panose="02040603050405020204" pitchFamily="18" charset="0"/>
              </a:rPr>
              <a:t>explored</a:t>
            </a:r>
            <a:r>
              <a:rPr kumimoji="0" lang="ko-KR" altLang="ko-KR" sz="1800" b="0" i="0" u="none" strike="noStrike" cap="none" normalizeH="0" baseline="0" dirty="0">
                <a:ln>
                  <a:noFill/>
                </a:ln>
                <a:solidFill>
                  <a:schemeClr val="tx1"/>
                </a:solidFill>
                <a:effectLst/>
                <a:latin typeface="Source Serif Pro" panose="02040603050405020204" pitchFamily="18" charset="0"/>
              </a:rPr>
              <a:t> </a:t>
            </a:r>
            <a:r>
              <a:rPr kumimoji="0" lang="ko-KR" altLang="ko-KR" sz="1800" b="0" i="0" u="none" strike="noStrike" cap="none" normalizeH="0" baseline="0" dirty="0" err="1">
                <a:ln>
                  <a:noFill/>
                </a:ln>
                <a:solidFill>
                  <a:schemeClr val="tx1"/>
                </a:solidFill>
                <a:effectLst/>
                <a:latin typeface="Source Serif Pro" panose="02040603050405020204" pitchFamily="18" charset="0"/>
              </a:rPr>
              <a:t>the</a:t>
            </a:r>
            <a:r>
              <a:rPr kumimoji="0" lang="ko-KR" altLang="ko-KR" sz="1800" b="0" i="0" u="none" strike="noStrike" cap="none" normalizeH="0" baseline="0" dirty="0">
                <a:ln>
                  <a:noFill/>
                </a:ln>
                <a:solidFill>
                  <a:schemeClr val="tx1"/>
                </a:solidFill>
                <a:effectLst/>
                <a:latin typeface="Source Serif Pro" panose="02040603050405020204" pitchFamily="18" charset="0"/>
              </a:rPr>
              <a:t> </a:t>
            </a:r>
            <a:r>
              <a:rPr kumimoji="0" lang="ko-KR" altLang="ko-KR" sz="1800" b="0" i="0" u="none" strike="noStrike" cap="none" normalizeH="0" baseline="0" dirty="0" err="1">
                <a:ln>
                  <a:noFill/>
                </a:ln>
                <a:solidFill>
                  <a:schemeClr val="tx1"/>
                </a:solidFill>
                <a:effectLst/>
                <a:latin typeface="Source Serif Pro" panose="02040603050405020204" pitchFamily="18" charset="0"/>
              </a:rPr>
              <a:t>same</a:t>
            </a:r>
            <a:r>
              <a:rPr kumimoji="0" lang="ko-KR" altLang="ko-KR" sz="1800" b="0" i="0" u="none" strike="noStrike" cap="none" normalizeH="0" baseline="0" dirty="0">
                <a:ln>
                  <a:noFill/>
                </a:ln>
                <a:solidFill>
                  <a:schemeClr val="tx1"/>
                </a:solidFill>
                <a:effectLst/>
                <a:latin typeface="Source Serif Pro" panose="02040603050405020204" pitchFamily="18" charset="0"/>
              </a:rPr>
              <a:t> </a:t>
            </a:r>
            <a:r>
              <a:rPr kumimoji="0" lang="ko-KR" altLang="ko-KR" sz="1800" b="0" i="0" u="none" strike="noStrike" cap="none" normalizeH="0" baseline="0" dirty="0" err="1">
                <a:ln>
                  <a:noFill/>
                </a:ln>
                <a:solidFill>
                  <a:schemeClr val="tx1"/>
                </a:solidFill>
                <a:effectLst/>
                <a:latin typeface="Source Serif Pro" panose="02040603050405020204" pitchFamily="18" charset="0"/>
              </a:rPr>
              <a:t>target</a:t>
            </a:r>
            <a:r>
              <a:rPr kumimoji="0" lang="ko-KR" altLang="ko-KR" sz="1800" b="0" i="0" u="none" strike="noStrike" cap="none" normalizeH="0" baseline="0" dirty="0">
                <a:ln>
                  <a:noFill/>
                </a:ln>
                <a:solidFill>
                  <a:schemeClr val="tx1"/>
                </a:solidFill>
                <a:effectLst/>
                <a:latin typeface="Source Serif Pro" panose="02040603050405020204" pitchFamily="18" charset="0"/>
              </a:rPr>
              <a:t> </a:t>
            </a:r>
            <a:r>
              <a:rPr kumimoji="0" lang="ko-KR" altLang="ko-KR" sz="1800" b="0" i="0" u="none" strike="noStrike" cap="none" normalizeH="0" baseline="0" dirty="0" err="1">
                <a:ln>
                  <a:noFill/>
                </a:ln>
                <a:solidFill>
                  <a:schemeClr val="tx1"/>
                </a:solidFill>
                <a:effectLst/>
                <a:latin typeface="Source Serif Pro" panose="02040603050405020204" pitchFamily="18" charset="0"/>
              </a:rPr>
              <a:t>distribution</a:t>
            </a:r>
            <a:r>
              <a:rPr kumimoji="0" lang="ko-KR" altLang="ko-KR" sz="1800" b="0" i="0" u="none" strike="noStrike" cap="none" normalizeH="0" baseline="0" dirty="0">
                <a:ln>
                  <a:noFill/>
                </a:ln>
                <a:solidFill>
                  <a:schemeClr val="tx1"/>
                </a:solidFill>
                <a:effectLst/>
                <a:latin typeface="Source Serif Pro" panose="02040603050405020204" pitchFamily="18"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ko-KR" altLang="ko-KR" sz="1800" b="1" i="0" u="none" strike="noStrike" cap="none" normalizeH="0" baseline="0" dirty="0" err="1">
                <a:ln>
                  <a:noFill/>
                </a:ln>
                <a:solidFill>
                  <a:schemeClr val="tx1"/>
                </a:solidFill>
                <a:effectLst/>
                <a:latin typeface="Source Serif Pro" panose="02040603050405020204" pitchFamily="18" charset="0"/>
              </a:rPr>
              <a:t>Stable</a:t>
            </a:r>
            <a:r>
              <a:rPr kumimoji="0" lang="ko-KR" altLang="ko-KR" sz="1800" b="1" i="0" u="none" strike="noStrike" cap="none" normalizeH="0" baseline="0" dirty="0">
                <a:ln>
                  <a:noFill/>
                </a:ln>
                <a:solidFill>
                  <a:schemeClr val="tx1"/>
                </a:solidFill>
                <a:effectLst/>
                <a:latin typeface="Source Serif Pro" panose="02040603050405020204" pitchFamily="18" charset="0"/>
              </a:rPr>
              <a:t> </a:t>
            </a:r>
            <a:r>
              <a:rPr kumimoji="0" lang="ko-KR" altLang="ko-KR" sz="1800" b="1" i="0" u="none" strike="noStrike" cap="none" normalizeH="0" baseline="0" dirty="0" err="1">
                <a:ln>
                  <a:noFill/>
                </a:ln>
                <a:solidFill>
                  <a:schemeClr val="tx1"/>
                </a:solidFill>
                <a:effectLst/>
                <a:latin typeface="Source Serif Pro" panose="02040603050405020204" pitchFamily="18" charset="0"/>
              </a:rPr>
              <a:t>Posterior</a:t>
            </a:r>
            <a:r>
              <a:rPr kumimoji="0" lang="ko-KR" altLang="ko-KR" sz="1800" b="1" i="0" u="none" strike="noStrike" cap="none" normalizeH="0" baseline="0" dirty="0">
                <a:ln>
                  <a:noFill/>
                </a:ln>
                <a:solidFill>
                  <a:schemeClr val="tx1"/>
                </a:solidFill>
                <a:effectLst/>
                <a:latin typeface="Source Serif Pro" panose="02040603050405020204" pitchFamily="18" charset="0"/>
              </a:rPr>
              <a:t> </a:t>
            </a:r>
            <a:r>
              <a:rPr kumimoji="0" lang="ko-KR" altLang="ko-KR" sz="1800" b="1" i="0" u="none" strike="noStrike" cap="none" normalizeH="0" baseline="0" dirty="0" err="1">
                <a:ln>
                  <a:noFill/>
                </a:ln>
                <a:solidFill>
                  <a:schemeClr val="tx1"/>
                </a:solidFill>
                <a:effectLst/>
                <a:latin typeface="Source Serif Pro" panose="02040603050405020204" pitchFamily="18" charset="0"/>
              </a:rPr>
              <a:t>Distributions</a:t>
            </a:r>
            <a:endParaRPr kumimoji="0" lang="ko-KR" altLang="ko-KR" sz="1800" b="0" i="0" u="none" strike="noStrike" cap="none" normalizeH="0" baseline="0" dirty="0">
              <a:ln>
                <a:noFill/>
              </a:ln>
              <a:solidFill>
                <a:schemeClr val="tx1"/>
              </a:solidFill>
              <a:effectLst/>
              <a:latin typeface="Source Serif Pro" panose="02040603050405020204" pitchFamily="18"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ko-KR" altLang="ko-KR" sz="1800" b="0" i="0" u="none" strike="noStrike" cap="none" normalizeH="0" baseline="0" dirty="0">
                <a:ln>
                  <a:noFill/>
                </a:ln>
                <a:solidFill>
                  <a:schemeClr val="tx1"/>
                </a:solidFill>
                <a:effectLst/>
                <a:latin typeface="Source Serif Pro" panose="02040603050405020204" pitchFamily="18" charset="0"/>
              </a:rPr>
              <a:t>The </a:t>
            </a:r>
            <a:r>
              <a:rPr kumimoji="0" lang="ko-KR" altLang="ko-KR" sz="1800" b="0" i="0" u="none" strike="noStrike" cap="none" normalizeH="0" baseline="0" dirty="0" err="1">
                <a:ln>
                  <a:noFill/>
                </a:ln>
                <a:solidFill>
                  <a:schemeClr val="tx1"/>
                </a:solidFill>
                <a:effectLst/>
                <a:latin typeface="Source Serif Pro" panose="02040603050405020204" pitchFamily="18" charset="0"/>
              </a:rPr>
              <a:t>posterior</a:t>
            </a:r>
            <a:r>
              <a:rPr kumimoji="0" lang="ko-KR" altLang="ko-KR" sz="1800" b="0" i="0" u="none" strike="noStrike" cap="none" normalizeH="0" baseline="0" dirty="0">
                <a:ln>
                  <a:noFill/>
                </a:ln>
                <a:solidFill>
                  <a:schemeClr val="tx1"/>
                </a:solidFill>
                <a:effectLst/>
                <a:latin typeface="Source Serif Pro" panose="02040603050405020204" pitchFamily="18" charset="0"/>
              </a:rPr>
              <a:t> </a:t>
            </a:r>
            <a:r>
              <a:rPr kumimoji="0" lang="ko-KR" altLang="ko-KR" sz="1800" b="0" i="0" u="none" strike="noStrike" cap="none" normalizeH="0" baseline="0" dirty="0" err="1">
                <a:ln>
                  <a:noFill/>
                </a:ln>
                <a:solidFill>
                  <a:schemeClr val="tx1"/>
                </a:solidFill>
                <a:effectLst/>
                <a:latin typeface="Source Serif Pro" panose="02040603050405020204" pitchFamily="18" charset="0"/>
              </a:rPr>
              <a:t>density</a:t>
            </a:r>
            <a:r>
              <a:rPr kumimoji="0" lang="ko-KR" altLang="ko-KR" sz="1800" b="0" i="0" u="none" strike="noStrike" cap="none" normalizeH="0" baseline="0" dirty="0">
                <a:ln>
                  <a:noFill/>
                </a:ln>
                <a:solidFill>
                  <a:schemeClr val="tx1"/>
                </a:solidFill>
                <a:effectLst/>
                <a:latin typeface="Source Serif Pro" panose="02040603050405020204" pitchFamily="18" charset="0"/>
              </a:rPr>
              <a:t> </a:t>
            </a:r>
            <a:r>
              <a:rPr kumimoji="0" lang="ko-KR" altLang="ko-KR" sz="1800" b="0" i="0" u="none" strike="noStrike" cap="none" normalizeH="0" baseline="0" dirty="0" err="1">
                <a:ln>
                  <a:noFill/>
                </a:ln>
                <a:solidFill>
                  <a:schemeClr val="tx1"/>
                </a:solidFill>
                <a:effectLst/>
                <a:latin typeface="Source Serif Pro" panose="02040603050405020204" pitchFamily="18" charset="0"/>
              </a:rPr>
              <a:t>plots</a:t>
            </a:r>
            <a:r>
              <a:rPr kumimoji="0" lang="ko-KR" altLang="ko-KR" sz="1800" b="0" i="0" u="none" strike="noStrike" cap="none" normalizeH="0" baseline="0" dirty="0">
                <a:ln>
                  <a:noFill/>
                </a:ln>
                <a:solidFill>
                  <a:schemeClr val="tx1"/>
                </a:solidFill>
                <a:effectLst/>
                <a:latin typeface="Source Serif Pro" panose="02040603050405020204" pitchFamily="18" charset="0"/>
              </a:rPr>
              <a:t> (</a:t>
            </a:r>
            <a:r>
              <a:rPr kumimoji="0" lang="ko-KR" altLang="ko-KR" sz="1800" b="0" i="0" u="none" strike="noStrike" cap="none" normalizeH="0" baseline="0" dirty="0" err="1">
                <a:ln>
                  <a:noFill/>
                </a:ln>
                <a:solidFill>
                  <a:schemeClr val="tx1"/>
                </a:solidFill>
                <a:effectLst/>
                <a:latin typeface="Source Serif Pro" panose="02040603050405020204" pitchFamily="18" charset="0"/>
              </a:rPr>
              <a:t>left</a:t>
            </a:r>
            <a:r>
              <a:rPr kumimoji="0" lang="ko-KR" altLang="ko-KR" sz="1800" b="0" i="0" u="none" strike="noStrike" cap="none" normalizeH="0" baseline="0" dirty="0">
                <a:ln>
                  <a:noFill/>
                </a:ln>
                <a:solidFill>
                  <a:schemeClr val="tx1"/>
                </a:solidFill>
                <a:effectLst/>
                <a:latin typeface="Source Serif Pro" panose="02040603050405020204" pitchFamily="18" charset="0"/>
              </a:rPr>
              <a:t> </a:t>
            </a:r>
            <a:r>
              <a:rPr kumimoji="0" lang="ko-KR" altLang="ko-KR" sz="1800" b="0" i="0" u="none" strike="noStrike" cap="none" normalizeH="0" baseline="0" dirty="0" err="1">
                <a:ln>
                  <a:noFill/>
                </a:ln>
                <a:solidFill>
                  <a:schemeClr val="tx1"/>
                </a:solidFill>
                <a:effectLst/>
                <a:latin typeface="Source Serif Pro" panose="02040603050405020204" pitchFamily="18" charset="0"/>
              </a:rPr>
              <a:t>column</a:t>
            </a:r>
            <a:r>
              <a:rPr kumimoji="0" lang="ko-KR" altLang="ko-KR" sz="1800" b="0" i="0" u="none" strike="noStrike" cap="none" normalizeH="0" baseline="0" dirty="0">
                <a:ln>
                  <a:noFill/>
                </a:ln>
                <a:solidFill>
                  <a:schemeClr val="tx1"/>
                </a:solidFill>
                <a:effectLst/>
                <a:latin typeface="Source Serif Pro" panose="02040603050405020204" pitchFamily="18" charset="0"/>
              </a:rPr>
              <a:t>) </a:t>
            </a:r>
            <a:r>
              <a:rPr kumimoji="0" lang="ko-KR" altLang="ko-KR" sz="1800" b="0" i="0" u="none" strike="noStrike" cap="none" normalizeH="0" baseline="0" dirty="0" err="1">
                <a:ln>
                  <a:noFill/>
                </a:ln>
                <a:solidFill>
                  <a:schemeClr val="tx1"/>
                </a:solidFill>
                <a:effectLst/>
                <a:latin typeface="Source Serif Pro" panose="02040603050405020204" pitchFamily="18" charset="0"/>
              </a:rPr>
              <a:t>for</a:t>
            </a:r>
            <a:r>
              <a:rPr kumimoji="0" lang="ko-KR" altLang="ko-KR" sz="1800" b="0" i="0" u="none" strike="noStrike" cap="none" normalizeH="0" baseline="0" dirty="0">
                <a:ln>
                  <a:noFill/>
                </a:ln>
                <a:solidFill>
                  <a:schemeClr val="tx1"/>
                </a:solidFill>
                <a:effectLst/>
                <a:latin typeface="Source Serif Pro" panose="02040603050405020204" pitchFamily="18" charset="0"/>
              </a:rPr>
              <a:t> </a:t>
            </a:r>
            <a:r>
              <a:rPr kumimoji="0" lang="ko-KR" altLang="ko-KR" sz="1800" b="0" i="0" u="none" strike="noStrike" cap="none" normalizeH="0" baseline="0" dirty="0" err="1">
                <a:ln>
                  <a:noFill/>
                </a:ln>
                <a:solidFill>
                  <a:schemeClr val="tx1"/>
                </a:solidFill>
                <a:effectLst/>
                <a:latin typeface="Source Serif Pro" panose="02040603050405020204" pitchFamily="18" charset="0"/>
              </a:rPr>
              <a:t>all</a:t>
            </a:r>
            <a:r>
              <a:rPr kumimoji="0" lang="ko-KR" altLang="ko-KR" sz="1800" b="0" i="0" u="none" strike="noStrike" cap="none" normalizeH="0" baseline="0" dirty="0">
                <a:ln>
                  <a:noFill/>
                </a:ln>
                <a:solidFill>
                  <a:schemeClr val="tx1"/>
                </a:solidFill>
                <a:effectLst/>
                <a:latin typeface="Source Serif Pro" panose="02040603050405020204" pitchFamily="18" charset="0"/>
              </a:rPr>
              <a:t> </a:t>
            </a:r>
            <a:r>
              <a:rPr kumimoji="0" lang="ko-KR" altLang="ko-KR" sz="1800" b="0" i="0" u="none" strike="noStrike" cap="none" normalizeH="0" baseline="0" dirty="0" err="1">
                <a:ln>
                  <a:noFill/>
                </a:ln>
                <a:solidFill>
                  <a:schemeClr val="tx1"/>
                </a:solidFill>
                <a:effectLst/>
                <a:latin typeface="Source Serif Pro" panose="02040603050405020204" pitchFamily="18" charset="0"/>
              </a:rPr>
              <a:t>parameters</a:t>
            </a:r>
            <a:r>
              <a:rPr kumimoji="0" lang="ko-KR" altLang="ko-KR" sz="1800" b="0" i="0" u="none" strike="noStrike" cap="none" normalizeH="0" baseline="0" dirty="0">
                <a:ln>
                  <a:noFill/>
                </a:ln>
                <a:solidFill>
                  <a:schemeClr val="tx1"/>
                </a:solidFill>
                <a:effectLst/>
                <a:latin typeface="Source Serif Pro" panose="02040603050405020204" pitchFamily="18" charset="0"/>
              </a:rPr>
              <a:t> </a:t>
            </a:r>
            <a:r>
              <a:rPr kumimoji="0" lang="ko-KR" altLang="ko-KR" sz="1800" b="0" i="0" u="none" strike="noStrike" cap="none" normalizeH="0" baseline="0" dirty="0" err="1">
                <a:ln>
                  <a:noFill/>
                </a:ln>
                <a:solidFill>
                  <a:schemeClr val="tx1"/>
                </a:solidFill>
                <a:effectLst/>
                <a:latin typeface="Source Serif Pro" panose="02040603050405020204" pitchFamily="18" charset="0"/>
              </a:rPr>
              <a:t>are</a:t>
            </a:r>
            <a:r>
              <a:rPr kumimoji="0" lang="ko-KR" altLang="ko-KR" sz="1800" b="0" i="0" u="none" strike="noStrike" cap="none" normalizeH="0" baseline="0" dirty="0">
                <a:ln>
                  <a:noFill/>
                </a:ln>
                <a:solidFill>
                  <a:schemeClr val="tx1"/>
                </a:solidFill>
                <a:effectLst/>
                <a:latin typeface="Source Serif Pro" panose="02040603050405020204" pitchFamily="18" charset="0"/>
              </a:rPr>
              <a:t> </a:t>
            </a:r>
            <a:r>
              <a:rPr kumimoji="0" lang="ko-KR" altLang="ko-KR" sz="1800" b="0" i="0" u="none" strike="noStrike" cap="none" normalizeH="0" baseline="0" dirty="0" err="1">
                <a:ln>
                  <a:noFill/>
                </a:ln>
                <a:solidFill>
                  <a:schemeClr val="tx1"/>
                </a:solidFill>
                <a:effectLst/>
                <a:latin typeface="Source Serif Pro" panose="02040603050405020204" pitchFamily="18" charset="0"/>
              </a:rPr>
              <a:t>smooth</a:t>
            </a:r>
            <a:r>
              <a:rPr kumimoji="0" lang="ko-KR" altLang="ko-KR" sz="1800" b="0" i="0" u="none" strike="noStrike" cap="none" normalizeH="0" baseline="0" dirty="0">
                <a:ln>
                  <a:noFill/>
                </a:ln>
                <a:solidFill>
                  <a:schemeClr val="tx1"/>
                </a:solidFill>
                <a:effectLst/>
                <a:latin typeface="Source Serif Pro" panose="02040603050405020204" pitchFamily="18" charset="0"/>
              </a:rPr>
              <a:t>, </a:t>
            </a:r>
            <a:r>
              <a:rPr kumimoji="0" lang="ko-KR" altLang="ko-KR" sz="1800" b="0" i="0" u="none" strike="noStrike" cap="none" normalizeH="0" baseline="0" dirty="0" err="1">
                <a:ln>
                  <a:noFill/>
                </a:ln>
                <a:solidFill>
                  <a:schemeClr val="tx1"/>
                </a:solidFill>
                <a:effectLst/>
                <a:latin typeface="Source Serif Pro" panose="02040603050405020204" pitchFamily="18" charset="0"/>
              </a:rPr>
              <a:t>well-defined</a:t>
            </a:r>
            <a:r>
              <a:rPr kumimoji="0" lang="ko-KR" altLang="ko-KR" sz="1800" b="0" i="0" u="none" strike="noStrike" cap="none" normalizeH="0" baseline="0" dirty="0">
                <a:ln>
                  <a:noFill/>
                </a:ln>
                <a:solidFill>
                  <a:schemeClr val="tx1"/>
                </a:solidFill>
                <a:effectLst/>
                <a:latin typeface="Source Serif Pro" panose="02040603050405020204" pitchFamily="18" charset="0"/>
              </a:rPr>
              <a:t>, and </a:t>
            </a:r>
            <a:r>
              <a:rPr kumimoji="0" lang="ko-KR" altLang="ko-KR" sz="1800" b="0" i="0" u="none" strike="noStrike" cap="none" normalizeH="0" baseline="0" dirty="0" err="1">
                <a:ln>
                  <a:noFill/>
                </a:ln>
                <a:solidFill>
                  <a:schemeClr val="tx1"/>
                </a:solidFill>
                <a:effectLst/>
                <a:latin typeface="Source Serif Pro" panose="02040603050405020204" pitchFamily="18" charset="0"/>
              </a:rPr>
              <a:t>generally</a:t>
            </a:r>
            <a:r>
              <a:rPr kumimoji="0" lang="ko-KR" altLang="ko-KR" sz="1800" b="0" i="0" u="none" strike="noStrike" cap="none" normalizeH="0" baseline="0" dirty="0">
                <a:ln>
                  <a:noFill/>
                </a:ln>
                <a:solidFill>
                  <a:schemeClr val="tx1"/>
                </a:solidFill>
                <a:effectLst/>
                <a:latin typeface="Source Serif Pro" panose="02040603050405020204" pitchFamily="18" charset="0"/>
              </a:rPr>
              <a:t> </a:t>
            </a:r>
            <a:r>
              <a:rPr kumimoji="0" lang="ko-KR" altLang="ko-KR" sz="1800" b="0" i="0" u="none" strike="noStrike" cap="none" normalizeH="0" baseline="0" dirty="0" err="1">
                <a:ln>
                  <a:noFill/>
                </a:ln>
                <a:solidFill>
                  <a:schemeClr val="tx1"/>
                </a:solidFill>
                <a:effectLst/>
                <a:latin typeface="Source Serif Pro" panose="02040603050405020204" pitchFamily="18" charset="0"/>
              </a:rPr>
              <a:t>unimodal</a:t>
            </a:r>
            <a:r>
              <a:rPr kumimoji="0" lang="ko-KR" altLang="ko-KR" sz="1800" b="0" i="0" u="none" strike="noStrike" cap="none" normalizeH="0" baseline="0" dirty="0">
                <a:ln>
                  <a:noFill/>
                </a:ln>
                <a:solidFill>
                  <a:schemeClr val="tx1"/>
                </a:solidFill>
                <a:effectLst/>
                <a:latin typeface="Source Serif Pro" panose="02040603050405020204" pitchFamily="18" charset="0"/>
              </a:rPr>
              <a:t>.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ko-KR" altLang="ko-KR" sz="1800" b="0" i="0" u="none" strike="noStrike" cap="none" normalizeH="0" baseline="0" dirty="0" err="1">
                <a:ln>
                  <a:noFill/>
                </a:ln>
                <a:solidFill>
                  <a:schemeClr val="tx1"/>
                </a:solidFill>
                <a:effectLst/>
                <a:latin typeface="Source Serif Pro" panose="02040603050405020204" pitchFamily="18" charset="0"/>
              </a:rPr>
              <a:t>This</a:t>
            </a:r>
            <a:r>
              <a:rPr kumimoji="0" lang="ko-KR" altLang="ko-KR" sz="1800" b="0" i="0" u="none" strike="noStrike" cap="none" normalizeH="0" baseline="0" dirty="0">
                <a:ln>
                  <a:noFill/>
                </a:ln>
                <a:solidFill>
                  <a:schemeClr val="tx1"/>
                </a:solidFill>
                <a:effectLst/>
                <a:latin typeface="Source Serif Pro" panose="02040603050405020204" pitchFamily="18" charset="0"/>
              </a:rPr>
              <a:t> </a:t>
            </a:r>
            <a:r>
              <a:rPr kumimoji="0" lang="ko-KR" altLang="ko-KR" sz="1800" b="0" i="0" u="none" strike="noStrike" cap="none" normalizeH="0" baseline="0" dirty="0" err="1">
                <a:ln>
                  <a:noFill/>
                </a:ln>
                <a:solidFill>
                  <a:schemeClr val="tx1"/>
                </a:solidFill>
                <a:effectLst/>
                <a:latin typeface="Source Serif Pro" panose="02040603050405020204" pitchFamily="18" charset="0"/>
              </a:rPr>
              <a:t>demonstrates</a:t>
            </a:r>
            <a:r>
              <a:rPr kumimoji="0" lang="ko-KR" altLang="ko-KR" sz="1800" b="0" i="0" u="none" strike="noStrike" cap="none" normalizeH="0" baseline="0" dirty="0">
                <a:ln>
                  <a:noFill/>
                </a:ln>
                <a:solidFill>
                  <a:schemeClr val="tx1"/>
                </a:solidFill>
                <a:effectLst/>
                <a:latin typeface="Source Serif Pro" panose="02040603050405020204" pitchFamily="18" charset="0"/>
              </a:rPr>
              <a:t> </a:t>
            </a:r>
            <a:r>
              <a:rPr kumimoji="0" lang="ko-KR" altLang="ko-KR" sz="1800" b="0" i="0" u="none" strike="noStrike" cap="none" normalizeH="0" baseline="0" dirty="0" err="1">
                <a:ln>
                  <a:noFill/>
                </a:ln>
                <a:solidFill>
                  <a:schemeClr val="tx1"/>
                </a:solidFill>
                <a:effectLst/>
                <a:latin typeface="Source Serif Pro" panose="02040603050405020204" pitchFamily="18" charset="0"/>
              </a:rPr>
              <a:t>that</a:t>
            </a:r>
            <a:r>
              <a:rPr kumimoji="0" lang="ko-KR" altLang="ko-KR" sz="1800" b="0" i="0" u="none" strike="noStrike" cap="none" normalizeH="0" baseline="0" dirty="0">
                <a:ln>
                  <a:noFill/>
                </a:ln>
                <a:solidFill>
                  <a:schemeClr val="tx1"/>
                </a:solidFill>
                <a:effectLst/>
                <a:latin typeface="Source Serif Pro" panose="02040603050405020204" pitchFamily="18" charset="0"/>
              </a:rPr>
              <a:t> </a:t>
            </a:r>
            <a:r>
              <a:rPr kumimoji="0" lang="ko-KR" altLang="ko-KR" sz="1800" b="0" i="0" u="none" strike="noStrike" cap="none" normalizeH="0" baseline="0" dirty="0" err="1">
                <a:ln>
                  <a:noFill/>
                </a:ln>
                <a:solidFill>
                  <a:schemeClr val="tx1"/>
                </a:solidFill>
                <a:effectLst/>
                <a:latin typeface="Source Serif Pro" panose="02040603050405020204" pitchFamily="18" charset="0"/>
              </a:rPr>
              <a:t>the</a:t>
            </a:r>
            <a:r>
              <a:rPr kumimoji="0" lang="ko-KR" altLang="ko-KR" sz="1800" b="0" i="0" u="none" strike="noStrike" cap="none" normalizeH="0" baseline="0" dirty="0">
                <a:ln>
                  <a:noFill/>
                </a:ln>
                <a:solidFill>
                  <a:schemeClr val="tx1"/>
                </a:solidFill>
                <a:effectLst/>
                <a:latin typeface="Source Serif Pro" panose="02040603050405020204" pitchFamily="18" charset="0"/>
              </a:rPr>
              <a:t> </a:t>
            </a:r>
            <a:r>
              <a:rPr kumimoji="0" lang="ko-KR" altLang="ko-KR" sz="1800" b="0" i="0" u="none" strike="noStrike" cap="none" normalizeH="0" baseline="0" dirty="0" err="1">
                <a:ln>
                  <a:noFill/>
                </a:ln>
                <a:solidFill>
                  <a:schemeClr val="tx1"/>
                </a:solidFill>
                <a:effectLst/>
                <a:latin typeface="Source Serif Pro" panose="02040603050405020204" pitchFamily="18" charset="0"/>
              </a:rPr>
              <a:t>model</a:t>
            </a:r>
            <a:r>
              <a:rPr kumimoji="0" lang="ko-KR" altLang="ko-KR" sz="1800" b="0" i="0" u="none" strike="noStrike" cap="none" normalizeH="0" baseline="0" dirty="0">
                <a:ln>
                  <a:noFill/>
                </a:ln>
                <a:solidFill>
                  <a:schemeClr val="tx1"/>
                </a:solidFill>
                <a:effectLst/>
                <a:latin typeface="Source Serif Pro" panose="02040603050405020204" pitchFamily="18" charset="0"/>
              </a:rPr>
              <a:t> </a:t>
            </a:r>
            <a:r>
              <a:rPr kumimoji="0" lang="ko-KR" altLang="ko-KR" sz="1800" b="0" i="0" u="none" strike="noStrike" cap="none" normalizeH="0" baseline="0" dirty="0" err="1">
                <a:ln>
                  <a:noFill/>
                </a:ln>
                <a:solidFill>
                  <a:schemeClr val="tx1"/>
                </a:solidFill>
                <a:effectLst/>
                <a:latin typeface="Source Serif Pro" panose="02040603050405020204" pitchFamily="18" charset="0"/>
              </a:rPr>
              <a:t>was</a:t>
            </a:r>
            <a:r>
              <a:rPr kumimoji="0" lang="ko-KR" altLang="ko-KR" sz="1800" b="0" i="0" u="none" strike="noStrike" cap="none" normalizeH="0" baseline="0" dirty="0">
                <a:ln>
                  <a:noFill/>
                </a:ln>
                <a:solidFill>
                  <a:schemeClr val="tx1"/>
                </a:solidFill>
                <a:effectLst/>
                <a:latin typeface="Source Serif Pro" panose="02040603050405020204" pitchFamily="18" charset="0"/>
              </a:rPr>
              <a:t> </a:t>
            </a:r>
            <a:r>
              <a:rPr kumimoji="0" lang="ko-KR" altLang="ko-KR" sz="1800" b="0" i="0" u="none" strike="noStrike" cap="none" normalizeH="0" baseline="0" dirty="0" err="1">
                <a:ln>
                  <a:noFill/>
                </a:ln>
                <a:solidFill>
                  <a:schemeClr val="tx1"/>
                </a:solidFill>
                <a:effectLst/>
                <a:latin typeface="Source Serif Pro" panose="02040603050405020204" pitchFamily="18" charset="0"/>
              </a:rPr>
              <a:t>able</a:t>
            </a:r>
            <a:r>
              <a:rPr kumimoji="0" lang="ko-KR" altLang="ko-KR" sz="1800" b="0" i="0" u="none" strike="noStrike" cap="none" normalizeH="0" baseline="0" dirty="0">
                <a:ln>
                  <a:noFill/>
                </a:ln>
                <a:solidFill>
                  <a:schemeClr val="tx1"/>
                </a:solidFill>
                <a:effectLst/>
                <a:latin typeface="Source Serif Pro" panose="02040603050405020204" pitchFamily="18" charset="0"/>
              </a:rPr>
              <a:t> </a:t>
            </a:r>
            <a:r>
              <a:rPr kumimoji="0" lang="ko-KR" altLang="ko-KR" sz="1800" b="0" i="0" u="none" strike="noStrike" cap="none" normalizeH="0" baseline="0" dirty="0" err="1">
                <a:ln>
                  <a:noFill/>
                </a:ln>
                <a:solidFill>
                  <a:schemeClr val="tx1"/>
                </a:solidFill>
                <a:effectLst/>
                <a:latin typeface="Source Serif Pro" panose="02040603050405020204" pitchFamily="18" charset="0"/>
              </a:rPr>
              <a:t>to</a:t>
            </a:r>
            <a:r>
              <a:rPr kumimoji="0" lang="ko-KR" altLang="ko-KR" sz="1800" b="0" i="0" u="none" strike="noStrike" cap="none" normalizeH="0" baseline="0" dirty="0">
                <a:ln>
                  <a:noFill/>
                </a:ln>
                <a:solidFill>
                  <a:schemeClr val="tx1"/>
                </a:solidFill>
                <a:effectLst/>
                <a:latin typeface="Source Serif Pro" panose="02040603050405020204" pitchFamily="18" charset="0"/>
              </a:rPr>
              <a:t> </a:t>
            </a:r>
            <a:r>
              <a:rPr kumimoji="0" lang="ko-KR" altLang="ko-KR" sz="1800" b="0" i="0" u="none" strike="noStrike" cap="none" normalizeH="0" baseline="0" dirty="0" err="1">
                <a:ln>
                  <a:noFill/>
                </a:ln>
                <a:solidFill>
                  <a:schemeClr val="tx1"/>
                </a:solidFill>
                <a:effectLst/>
                <a:latin typeface="Source Serif Pro" panose="02040603050405020204" pitchFamily="18" charset="0"/>
              </a:rPr>
              <a:t>identify</a:t>
            </a:r>
            <a:r>
              <a:rPr kumimoji="0" lang="ko-KR" altLang="ko-KR" sz="1800" b="0" i="0" u="none" strike="noStrike" cap="none" normalizeH="0" baseline="0" dirty="0">
                <a:ln>
                  <a:noFill/>
                </a:ln>
                <a:solidFill>
                  <a:schemeClr val="tx1"/>
                </a:solidFill>
                <a:effectLst/>
                <a:latin typeface="Source Serif Pro" panose="02040603050405020204" pitchFamily="18" charset="0"/>
              </a:rPr>
              <a:t> </a:t>
            </a:r>
            <a:r>
              <a:rPr kumimoji="0" lang="ko-KR" altLang="ko-KR" sz="1800" b="0" i="0" u="none" strike="noStrike" cap="none" normalizeH="0" baseline="0" dirty="0" err="1">
                <a:ln>
                  <a:noFill/>
                </a:ln>
                <a:solidFill>
                  <a:schemeClr val="tx1"/>
                </a:solidFill>
                <a:effectLst/>
                <a:latin typeface="Source Serif Pro" panose="02040603050405020204" pitchFamily="18" charset="0"/>
              </a:rPr>
              <a:t>a</a:t>
            </a:r>
            <a:r>
              <a:rPr kumimoji="0" lang="ko-KR" altLang="ko-KR" sz="1800" b="0" i="0" u="none" strike="noStrike" cap="none" normalizeH="0" baseline="0" dirty="0">
                <a:ln>
                  <a:noFill/>
                </a:ln>
                <a:solidFill>
                  <a:schemeClr val="tx1"/>
                </a:solidFill>
                <a:effectLst/>
                <a:latin typeface="Source Serif Pro" panose="02040603050405020204" pitchFamily="18" charset="0"/>
              </a:rPr>
              <a:t> </a:t>
            </a:r>
            <a:r>
              <a:rPr kumimoji="0" lang="ko-KR" altLang="ko-KR" sz="1800" b="0" i="0" u="none" strike="noStrike" cap="none" normalizeH="0" baseline="0" dirty="0" err="1">
                <a:ln>
                  <a:noFill/>
                </a:ln>
                <a:solidFill>
                  <a:schemeClr val="tx1"/>
                </a:solidFill>
                <a:effectLst/>
                <a:latin typeface="Source Serif Pro" panose="02040603050405020204" pitchFamily="18" charset="0"/>
              </a:rPr>
              <a:t>single</a:t>
            </a:r>
            <a:r>
              <a:rPr kumimoji="0" lang="ko-KR" altLang="ko-KR" sz="1800" b="0" i="0" u="none" strike="noStrike" cap="none" normalizeH="0" baseline="0" dirty="0">
                <a:ln>
                  <a:noFill/>
                </a:ln>
                <a:solidFill>
                  <a:schemeClr val="tx1"/>
                </a:solidFill>
                <a:effectLst/>
                <a:latin typeface="Source Serif Pro" panose="02040603050405020204" pitchFamily="18" charset="0"/>
              </a:rPr>
              <a:t>, </a:t>
            </a:r>
            <a:r>
              <a:rPr kumimoji="0" lang="ko-KR" altLang="ko-KR" sz="1800" b="0" i="0" u="none" strike="noStrike" cap="none" normalizeH="0" baseline="0" dirty="0" err="1">
                <a:ln>
                  <a:noFill/>
                </a:ln>
                <a:solidFill>
                  <a:schemeClr val="tx1"/>
                </a:solidFill>
                <a:effectLst/>
                <a:latin typeface="Source Serif Pro" panose="02040603050405020204" pitchFamily="18" charset="0"/>
              </a:rPr>
              <a:t>stable</a:t>
            </a:r>
            <a:r>
              <a:rPr kumimoji="0" lang="ko-KR" altLang="ko-KR" sz="1800" b="0" i="0" u="none" strike="noStrike" cap="none" normalizeH="0" baseline="0" dirty="0">
                <a:ln>
                  <a:noFill/>
                </a:ln>
                <a:solidFill>
                  <a:schemeClr val="tx1"/>
                </a:solidFill>
                <a:effectLst/>
                <a:latin typeface="Source Serif Pro" panose="02040603050405020204" pitchFamily="18" charset="0"/>
              </a:rPr>
              <a:t> </a:t>
            </a:r>
            <a:r>
              <a:rPr kumimoji="0" lang="ko-KR" altLang="ko-KR" sz="1800" b="0" i="0" u="none" strike="noStrike" cap="none" normalizeH="0" baseline="0" dirty="0" err="1">
                <a:ln>
                  <a:noFill/>
                </a:ln>
                <a:solidFill>
                  <a:schemeClr val="tx1"/>
                </a:solidFill>
                <a:effectLst/>
                <a:latin typeface="Source Serif Pro" panose="02040603050405020204" pitchFamily="18" charset="0"/>
              </a:rPr>
              <a:t>estimate</a:t>
            </a:r>
            <a:r>
              <a:rPr kumimoji="0" lang="ko-KR" altLang="ko-KR" sz="1800" b="0" i="0" u="none" strike="noStrike" cap="none" normalizeH="0" baseline="0" dirty="0">
                <a:ln>
                  <a:noFill/>
                </a:ln>
                <a:solidFill>
                  <a:schemeClr val="tx1"/>
                </a:solidFill>
                <a:effectLst/>
                <a:latin typeface="Source Serif Pro" panose="02040603050405020204" pitchFamily="18" charset="0"/>
              </a:rPr>
              <a:t> </a:t>
            </a:r>
            <a:r>
              <a:rPr kumimoji="0" lang="ko-KR" altLang="ko-KR" sz="1800" b="0" i="0" u="none" strike="noStrike" cap="none" normalizeH="0" baseline="0" dirty="0" err="1">
                <a:ln>
                  <a:noFill/>
                </a:ln>
                <a:solidFill>
                  <a:schemeClr val="tx1"/>
                </a:solidFill>
                <a:effectLst/>
                <a:latin typeface="Source Serif Pro" panose="02040603050405020204" pitchFamily="18" charset="0"/>
              </a:rPr>
              <a:t>for</a:t>
            </a:r>
            <a:r>
              <a:rPr kumimoji="0" lang="ko-KR" altLang="ko-KR" sz="1800" b="0" i="0" u="none" strike="noStrike" cap="none" normalizeH="0" baseline="0" dirty="0">
                <a:ln>
                  <a:noFill/>
                </a:ln>
                <a:solidFill>
                  <a:schemeClr val="tx1"/>
                </a:solidFill>
                <a:effectLst/>
                <a:latin typeface="Source Serif Pro" panose="02040603050405020204" pitchFamily="18" charset="0"/>
              </a:rPr>
              <a:t> </a:t>
            </a:r>
            <a:r>
              <a:rPr kumimoji="0" lang="ko-KR" altLang="ko-KR" sz="1800" b="0" i="0" u="none" strike="noStrike" cap="none" normalizeH="0" baseline="0" dirty="0" err="1">
                <a:ln>
                  <a:noFill/>
                </a:ln>
                <a:solidFill>
                  <a:schemeClr val="tx1"/>
                </a:solidFill>
                <a:effectLst/>
                <a:latin typeface="Source Serif Pro" panose="02040603050405020204" pitchFamily="18" charset="0"/>
              </a:rPr>
              <a:t>each</a:t>
            </a:r>
            <a:r>
              <a:rPr kumimoji="0" lang="ko-KR" altLang="ko-KR" sz="1800" b="0" i="0" u="none" strike="noStrike" cap="none" normalizeH="0" baseline="0" dirty="0">
                <a:ln>
                  <a:noFill/>
                </a:ln>
                <a:solidFill>
                  <a:schemeClr val="tx1"/>
                </a:solidFill>
                <a:effectLst/>
                <a:latin typeface="Source Serif Pro" panose="02040603050405020204" pitchFamily="18" charset="0"/>
              </a:rPr>
              <a:t> </a:t>
            </a:r>
            <a:r>
              <a:rPr kumimoji="0" lang="ko-KR" altLang="ko-KR" sz="1800" b="0" i="0" u="none" strike="noStrike" cap="none" normalizeH="0" baseline="0" dirty="0" err="1">
                <a:ln>
                  <a:noFill/>
                </a:ln>
                <a:solidFill>
                  <a:schemeClr val="tx1"/>
                </a:solidFill>
                <a:effectLst/>
                <a:latin typeface="Source Serif Pro" panose="02040603050405020204" pitchFamily="18" charset="0"/>
              </a:rPr>
              <a:t>parameter</a:t>
            </a:r>
            <a:r>
              <a:rPr kumimoji="0" lang="ko-KR" altLang="ko-KR" sz="1800" b="0" i="0" u="none" strike="noStrike" cap="none" normalizeH="0" baseline="0" dirty="0">
                <a:ln>
                  <a:noFill/>
                </a:ln>
                <a:solidFill>
                  <a:schemeClr val="tx1"/>
                </a:solidFill>
                <a:effectLst/>
                <a:latin typeface="Source Serif Pro" panose="02040603050405020204" pitchFamily="18" charset="0"/>
              </a:rPr>
              <a:t> </a:t>
            </a:r>
            <a:r>
              <a:rPr kumimoji="0" lang="ko-KR" altLang="ko-KR" sz="1800" b="0" i="0" u="none" strike="noStrike" cap="none" normalizeH="0" baseline="0" dirty="0" err="1">
                <a:ln>
                  <a:noFill/>
                </a:ln>
                <a:solidFill>
                  <a:schemeClr val="tx1"/>
                </a:solidFill>
                <a:effectLst/>
                <a:latin typeface="Source Serif Pro" panose="02040603050405020204" pitchFamily="18" charset="0"/>
              </a:rPr>
              <a:t>from</a:t>
            </a:r>
            <a:r>
              <a:rPr kumimoji="0" lang="ko-KR" altLang="ko-KR" sz="1800" b="0" i="0" u="none" strike="noStrike" cap="none" normalizeH="0" baseline="0" dirty="0">
                <a:ln>
                  <a:noFill/>
                </a:ln>
                <a:solidFill>
                  <a:schemeClr val="tx1"/>
                </a:solidFill>
                <a:effectLst/>
                <a:latin typeface="Source Serif Pro" panose="02040603050405020204" pitchFamily="18" charset="0"/>
              </a:rPr>
              <a:t> </a:t>
            </a:r>
            <a:r>
              <a:rPr kumimoji="0" lang="ko-KR" altLang="ko-KR" sz="1800" b="0" i="0" u="none" strike="noStrike" cap="none" normalizeH="0" baseline="0" dirty="0" err="1">
                <a:ln>
                  <a:noFill/>
                </a:ln>
                <a:solidFill>
                  <a:schemeClr val="tx1"/>
                </a:solidFill>
                <a:effectLst/>
                <a:latin typeface="Source Serif Pro" panose="02040603050405020204" pitchFamily="18" charset="0"/>
              </a:rPr>
              <a:t>the</a:t>
            </a:r>
            <a:r>
              <a:rPr kumimoji="0" lang="ko-KR" altLang="ko-KR" sz="1800" b="0" i="0" u="none" strike="noStrike" cap="none" normalizeH="0" baseline="0" dirty="0">
                <a:ln>
                  <a:noFill/>
                </a:ln>
                <a:solidFill>
                  <a:schemeClr val="tx1"/>
                </a:solidFill>
                <a:effectLst/>
                <a:latin typeface="Source Serif Pro" panose="02040603050405020204" pitchFamily="18" charset="0"/>
              </a:rPr>
              <a:t> </a:t>
            </a:r>
            <a:r>
              <a:rPr kumimoji="0" lang="ko-KR" altLang="ko-KR" sz="1800" b="0" i="0" u="none" strike="noStrike" cap="none" normalizeH="0" baseline="0" dirty="0" err="1">
                <a:ln>
                  <a:noFill/>
                </a:ln>
                <a:solidFill>
                  <a:schemeClr val="tx1"/>
                </a:solidFill>
                <a:effectLst/>
                <a:latin typeface="Source Serif Pro" panose="02040603050405020204" pitchFamily="18" charset="0"/>
              </a:rPr>
              <a:t>data</a:t>
            </a:r>
            <a:r>
              <a:rPr kumimoji="0" lang="ko-KR" altLang="ko-KR" sz="1800" b="0" i="0" u="none" strike="noStrike" cap="none" normalizeH="0" baseline="0" dirty="0">
                <a:ln>
                  <a:noFill/>
                </a:ln>
                <a:solidFill>
                  <a:schemeClr val="tx1"/>
                </a:solidFill>
                <a:effectLst/>
                <a:latin typeface="Source Serif Pro" panose="02040603050405020204" pitchFamily="18"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ko-KR" altLang="ko-KR" sz="1800" b="1" i="0" u="none" strike="noStrike" cap="none" normalizeH="0" baseline="0" dirty="0" err="1">
                <a:ln>
                  <a:noFill/>
                </a:ln>
                <a:solidFill>
                  <a:schemeClr val="tx1"/>
                </a:solidFill>
                <a:effectLst/>
                <a:latin typeface="Source Serif Pro" panose="02040603050405020204" pitchFamily="18" charset="0"/>
              </a:rPr>
              <a:t>Conclusion</a:t>
            </a:r>
            <a:r>
              <a:rPr kumimoji="0" lang="ko-KR" altLang="ko-KR" sz="1800" b="1" i="0" u="none" strike="noStrike" cap="none" normalizeH="0" baseline="0" dirty="0">
                <a:ln>
                  <a:noFill/>
                </a:ln>
                <a:solidFill>
                  <a:schemeClr val="tx1"/>
                </a:solidFill>
                <a:effectLst/>
                <a:latin typeface="Source Serif Pro" panose="02040603050405020204" pitchFamily="18" charset="0"/>
              </a:rPr>
              <a:t>:</a:t>
            </a:r>
            <a:r>
              <a:rPr kumimoji="0" lang="ko-KR" altLang="ko-KR" sz="1800" b="0" i="0" u="none" strike="noStrike" cap="none" normalizeH="0" baseline="0" dirty="0">
                <a:ln>
                  <a:noFill/>
                </a:ln>
                <a:solidFill>
                  <a:schemeClr val="tx1"/>
                </a:solidFill>
                <a:effectLst/>
                <a:latin typeface="Source Serif Pro" panose="02040603050405020204" pitchFamily="18" charset="0"/>
              </a:rPr>
              <a:t> The </a:t>
            </a:r>
            <a:r>
              <a:rPr kumimoji="0" lang="ko-KR" altLang="ko-KR" sz="1800" b="0" i="0" u="none" strike="noStrike" cap="none" normalizeH="0" baseline="0" dirty="0" err="1">
                <a:ln>
                  <a:noFill/>
                </a:ln>
                <a:solidFill>
                  <a:schemeClr val="tx1"/>
                </a:solidFill>
                <a:effectLst/>
                <a:latin typeface="Source Serif Pro" panose="02040603050405020204" pitchFamily="18" charset="0"/>
              </a:rPr>
              <a:t>parameter</a:t>
            </a:r>
            <a:r>
              <a:rPr kumimoji="0" lang="ko-KR" altLang="ko-KR" sz="1800" b="0" i="0" u="none" strike="noStrike" cap="none" normalizeH="0" baseline="0" dirty="0">
                <a:ln>
                  <a:noFill/>
                </a:ln>
                <a:solidFill>
                  <a:schemeClr val="tx1"/>
                </a:solidFill>
                <a:effectLst/>
                <a:latin typeface="Source Serif Pro" panose="02040603050405020204" pitchFamily="18" charset="0"/>
              </a:rPr>
              <a:t> </a:t>
            </a:r>
            <a:r>
              <a:rPr kumimoji="0" lang="ko-KR" altLang="ko-KR" sz="1800" b="0" i="0" u="none" strike="noStrike" cap="none" normalizeH="0" baseline="0" dirty="0" err="1">
                <a:ln>
                  <a:noFill/>
                </a:ln>
                <a:solidFill>
                  <a:schemeClr val="tx1"/>
                </a:solidFill>
                <a:effectLst/>
                <a:latin typeface="Source Serif Pro" panose="02040603050405020204" pitchFamily="18" charset="0"/>
              </a:rPr>
              <a:t>estimates</a:t>
            </a:r>
            <a:r>
              <a:rPr kumimoji="0" lang="ko-KR" altLang="ko-KR" sz="1800" b="0" i="0" u="none" strike="noStrike" cap="none" normalizeH="0" baseline="0" dirty="0">
                <a:ln>
                  <a:noFill/>
                </a:ln>
                <a:solidFill>
                  <a:schemeClr val="tx1"/>
                </a:solidFill>
                <a:effectLst/>
                <a:latin typeface="Source Serif Pro" panose="02040603050405020204" pitchFamily="18" charset="0"/>
              </a:rPr>
              <a:t> </a:t>
            </a:r>
            <a:r>
              <a:rPr kumimoji="0" lang="ko-KR" altLang="ko-KR" sz="1800" b="0" i="0" u="none" strike="noStrike" cap="none" normalizeH="0" baseline="0" dirty="0" err="1">
                <a:ln>
                  <a:noFill/>
                </a:ln>
                <a:solidFill>
                  <a:schemeClr val="tx1"/>
                </a:solidFill>
                <a:effectLst/>
                <a:latin typeface="Source Serif Pro" panose="02040603050405020204" pitchFamily="18" charset="0"/>
              </a:rPr>
              <a:t>generated</a:t>
            </a:r>
            <a:r>
              <a:rPr kumimoji="0" lang="ko-KR" altLang="ko-KR" sz="1800" b="0" i="0" u="none" strike="noStrike" cap="none" normalizeH="0" baseline="0" dirty="0">
                <a:ln>
                  <a:noFill/>
                </a:ln>
                <a:solidFill>
                  <a:schemeClr val="tx1"/>
                </a:solidFill>
                <a:effectLst/>
                <a:latin typeface="Source Serif Pro" panose="02040603050405020204" pitchFamily="18" charset="0"/>
              </a:rPr>
              <a:t> </a:t>
            </a:r>
            <a:r>
              <a:rPr kumimoji="0" lang="ko-KR" altLang="ko-KR" sz="1800" b="0" i="0" u="none" strike="noStrike" cap="none" normalizeH="0" baseline="0" dirty="0" err="1">
                <a:ln>
                  <a:noFill/>
                </a:ln>
                <a:solidFill>
                  <a:schemeClr val="tx1"/>
                </a:solidFill>
                <a:effectLst/>
                <a:latin typeface="Source Serif Pro" panose="02040603050405020204" pitchFamily="18" charset="0"/>
              </a:rPr>
              <a:t>by</a:t>
            </a:r>
            <a:r>
              <a:rPr kumimoji="0" lang="ko-KR" altLang="ko-KR" sz="1800" b="0" i="0" u="none" strike="noStrike" cap="none" normalizeH="0" baseline="0" dirty="0">
                <a:ln>
                  <a:noFill/>
                </a:ln>
                <a:solidFill>
                  <a:schemeClr val="tx1"/>
                </a:solidFill>
                <a:effectLst/>
                <a:latin typeface="Source Serif Pro" panose="02040603050405020204" pitchFamily="18" charset="0"/>
              </a:rPr>
              <a:t> </a:t>
            </a:r>
            <a:r>
              <a:rPr kumimoji="0" lang="ko-KR" altLang="ko-KR" sz="1800" b="0" i="0" u="none" strike="noStrike" cap="none" normalizeH="0" baseline="0" dirty="0" err="1">
                <a:ln>
                  <a:noFill/>
                </a:ln>
                <a:solidFill>
                  <a:schemeClr val="tx1"/>
                </a:solidFill>
                <a:effectLst/>
                <a:latin typeface="Source Serif Pro" panose="02040603050405020204" pitchFamily="18" charset="0"/>
              </a:rPr>
              <a:t>the</a:t>
            </a:r>
            <a:r>
              <a:rPr kumimoji="0" lang="ko-KR" altLang="ko-KR" sz="1800" b="0" i="0" u="none" strike="noStrike" cap="none" normalizeH="0" baseline="0" dirty="0">
                <a:ln>
                  <a:noFill/>
                </a:ln>
                <a:solidFill>
                  <a:schemeClr val="tx1"/>
                </a:solidFill>
                <a:effectLst/>
                <a:latin typeface="Source Serif Pro" panose="02040603050405020204" pitchFamily="18" charset="0"/>
              </a:rPr>
              <a:t> MCMC </a:t>
            </a:r>
            <a:r>
              <a:rPr kumimoji="0" lang="ko-KR" altLang="ko-KR" sz="1800" b="0" i="0" u="none" strike="noStrike" cap="none" normalizeH="0" baseline="0" dirty="0" err="1">
                <a:ln>
                  <a:noFill/>
                </a:ln>
                <a:solidFill>
                  <a:schemeClr val="tx1"/>
                </a:solidFill>
                <a:effectLst/>
                <a:latin typeface="Source Serif Pro" panose="02040603050405020204" pitchFamily="18" charset="0"/>
              </a:rPr>
              <a:t>process</a:t>
            </a:r>
            <a:r>
              <a:rPr kumimoji="0" lang="ko-KR" altLang="ko-KR" sz="1800" b="0" i="0" u="none" strike="noStrike" cap="none" normalizeH="0" baseline="0" dirty="0">
                <a:ln>
                  <a:noFill/>
                </a:ln>
                <a:solidFill>
                  <a:schemeClr val="tx1"/>
                </a:solidFill>
                <a:effectLst/>
                <a:latin typeface="Source Serif Pro" panose="02040603050405020204" pitchFamily="18" charset="0"/>
              </a:rPr>
              <a:t> </a:t>
            </a:r>
            <a:r>
              <a:rPr kumimoji="0" lang="ko-KR" altLang="ko-KR" sz="1800" b="0" i="0" u="none" strike="noStrike" cap="none" normalizeH="0" baseline="0" dirty="0" err="1">
                <a:ln>
                  <a:noFill/>
                </a:ln>
                <a:solidFill>
                  <a:schemeClr val="tx1"/>
                </a:solidFill>
                <a:effectLst/>
                <a:latin typeface="Source Serif Pro" panose="02040603050405020204" pitchFamily="18" charset="0"/>
              </a:rPr>
              <a:t>are</a:t>
            </a:r>
            <a:r>
              <a:rPr kumimoji="0" lang="ko-KR" altLang="ko-KR" sz="1800" b="0" i="0" u="none" strike="noStrike" cap="none" normalizeH="0" baseline="0" dirty="0">
                <a:ln>
                  <a:noFill/>
                </a:ln>
                <a:solidFill>
                  <a:schemeClr val="tx1"/>
                </a:solidFill>
                <a:effectLst/>
                <a:latin typeface="Source Serif Pro" panose="02040603050405020204" pitchFamily="18" charset="0"/>
              </a:rPr>
              <a:t> </a:t>
            </a:r>
            <a:r>
              <a:rPr kumimoji="0" lang="ko-KR" altLang="ko-KR" sz="1800" b="0" i="0" u="none" strike="noStrike" cap="none" normalizeH="0" baseline="0" dirty="0" err="1">
                <a:ln>
                  <a:noFill/>
                </a:ln>
                <a:solidFill>
                  <a:schemeClr val="tx1"/>
                </a:solidFill>
                <a:effectLst/>
                <a:latin typeface="Source Serif Pro" panose="02040603050405020204" pitchFamily="18" charset="0"/>
              </a:rPr>
              <a:t>numerically</a:t>
            </a:r>
            <a:r>
              <a:rPr kumimoji="0" lang="ko-KR" altLang="ko-KR" sz="1800" b="0" i="0" u="none" strike="noStrike" cap="none" normalizeH="0" baseline="0" dirty="0">
                <a:ln>
                  <a:noFill/>
                </a:ln>
                <a:solidFill>
                  <a:schemeClr val="tx1"/>
                </a:solidFill>
                <a:effectLst/>
                <a:latin typeface="Source Serif Pro" panose="02040603050405020204" pitchFamily="18" charset="0"/>
              </a:rPr>
              <a:t> </a:t>
            </a:r>
            <a:r>
              <a:rPr kumimoji="0" lang="ko-KR" altLang="ko-KR" sz="1800" b="0" i="0" u="none" strike="noStrike" cap="none" normalizeH="0" baseline="0" dirty="0" err="1">
                <a:ln>
                  <a:noFill/>
                </a:ln>
                <a:solidFill>
                  <a:schemeClr val="tx1"/>
                </a:solidFill>
                <a:effectLst/>
                <a:latin typeface="Source Serif Pro" panose="02040603050405020204" pitchFamily="18" charset="0"/>
              </a:rPr>
              <a:t>sound</a:t>
            </a:r>
            <a:r>
              <a:rPr kumimoji="0" lang="ko-KR" altLang="ko-KR" sz="1800" b="0" i="0" u="none" strike="noStrike" cap="none" normalizeH="0" baseline="0" dirty="0">
                <a:ln>
                  <a:noFill/>
                </a:ln>
                <a:solidFill>
                  <a:schemeClr val="tx1"/>
                </a:solidFill>
                <a:effectLst/>
                <a:latin typeface="Source Serif Pro" panose="02040603050405020204" pitchFamily="18" charset="0"/>
              </a:rPr>
              <a:t> and </a:t>
            </a:r>
            <a:r>
              <a:rPr kumimoji="0" lang="ko-KR" altLang="ko-KR" sz="1800" b="0" i="0" u="none" strike="noStrike" cap="none" normalizeH="0" baseline="0" dirty="0" err="1">
                <a:ln>
                  <a:noFill/>
                </a:ln>
                <a:solidFill>
                  <a:schemeClr val="tx1"/>
                </a:solidFill>
                <a:effectLst/>
                <a:latin typeface="Source Serif Pro" panose="02040603050405020204" pitchFamily="18" charset="0"/>
              </a:rPr>
              <a:t>statistically</a:t>
            </a:r>
            <a:r>
              <a:rPr kumimoji="0" lang="ko-KR" altLang="ko-KR" sz="1800" b="0" i="0" u="none" strike="noStrike" cap="none" normalizeH="0" baseline="0" dirty="0">
                <a:ln>
                  <a:noFill/>
                </a:ln>
                <a:solidFill>
                  <a:schemeClr val="tx1"/>
                </a:solidFill>
                <a:effectLst/>
                <a:latin typeface="Source Serif Pro" panose="02040603050405020204" pitchFamily="18" charset="0"/>
              </a:rPr>
              <a:t> </a:t>
            </a:r>
            <a:r>
              <a:rPr kumimoji="0" lang="ko-KR" altLang="ko-KR" sz="1800" b="0" i="0" u="none" strike="noStrike" cap="none" normalizeH="0" baseline="0" dirty="0" err="1">
                <a:ln>
                  <a:noFill/>
                </a:ln>
                <a:solidFill>
                  <a:schemeClr val="tx1"/>
                </a:solidFill>
                <a:effectLst/>
                <a:latin typeface="Source Serif Pro" panose="02040603050405020204" pitchFamily="18" charset="0"/>
              </a:rPr>
              <a:t>trustworthy</a:t>
            </a:r>
            <a:r>
              <a:rPr kumimoji="0" lang="ko-KR" altLang="ko-KR" sz="1800" b="0" i="0" u="none" strike="noStrike" cap="none" normalizeH="0" baseline="0" dirty="0">
                <a:ln>
                  <a:noFill/>
                </a:ln>
                <a:solidFill>
                  <a:schemeClr val="tx1"/>
                </a:solidFill>
                <a:effectLst/>
                <a:latin typeface="Source Serif Pro" panose="020406030504050202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ko-KR" altLang="ko-KR" sz="1800" b="0" i="0" u="none" strike="noStrike" cap="none" normalizeH="0" baseline="0" dirty="0">
              <a:ln>
                <a:noFill/>
              </a:ln>
              <a:solidFill>
                <a:schemeClr val="tx1"/>
              </a:solidFill>
              <a:effectLst/>
              <a:latin typeface="Source Serif Pro" panose="02040603050405020204" pitchFamily="18" charset="0"/>
            </a:endParaRPr>
          </a:p>
        </p:txBody>
      </p:sp>
    </p:spTree>
    <p:extLst>
      <p:ext uri="{BB962C8B-B14F-4D97-AF65-F5344CB8AC3E}">
        <p14:creationId xmlns:p14="http://schemas.microsoft.com/office/powerpoint/2010/main" val="22558458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AA8EF1-AF0F-1EBF-4F75-842042E10D3B}"/>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31F817A6-E28D-4909-8703-631511590C83}"/>
              </a:ext>
            </a:extLst>
          </p:cNvPr>
          <p:cNvSpPr/>
          <p:nvPr/>
        </p:nvSpPr>
        <p:spPr>
          <a:xfrm>
            <a:off x="749319" y="361950"/>
            <a:ext cx="13131761" cy="1240155"/>
          </a:xfrm>
          <a:prstGeom prst="rect">
            <a:avLst/>
          </a:prstGeom>
          <a:noFill/>
          <a:ln/>
        </p:spPr>
        <p:txBody>
          <a:bodyPr wrap="square" lIns="0" tIns="0" rIns="0" bIns="0" rtlCol="0" anchor="t"/>
          <a:lstStyle/>
          <a:p>
            <a:pPr marL="0" indent="0" algn="l">
              <a:lnSpc>
                <a:spcPts val="4850"/>
              </a:lnSpc>
              <a:buNone/>
            </a:pPr>
            <a:r>
              <a:rPr lang="en-US" sz="3900" dirty="0">
                <a:solidFill>
                  <a:srgbClr val="201B18"/>
                </a:solidFill>
                <a:latin typeface="Platypi Medium" pitchFamily="34" charset="0"/>
                <a:ea typeface="Platypi Medium" pitchFamily="34" charset="-122"/>
                <a:cs typeface="Platypi Medium" pitchFamily="34" charset="-120"/>
              </a:rPr>
              <a:t>Exercise: </a:t>
            </a:r>
          </a:p>
          <a:p>
            <a:pPr marL="0" indent="0" algn="l">
              <a:lnSpc>
                <a:spcPts val="4850"/>
              </a:lnSpc>
              <a:buNone/>
            </a:pPr>
            <a:r>
              <a:rPr lang="en-US" sz="3900" dirty="0">
                <a:solidFill>
                  <a:srgbClr val="201B18"/>
                </a:solidFill>
                <a:latin typeface="Platypi Medium" pitchFamily="34" charset="0"/>
                <a:ea typeface="Platypi Medium" pitchFamily="34" charset="-122"/>
                <a:cs typeface="Platypi Medium" pitchFamily="34" charset="-120"/>
              </a:rPr>
              <a:t>5. MCMC Sampling Results</a:t>
            </a:r>
            <a:endParaRPr lang="en-US" sz="3900" dirty="0"/>
          </a:p>
        </p:txBody>
      </p:sp>
      <p:sp>
        <p:nvSpPr>
          <p:cNvPr id="13" name="직사각형 12">
            <a:extLst>
              <a:ext uri="{FF2B5EF4-FFF2-40B4-BE49-F238E27FC236}">
                <a16:creationId xmlns:a16="http://schemas.microsoft.com/office/drawing/2014/main" id="{96AB29FA-06DE-1EEA-381C-EBACBDEC216C}"/>
              </a:ext>
            </a:extLst>
          </p:cNvPr>
          <p:cNvSpPr/>
          <p:nvPr/>
        </p:nvSpPr>
        <p:spPr>
          <a:xfrm>
            <a:off x="12849225" y="7790974"/>
            <a:ext cx="1781175" cy="51482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altLang="ko-KR" dirty="0">
                <a:solidFill>
                  <a:schemeClr val="tx1"/>
                </a:solidFill>
                <a:latin typeface="Platypi Medium" panose="020B0600000101010101" charset="0"/>
                <a:cs typeface="Platypi Medium" panose="020B0600000101010101" charset="0"/>
              </a:rPr>
              <a:t>KFAC</a:t>
            </a:r>
            <a:endParaRPr lang="ko-KR" altLang="en-US" dirty="0">
              <a:solidFill>
                <a:schemeClr val="tx1"/>
              </a:solidFill>
              <a:latin typeface="Platypi Medium" panose="020B0600000101010101" charset="0"/>
              <a:cs typeface="Platypi Medium" panose="020B0600000101010101" charset="0"/>
            </a:endParaRPr>
          </a:p>
        </p:txBody>
      </p:sp>
      <p:sp>
        <p:nvSpPr>
          <p:cNvPr id="8" name="Text 2">
            <a:extLst>
              <a:ext uri="{FF2B5EF4-FFF2-40B4-BE49-F238E27FC236}">
                <a16:creationId xmlns:a16="http://schemas.microsoft.com/office/drawing/2014/main" id="{60751467-C7AD-D199-50B1-2DF7DB18DEE7}"/>
              </a:ext>
            </a:extLst>
          </p:cNvPr>
          <p:cNvSpPr/>
          <p:nvPr/>
        </p:nvSpPr>
        <p:spPr>
          <a:xfrm>
            <a:off x="8020049" y="1928672"/>
            <a:ext cx="6353176" cy="2888248"/>
          </a:xfrm>
          <a:prstGeom prst="rect">
            <a:avLst/>
          </a:prstGeom>
          <a:noFill/>
          <a:ln/>
        </p:spPr>
        <p:txBody>
          <a:bodyPr wrap="square" lIns="0" tIns="0" rIns="0" bIns="0" rtlCol="0" anchor="t"/>
          <a:lstStyle/>
          <a:p>
            <a:r>
              <a:rPr lang="en-US" altLang="ko-KR" b="1" dirty="0">
                <a:latin typeface="Source Serif Pro" panose="02040603050405020204" pitchFamily="18" charset="0"/>
                <a:ea typeface="Source Serif Pro" panose="02040603050405020204" pitchFamily="18" charset="0"/>
              </a:rPr>
              <a:t>Model Fit Assessment via PPC: Significant Misfit Identified</a:t>
            </a:r>
          </a:p>
          <a:p>
            <a:endParaRPr lang="en-US" altLang="ko-KR" dirty="0">
              <a:latin typeface="Source Serif Pro" panose="02040603050405020204" pitchFamily="18" charset="0"/>
              <a:ea typeface="Source Serif Pro" panose="02040603050405020204" pitchFamily="18" charset="0"/>
            </a:endParaRPr>
          </a:p>
          <a:p>
            <a:r>
              <a:rPr lang="en-US" altLang="ko-KR" b="1" dirty="0">
                <a:latin typeface="Source Serif Pro" panose="02040603050405020204" pitchFamily="18" charset="0"/>
                <a:ea typeface="Source Serif Pro" panose="02040603050405020204" pitchFamily="18" charset="0"/>
              </a:rPr>
              <a:t>Systematic Discrepancy Between Model and Reality</a:t>
            </a:r>
            <a:endParaRPr lang="en-US" altLang="ko-KR" dirty="0">
              <a:latin typeface="Source Serif Pro" panose="02040603050405020204" pitchFamily="18" charset="0"/>
              <a:ea typeface="Source Serif Pro" panose="02040603050405020204" pitchFamily="18" charset="0"/>
            </a:endParaRPr>
          </a:p>
          <a:p>
            <a:pPr lvl="1"/>
            <a:r>
              <a:rPr lang="en-US" altLang="ko-KR" dirty="0">
                <a:latin typeface="Source Serif Pro" panose="02040603050405020204" pitchFamily="18" charset="0"/>
                <a:ea typeface="Source Serif Pro" panose="02040603050405020204" pitchFamily="18" charset="0"/>
              </a:rPr>
              <a:t>The Posterior Predictive Check (PPC) reveals that the model fails to replicate key features of the observed data.</a:t>
            </a:r>
          </a:p>
          <a:p>
            <a:r>
              <a:rPr lang="en-US" altLang="ko-KR" b="1" dirty="0">
                <a:latin typeface="Source Serif Pro" panose="02040603050405020204" pitchFamily="18" charset="0"/>
                <a:ea typeface="Source Serif Pro" panose="02040603050405020204" pitchFamily="18" charset="0"/>
              </a:rPr>
              <a:t>Analysis of Observed Data (Black Line)</a:t>
            </a:r>
            <a:endParaRPr lang="en-US" altLang="ko-KR" dirty="0">
              <a:latin typeface="Source Serif Pro" panose="02040603050405020204" pitchFamily="18" charset="0"/>
              <a:ea typeface="Source Serif Pro" panose="02040603050405020204" pitchFamily="18" charset="0"/>
            </a:endParaRPr>
          </a:p>
          <a:p>
            <a:pPr lvl="1"/>
            <a:r>
              <a:rPr lang="en-US" altLang="ko-KR" dirty="0">
                <a:latin typeface="Source Serif Pro" panose="02040603050405020204" pitchFamily="18" charset="0"/>
                <a:ea typeface="Source Serif Pro" panose="02040603050405020204" pitchFamily="18" charset="0"/>
              </a:rPr>
              <a:t>The distribution of the real data is </a:t>
            </a:r>
            <a:r>
              <a:rPr lang="en-US" altLang="ko-KR" b="1" dirty="0">
                <a:latin typeface="Source Serif Pro" panose="02040603050405020204" pitchFamily="18" charset="0"/>
                <a:ea typeface="Source Serif Pro" panose="02040603050405020204" pitchFamily="18" charset="0"/>
              </a:rPr>
              <a:t>strongly bimodal</a:t>
            </a:r>
            <a:r>
              <a:rPr lang="en-US" altLang="ko-KR" dirty="0">
                <a:latin typeface="Source Serif Pro" panose="02040603050405020204" pitchFamily="18" charset="0"/>
                <a:ea typeface="Source Serif Pro" panose="02040603050405020204" pitchFamily="18" charset="0"/>
              </a:rPr>
              <a:t>, with two distinct, sharp peaks clustered near zero.</a:t>
            </a:r>
          </a:p>
          <a:p>
            <a:pPr lvl="1"/>
            <a:r>
              <a:rPr lang="en-US" altLang="ko-KR" dirty="0">
                <a:latin typeface="Source Serif Pro" panose="02040603050405020204" pitchFamily="18" charset="0"/>
                <a:ea typeface="Source Serif Pro" panose="02040603050405020204" pitchFamily="18" charset="0"/>
              </a:rPr>
              <a:t>It exhibits high kurtosis (leptokurtic), meaning the data is highly concentrated around these two modes.</a:t>
            </a:r>
          </a:p>
          <a:p>
            <a:r>
              <a:rPr lang="en-US" altLang="ko-KR" b="1" dirty="0">
                <a:latin typeface="Source Serif Pro" panose="02040603050405020204" pitchFamily="18" charset="0"/>
                <a:ea typeface="Source Serif Pro" panose="02040603050405020204" pitchFamily="18" charset="0"/>
              </a:rPr>
              <a:t>Analysis of Model Predictions (Blue/Orange Lines)</a:t>
            </a:r>
            <a:endParaRPr lang="en-US" altLang="ko-KR" dirty="0">
              <a:latin typeface="Source Serif Pro" panose="02040603050405020204" pitchFamily="18" charset="0"/>
              <a:ea typeface="Source Serif Pro" panose="02040603050405020204" pitchFamily="18" charset="0"/>
            </a:endParaRPr>
          </a:p>
          <a:p>
            <a:pPr lvl="1"/>
            <a:r>
              <a:rPr lang="en-US" altLang="ko-KR" dirty="0">
                <a:latin typeface="Source Serif Pro" panose="02040603050405020204" pitchFamily="18" charset="0"/>
                <a:ea typeface="Source Serif Pro" panose="02040603050405020204" pitchFamily="18" charset="0"/>
              </a:rPr>
              <a:t>The model consistently predicts a </a:t>
            </a:r>
            <a:r>
              <a:rPr lang="en-US" altLang="ko-KR" b="1" dirty="0">
                <a:latin typeface="Source Serif Pro" panose="02040603050405020204" pitchFamily="18" charset="0"/>
                <a:ea typeface="Source Serif Pro" panose="02040603050405020204" pitchFamily="18" charset="0"/>
              </a:rPr>
              <a:t>unimodal (single-peak)</a:t>
            </a:r>
            <a:r>
              <a:rPr lang="en-US" altLang="ko-KR" dirty="0">
                <a:latin typeface="Source Serif Pro" panose="02040603050405020204" pitchFamily="18" charset="0"/>
                <a:ea typeface="Source Serif Pro" panose="02040603050405020204" pitchFamily="18" charset="0"/>
              </a:rPr>
              <a:t>, symmetric distribution centered at zero.</a:t>
            </a:r>
          </a:p>
          <a:p>
            <a:pPr lvl="1"/>
            <a:r>
              <a:rPr lang="en-US" altLang="ko-KR" dirty="0">
                <a:latin typeface="Source Serif Pro" panose="02040603050405020204" pitchFamily="18" charset="0"/>
                <a:ea typeface="Source Serif Pro" panose="02040603050405020204" pitchFamily="18" charset="0"/>
              </a:rPr>
              <a:t>It completely </a:t>
            </a:r>
            <a:r>
              <a:rPr lang="en-US" altLang="ko-KR" b="1" dirty="0">
                <a:latin typeface="Source Serif Pro" panose="02040603050405020204" pitchFamily="18" charset="0"/>
                <a:ea typeface="Source Serif Pro" panose="02040603050405020204" pitchFamily="18" charset="0"/>
              </a:rPr>
              <a:t>fails to capture the bimodal structure</a:t>
            </a:r>
            <a:r>
              <a:rPr lang="en-US" altLang="ko-KR" dirty="0">
                <a:latin typeface="Source Serif Pro" panose="02040603050405020204" pitchFamily="18" charset="0"/>
                <a:ea typeface="Source Serif Pro" panose="02040603050405020204" pitchFamily="18" charset="0"/>
              </a:rPr>
              <a:t> of reality.</a:t>
            </a:r>
          </a:p>
          <a:p>
            <a:pPr lvl="1"/>
            <a:r>
              <a:rPr lang="en-US" altLang="ko-KR" dirty="0">
                <a:latin typeface="Source Serif Pro" panose="02040603050405020204" pitchFamily="18" charset="0"/>
                <a:ea typeface="Source Serif Pro" panose="02040603050405020204" pitchFamily="18" charset="0"/>
              </a:rPr>
              <a:t>The model's predictions have much lower peaks and fatter tails, indicating it overestimates the variance and underestimates the kurtosis.</a:t>
            </a:r>
          </a:p>
          <a:p>
            <a:r>
              <a:rPr lang="en-US" altLang="ko-KR" b="1" dirty="0">
                <a:latin typeface="Source Serif Pro" panose="02040603050405020204" pitchFamily="18" charset="0"/>
                <a:ea typeface="Source Serif Pro" panose="02040603050405020204" pitchFamily="18" charset="0"/>
              </a:rPr>
              <a:t>Conclusion:</a:t>
            </a:r>
            <a:r>
              <a:rPr lang="en-US" altLang="ko-KR" dirty="0">
                <a:latin typeface="Source Serif Pro" panose="02040603050405020204" pitchFamily="18" charset="0"/>
                <a:ea typeface="Source Serif Pro" panose="02040603050405020204" pitchFamily="18" charset="0"/>
              </a:rPr>
              <a:t> The model is not a good fit for the data. It is fundamentally mis-specified.</a:t>
            </a:r>
          </a:p>
        </p:txBody>
      </p:sp>
      <p:pic>
        <p:nvPicPr>
          <p:cNvPr id="5" name="그림 4">
            <a:extLst>
              <a:ext uri="{FF2B5EF4-FFF2-40B4-BE49-F238E27FC236}">
                <a16:creationId xmlns:a16="http://schemas.microsoft.com/office/drawing/2014/main" id="{B5924BA3-8D9D-DA4B-ADE9-4DD4D16CF64E}"/>
              </a:ext>
            </a:extLst>
          </p:cNvPr>
          <p:cNvPicPr>
            <a:picLocks noChangeAspect="1"/>
          </p:cNvPicPr>
          <p:nvPr/>
        </p:nvPicPr>
        <p:blipFill>
          <a:blip r:embed="rId3"/>
          <a:stretch>
            <a:fillRect/>
          </a:stretch>
        </p:blipFill>
        <p:spPr>
          <a:xfrm>
            <a:off x="749319" y="1764017"/>
            <a:ext cx="7085965" cy="5314474"/>
          </a:xfrm>
          <a:prstGeom prst="rect">
            <a:avLst/>
          </a:prstGeom>
        </p:spPr>
      </p:pic>
    </p:spTree>
    <p:extLst>
      <p:ext uri="{BB962C8B-B14F-4D97-AF65-F5344CB8AC3E}">
        <p14:creationId xmlns:p14="http://schemas.microsoft.com/office/powerpoint/2010/main" val="21435183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582B99-9773-C493-A27D-A5B20CF5D83A}"/>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0B5B06BD-23F2-9CFB-EE8C-44C8185C9D52}"/>
              </a:ext>
            </a:extLst>
          </p:cNvPr>
          <p:cNvSpPr/>
          <p:nvPr/>
        </p:nvSpPr>
        <p:spPr>
          <a:xfrm>
            <a:off x="749319" y="361950"/>
            <a:ext cx="13131761" cy="1240155"/>
          </a:xfrm>
          <a:prstGeom prst="rect">
            <a:avLst/>
          </a:prstGeom>
          <a:noFill/>
          <a:ln/>
        </p:spPr>
        <p:txBody>
          <a:bodyPr wrap="square" lIns="0" tIns="0" rIns="0" bIns="0" rtlCol="0" anchor="t"/>
          <a:lstStyle/>
          <a:p>
            <a:pPr marL="0" indent="0" algn="l">
              <a:lnSpc>
                <a:spcPts val="4850"/>
              </a:lnSpc>
              <a:buNone/>
            </a:pPr>
            <a:r>
              <a:rPr lang="en-US" sz="3900" dirty="0">
                <a:solidFill>
                  <a:srgbClr val="201B18"/>
                </a:solidFill>
                <a:latin typeface="Platypi Medium" pitchFamily="34" charset="0"/>
                <a:ea typeface="Platypi Medium" pitchFamily="34" charset="-122"/>
                <a:cs typeface="Platypi Medium" pitchFamily="34" charset="-120"/>
              </a:rPr>
              <a:t>Exercise: </a:t>
            </a:r>
          </a:p>
          <a:p>
            <a:pPr marL="0" indent="0" algn="l">
              <a:lnSpc>
                <a:spcPts val="4850"/>
              </a:lnSpc>
              <a:buNone/>
            </a:pPr>
            <a:r>
              <a:rPr lang="en-US" sz="3900" dirty="0">
                <a:solidFill>
                  <a:srgbClr val="201B18"/>
                </a:solidFill>
                <a:latin typeface="Platypi Medium" pitchFamily="34" charset="0"/>
                <a:ea typeface="Platypi Medium" pitchFamily="34" charset="-122"/>
                <a:cs typeface="Platypi Medium" pitchFamily="34" charset="-120"/>
              </a:rPr>
              <a:t>6. Conclusion:</a:t>
            </a:r>
            <a:br>
              <a:rPr lang="en-US" sz="3900" dirty="0">
                <a:solidFill>
                  <a:srgbClr val="201B18"/>
                </a:solidFill>
                <a:latin typeface="Platypi Medium" pitchFamily="34" charset="0"/>
                <a:ea typeface="Platypi Medium" pitchFamily="34" charset="-122"/>
                <a:cs typeface="Platypi Medium" pitchFamily="34" charset="-120"/>
              </a:rPr>
            </a:br>
            <a:r>
              <a:rPr lang="en-US" sz="3900" dirty="0">
                <a:solidFill>
                  <a:srgbClr val="201B18"/>
                </a:solidFill>
                <a:latin typeface="Platypi Medium" pitchFamily="34" charset="0"/>
                <a:ea typeface="Platypi Medium" pitchFamily="34" charset="-122"/>
                <a:cs typeface="Platypi Medium" pitchFamily="34" charset="-120"/>
              </a:rPr>
              <a:t>     Optimal Weights for Value and Momentum</a:t>
            </a:r>
            <a:endParaRPr lang="en-US" sz="3900" dirty="0"/>
          </a:p>
        </p:txBody>
      </p:sp>
      <p:sp>
        <p:nvSpPr>
          <p:cNvPr id="13" name="직사각형 12">
            <a:extLst>
              <a:ext uri="{FF2B5EF4-FFF2-40B4-BE49-F238E27FC236}">
                <a16:creationId xmlns:a16="http://schemas.microsoft.com/office/drawing/2014/main" id="{76BE8818-72FC-2769-09C8-0046F90B10C9}"/>
              </a:ext>
            </a:extLst>
          </p:cNvPr>
          <p:cNvSpPr/>
          <p:nvPr/>
        </p:nvSpPr>
        <p:spPr>
          <a:xfrm>
            <a:off x="12849225" y="7790974"/>
            <a:ext cx="1781175" cy="51482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altLang="ko-KR" dirty="0">
                <a:solidFill>
                  <a:schemeClr val="tx1"/>
                </a:solidFill>
                <a:latin typeface="Platypi Medium" panose="020B0600000101010101" charset="0"/>
                <a:cs typeface="Platypi Medium" panose="020B0600000101010101" charset="0"/>
              </a:rPr>
              <a:t>KFAC</a:t>
            </a:r>
            <a:endParaRPr lang="ko-KR" altLang="en-US" dirty="0">
              <a:solidFill>
                <a:schemeClr val="tx1"/>
              </a:solidFill>
              <a:latin typeface="Platypi Medium" panose="020B0600000101010101" charset="0"/>
              <a:cs typeface="Platypi Medium" panose="020B0600000101010101" charset="0"/>
            </a:endParaRPr>
          </a:p>
        </p:txBody>
      </p:sp>
      <p:pic>
        <p:nvPicPr>
          <p:cNvPr id="6" name="그림 5">
            <a:extLst>
              <a:ext uri="{FF2B5EF4-FFF2-40B4-BE49-F238E27FC236}">
                <a16:creationId xmlns:a16="http://schemas.microsoft.com/office/drawing/2014/main" id="{E1EAF5BE-D0DB-2ED7-A150-407331E37D6D}"/>
              </a:ext>
            </a:extLst>
          </p:cNvPr>
          <p:cNvPicPr>
            <a:picLocks noChangeAspect="1"/>
          </p:cNvPicPr>
          <p:nvPr/>
        </p:nvPicPr>
        <p:blipFill>
          <a:blip r:embed="rId3"/>
          <a:stretch>
            <a:fillRect/>
          </a:stretch>
        </p:blipFill>
        <p:spPr>
          <a:xfrm>
            <a:off x="966462" y="3004954"/>
            <a:ext cx="4658375" cy="2619741"/>
          </a:xfrm>
          <a:prstGeom prst="rect">
            <a:avLst/>
          </a:prstGeom>
        </p:spPr>
      </p:pic>
      <p:pic>
        <p:nvPicPr>
          <p:cNvPr id="8" name="그림 7">
            <a:extLst>
              <a:ext uri="{FF2B5EF4-FFF2-40B4-BE49-F238E27FC236}">
                <a16:creationId xmlns:a16="http://schemas.microsoft.com/office/drawing/2014/main" id="{7A45015E-EFF9-3D2D-1297-F764A0C6A322}"/>
              </a:ext>
            </a:extLst>
          </p:cNvPr>
          <p:cNvPicPr>
            <a:picLocks noChangeAspect="1"/>
          </p:cNvPicPr>
          <p:nvPr/>
        </p:nvPicPr>
        <p:blipFill>
          <a:blip r:embed="rId4"/>
          <a:stretch>
            <a:fillRect/>
          </a:stretch>
        </p:blipFill>
        <p:spPr>
          <a:xfrm>
            <a:off x="6147736" y="3004954"/>
            <a:ext cx="7648575" cy="3824288"/>
          </a:xfrm>
          <a:prstGeom prst="rect">
            <a:avLst/>
          </a:prstGeom>
        </p:spPr>
      </p:pic>
    </p:spTree>
    <p:extLst>
      <p:ext uri="{BB962C8B-B14F-4D97-AF65-F5344CB8AC3E}">
        <p14:creationId xmlns:p14="http://schemas.microsoft.com/office/powerpoint/2010/main" val="1126411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1587</TotalTime>
  <Words>1753</Words>
  <Application>Microsoft Office PowerPoint</Application>
  <PresentationFormat>사용자 지정</PresentationFormat>
  <Paragraphs>161</Paragraphs>
  <Slides>16</Slides>
  <Notes>16</Notes>
  <HiddenSlides>0</HiddenSlides>
  <MMClips>0</MMClips>
  <ScaleCrop>false</ScaleCrop>
  <HeadingPairs>
    <vt:vector size="6" baseType="variant">
      <vt:variant>
        <vt:lpstr>사용한 글꼴</vt:lpstr>
      </vt:variant>
      <vt:variant>
        <vt:i4>5</vt:i4>
      </vt:variant>
      <vt:variant>
        <vt:lpstr>테마</vt:lpstr>
      </vt:variant>
      <vt:variant>
        <vt:i4>1</vt:i4>
      </vt:variant>
      <vt:variant>
        <vt:lpstr>슬라이드 제목</vt:lpstr>
      </vt:variant>
      <vt:variant>
        <vt:i4>16</vt:i4>
      </vt:variant>
    </vt:vector>
  </HeadingPairs>
  <TitlesOfParts>
    <vt:vector size="22" baseType="lpstr">
      <vt:lpstr>Platypi Medium</vt:lpstr>
      <vt:lpstr>Arial</vt:lpstr>
      <vt:lpstr>Source Serif Pro</vt:lpstr>
      <vt:lpstr>Cambria Math</vt:lpstr>
      <vt:lpstr>Source Sans Pro</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홍성제</cp:lastModifiedBy>
  <cp:revision>14</cp:revision>
  <dcterms:created xsi:type="dcterms:W3CDTF">2025-06-21T12:07:31Z</dcterms:created>
  <dcterms:modified xsi:type="dcterms:W3CDTF">2025-06-23T10:43:20Z</dcterms:modified>
</cp:coreProperties>
</file>